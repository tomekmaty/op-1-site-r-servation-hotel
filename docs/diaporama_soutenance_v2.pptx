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Bar"/>
          <p:cNvSpPr/>
          <p:nvPr/>
        </p:nvSpPr>
        <p:spPr>
          <a:xfrm>
            <a:off x="0" y="0"/>
            <a:ext cx="12188952" cy="76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verBgLeft"/>
          <p:cNvSpPr/>
          <p:nvPr/>
        </p:nvSpPr>
        <p:spPr>
          <a:xfrm>
            <a:off x="0" y="0"/>
            <a:ext cx="5852160"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ogoBox"/>
          <p:cNvSpPr/>
          <p:nvPr/>
        </p:nvSpPr>
        <p:spPr>
          <a:xfrm>
            <a:off x="548640" y="1005840"/>
            <a:ext cx="1005840" cy="10058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rPr>
              <a:t>MS</a:t>
            </a:r>
          </a:p>
        </p:txBody>
      </p:sp>
      <p:sp>
        <p:nvSpPr>
          <p:cNvPr id="5" name="CoverTitle"/>
          <p:cNvSpPr txBox="1"/>
          <p:nvPr/>
        </p:nvSpPr>
        <p:spPr>
          <a:xfrm>
            <a:off x="502920" y="2286000"/>
            <a:ext cx="5029200" cy="914400"/>
          </a:xfrm>
          <a:prstGeom prst="rect">
            <a:avLst/>
          </a:prstGeom>
          <a:noFill/>
        </p:spPr>
        <p:txBody>
          <a:bodyPr wrap="square">
            <a:spAutoFit/>
          </a:bodyPr>
          <a:lstStyle/>
          <a:p>
            <a:r>
              <a:rPr sz="4000" b="1">
                <a:solidFill>
                  <a:srgbClr val="FFFFFF"/>
                </a:solidFill>
              </a:rPr>
              <a:t>Maison Saclay</a:t>
            </a:r>
          </a:p>
        </p:txBody>
      </p:sp>
      <p:sp>
        <p:nvSpPr>
          <p:cNvPr id="6" name="CoverSubtitle1"/>
          <p:cNvSpPr txBox="1"/>
          <p:nvPr/>
        </p:nvSpPr>
        <p:spPr>
          <a:xfrm>
            <a:off x="502920" y="3063240"/>
            <a:ext cx="5029200" cy="381000"/>
          </a:xfrm>
          <a:prstGeom prst="rect">
            <a:avLst/>
          </a:prstGeom>
          <a:noFill/>
        </p:spPr>
        <p:txBody>
          <a:bodyPr wrap="none">
            <a:spAutoFit/>
          </a:bodyPr>
          <a:lstStyle/>
          <a:p>
            <a:r>
              <a:rPr sz="1600">
                <a:solidFill>
                  <a:srgbClr val="4F46E5"/>
                </a:solidFill>
              </a:rPr>
              <a:t>Hôtel 5 étoiles — Projet OP-1</a:t>
            </a:r>
          </a:p>
        </p:txBody>
      </p:sp>
      <p:sp>
        <p:nvSpPr>
          <p:cNvPr id="7" name="CoverSubtitle2"/>
          <p:cNvSpPr txBox="1"/>
          <p:nvPr/>
        </p:nvSpPr>
        <p:spPr>
          <a:xfrm>
            <a:off x="502920" y="3520440"/>
            <a:ext cx="5029200" cy="279400"/>
          </a:xfrm>
          <a:prstGeom prst="rect">
            <a:avLst/>
          </a:prstGeom>
          <a:noFill/>
        </p:spPr>
        <p:txBody>
          <a:bodyPr wrap="none">
            <a:spAutoFit/>
          </a:bodyPr>
          <a:lstStyle/>
          <a:p>
            <a:r>
              <a:rPr sz="1050">
                <a:solidFill>
                  <a:srgbClr val="6B7280"/>
                </a:solidFill>
              </a:rPr>
              <a:t>Licence Pro MRT — 2025–2026</a:t>
            </a:r>
          </a:p>
        </p:txBody>
      </p:sp>
      <p:sp>
        <p:nvSpPr>
          <p:cNvPr id="8" name="Tag_React + "/>
          <p:cNvSpPr/>
          <p:nvPr/>
        </p:nvSpPr>
        <p:spPr>
          <a:xfrm>
            <a:off x="502920" y="4251960"/>
            <a:ext cx="1463040" cy="292608"/>
          </a:xfrm>
          <a:prstGeom prst="rect">
            <a:avLst/>
          </a:prstGeom>
          <a:solidFill>
            <a:srgbClr val="F8FAFF"/>
          </a:solidFill>
          <a:ln w="9525">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4F46E5"/>
                </a:solidFill>
              </a:rPr>
              <a:t>React + TypeScript</a:t>
            </a:r>
          </a:p>
        </p:txBody>
      </p:sp>
      <p:sp>
        <p:nvSpPr>
          <p:cNvPr id="9" name="Tag_PHP 8.2 "/>
          <p:cNvSpPr/>
          <p:nvPr/>
        </p:nvSpPr>
        <p:spPr>
          <a:xfrm>
            <a:off x="502920" y="4599432"/>
            <a:ext cx="1463040" cy="292608"/>
          </a:xfrm>
          <a:prstGeom prst="rect">
            <a:avLst/>
          </a:prstGeom>
          <a:solidFill>
            <a:srgbClr val="F8FAFF"/>
          </a:solidFill>
          <a:ln w="9525">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4F46E5"/>
                </a:solidFill>
              </a:rPr>
              <a:t>PHP 8.2 API REST</a:t>
            </a:r>
          </a:p>
        </p:txBody>
      </p:sp>
      <p:sp>
        <p:nvSpPr>
          <p:cNvPr id="10" name="Tag_MySQL + "/>
          <p:cNvSpPr/>
          <p:nvPr/>
        </p:nvSpPr>
        <p:spPr>
          <a:xfrm>
            <a:off x="502920" y="4946904"/>
            <a:ext cx="1463040" cy="292608"/>
          </a:xfrm>
          <a:prstGeom prst="rect">
            <a:avLst/>
          </a:prstGeom>
          <a:solidFill>
            <a:srgbClr val="F8FAFF"/>
          </a:solidFill>
          <a:ln w="9525">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4F46E5"/>
                </a:solidFill>
              </a:rPr>
              <a:t>MySQL + Docker</a:t>
            </a:r>
          </a:p>
        </p:txBody>
      </p:sp>
      <p:sp>
        <p:nvSpPr>
          <p:cNvPr id="11" name="Tag_FreeRADI"/>
          <p:cNvSpPr/>
          <p:nvPr/>
        </p:nvSpPr>
        <p:spPr>
          <a:xfrm>
            <a:off x="502920" y="5294376"/>
            <a:ext cx="1463040" cy="292608"/>
          </a:xfrm>
          <a:prstGeom prst="rect">
            <a:avLst/>
          </a:prstGeom>
          <a:solidFill>
            <a:srgbClr val="F8FAFF"/>
          </a:solidFill>
          <a:ln w="9525">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4F46E5"/>
                </a:solidFill>
              </a:rPr>
              <a:t>FreeRADIUS + EAP330</a:t>
            </a:r>
          </a:p>
        </p:txBody>
      </p:sp>
      <p:sp>
        <p:nvSpPr>
          <p:cNvPr id="12" name="Tag_Asterisk"/>
          <p:cNvSpPr/>
          <p:nvPr/>
        </p:nvSpPr>
        <p:spPr>
          <a:xfrm>
            <a:off x="502920" y="5641848"/>
            <a:ext cx="1463040" cy="292608"/>
          </a:xfrm>
          <a:prstGeom prst="rect">
            <a:avLst/>
          </a:prstGeom>
          <a:solidFill>
            <a:srgbClr val="F8FAFF"/>
          </a:solidFill>
          <a:ln w="9525">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4F46E5"/>
                </a:solidFill>
              </a:rPr>
              <a:t>Asterisk 16</a:t>
            </a:r>
          </a:p>
        </p:txBody>
      </p:sp>
      <p:sp>
        <p:nvSpPr>
          <p:cNvPr id="13" name="Stat_8"/>
          <p:cNvSpPr/>
          <p:nvPr/>
        </p:nvSpPr>
        <p:spPr>
          <a:xfrm>
            <a:off x="6217920" y="1188720"/>
            <a:ext cx="2651760" cy="1828800"/>
          </a:xfrm>
          <a:prstGeom prst="rect">
            <a:avLst/>
          </a:prstGeom>
          <a:solidFill>
            <a:srgbClr val="F0F0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r>
              <a:rPr sz="3800" b="1">
                <a:solidFill>
                  <a:srgbClr val="4F46E5"/>
                </a:solidFill>
              </a:rPr>
              <a:t>8</a:t>
            </a:r>
          </a:p>
          <a:p>
            <a:pPr algn="ctr"/>
            <a:r>
              <a:rPr sz="900">
                <a:solidFill>
                  <a:srgbClr val="6B7280"/>
                </a:solidFill>
              </a:rPr>
              <a:t>Services Docker</a:t>
            </a:r>
          </a:p>
        </p:txBody>
      </p:sp>
      <p:sp>
        <p:nvSpPr>
          <p:cNvPr id="14" name="Stat_10"/>
          <p:cNvSpPr/>
          <p:nvPr/>
        </p:nvSpPr>
        <p:spPr>
          <a:xfrm>
            <a:off x="9052560" y="1188720"/>
            <a:ext cx="2651760" cy="1828800"/>
          </a:xfrm>
          <a:prstGeom prst="rect">
            <a:avLst/>
          </a:prstGeom>
          <a:solidFill>
            <a:srgbClr val="F0F0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r>
              <a:rPr sz="3800" b="1">
                <a:solidFill>
                  <a:srgbClr val="4F46E5"/>
                </a:solidFill>
              </a:rPr>
              <a:t>10</a:t>
            </a:r>
          </a:p>
          <a:p>
            <a:pPr algn="ctr"/>
            <a:r>
              <a:rPr sz="900">
                <a:solidFill>
                  <a:srgbClr val="6B7280"/>
                </a:solidFill>
              </a:rPr>
              <a:t>Tables MySQL</a:t>
            </a:r>
          </a:p>
        </p:txBody>
      </p:sp>
      <p:sp>
        <p:nvSpPr>
          <p:cNvPr id="15" name="Stat_9"/>
          <p:cNvSpPr/>
          <p:nvPr/>
        </p:nvSpPr>
        <p:spPr>
          <a:xfrm>
            <a:off x="6217920" y="3474720"/>
            <a:ext cx="2651760" cy="1828800"/>
          </a:xfrm>
          <a:prstGeom prst="rect">
            <a:avLst/>
          </a:prstGeom>
          <a:solidFill>
            <a:srgbClr val="F0F0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r>
              <a:rPr sz="3800" b="1">
                <a:solidFill>
                  <a:srgbClr val="4F46E5"/>
                </a:solidFill>
              </a:rPr>
              <a:t>9</a:t>
            </a:r>
          </a:p>
          <a:p>
            <a:pPr algn="ctr"/>
            <a:r>
              <a:rPr sz="900">
                <a:solidFill>
                  <a:srgbClr val="6B7280"/>
                </a:solidFill>
              </a:rPr>
              <a:t>Chambres physiques</a:t>
            </a:r>
          </a:p>
        </p:txBody>
      </p:sp>
      <p:sp>
        <p:nvSpPr>
          <p:cNvPr id="16" name="Stat_RADIUS"/>
          <p:cNvSpPr/>
          <p:nvPr/>
        </p:nvSpPr>
        <p:spPr>
          <a:xfrm>
            <a:off x="9052560" y="3474720"/>
            <a:ext cx="2651760" cy="1828800"/>
          </a:xfrm>
          <a:prstGeom prst="rect">
            <a:avLst/>
          </a:prstGeom>
          <a:solidFill>
            <a:srgbClr val="F0F0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r>
              <a:rPr sz="3800" b="1">
                <a:solidFill>
                  <a:srgbClr val="4F46E5"/>
                </a:solidFill>
              </a:rPr>
              <a:t>RADIUS</a:t>
            </a:r>
          </a:p>
          <a:p>
            <a:pPr algn="ctr"/>
            <a:r>
              <a:rPr sz="900">
                <a:solidFill>
                  <a:srgbClr val="6B7280"/>
                </a:solidFill>
              </a:rPr>
              <a:t>Auth WiFi</a:t>
            </a:r>
          </a:p>
        </p:txBody>
      </p:sp>
      <p:sp>
        <p:nvSpPr>
          <p:cNvPr id="17" name="FooterLine"/>
          <p:cNvSpPr/>
          <p:nvPr/>
        </p:nvSpPr>
        <p:spPr>
          <a:xfrm>
            <a:off x="365760" y="6492240"/>
            <a:ext cx="11430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ooter"/>
          <p:cNvSpPr txBox="1"/>
          <p:nvPr/>
        </p:nvSpPr>
        <p:spPr>
          <a:xfrm>
            <a:off x="365760" y="6537960"/>
            <a:ext cx="11430000" cy="254000"/>
          </a:xfrm>
          <a:prstGeom prst="rect">
            <a:avLst/>
          </a:prstGeom>
          <a:noFill/>
        </p:spPr>
        <p:txBody>
          <a:bodyPr wrap="none">
            <a:spAutoFit/>
          </a:bodyPr>
          <a:lstStyle/>
          <a:p>
            <a:pPr algn="l"/>
            <a:r>
              <a:rPr sz="800">
                <a:solidFill>
                  <a:srgbClr val="6B7280"/>
                </a:solidFill>
              </a:rPr>
              <a:t>Maison Saclay — Projet OP-1</a:t>
            </a:r>
            <a:r>
              <a:rPr sz="800">
                <a:solidFill>
                  <a:srgbClr val="6B7280"/>
                </a:solidFill>
              </a:rPr>
              <a:t>         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Bar"/>
          <p:cNvSpPr/>
          <p:nvPr/>
        </p:nvSpPr>
        <p:spPr>
          <a:xfrm>
            <a:off x="0" y="0"/>
            <a:ext cx="12188952" cy="76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ag"/>
          <p:cNvSpPr txBox="1"/>
          <p:nvPr/>
        </p:nvSpPr>
        <p:spPr>
          <a:xfrm>
            <a:off x="457200" y="164592"/>
            <a:ext cx="9144000" cy="177800"/>
          </a:xfrm>
          <a:prstGeom prst="rect">
            <a:avLst/>
          </a:prstGeom>
          <a:noFill/>
        </p:spPr>
        <p:txBody>
          <a:bodyPr wrap="none">
            <a:spAutoFit/>
          </a:bodyPr>
          <a:lstStyle/>
          <a:p>
            <a:r>
              <a:rPr sz="800" b="1">
                <a:solidFill>
                  <a:srgbClr val="4F46E5"/>
                </a:solidFill>
              </a:rPr>
              <a:t>CONTEXTE &amp; OBJECTIF</a:t>
            </a:r>
          </a:p>
        </p:txBody>
      </p:sp>
      <p:sp>
        <p:nvSpPr>
          <p:cNvPr id="4" name="SlideTitle"/>
          <p:cNvSpPr txBox="1"/>
          <p:nvPr/>
        </p:nvSpPr>
        <p:spPr>
          <a:xfrm>
            <a:off x="457200" y="320040"/>
            <a:ext cx="11247120" cy="685800"/>
          </a:xfrm>
          <a:prstGeom prst="rect">
            <a:avLst/>
          </a:prstGeom>
          <a:noFill/>
        </p:spPr>
        <p:txBody>
          <a:bodyPr wrap="square">
            <a:spAutoFit/>
          </a:bodyPr>
          <a:lstStyle/>
          <a:p>
            <a:r>
              <a:rPr sz="2800" b="1">
                <a:solidFill>
                  <a:srgbClr val="1A1A2E"/>
                </a:solidFill>
              </a:rPr>
              <a:t>Pourquoi ce projet ?</a:t>
            </a:r>
          </a:p>
        </p:txBody>
      </p:sp>
      <p:sp>
        <p:nvSpPr>
          <p:cNvPr id="5" name="BulletList"/>
          <p:cNvSpPr txBox="1"/>
          <p:nvPr/>
        </p:nvSpPr>
        <p:spPr>
          <a:xfrm>
            <a:off x="457200" y="1234440"/>
            <a:ext cx="11247120" cy="1737360"/>
          </a:xfrm>
          <a:prstGeom prst="rect">
            <a:avLst/>
          </a:prstGeom>
          <a:noFill/>
        </p:spPr>
        <p:txBody>
          <a:bodyPr wrap="square">
            <a:spAutoFit/>
          </a:bodyPr>
          <a:lstStyle/>
          <a:p>
            <a:pPr>
              <a:spcBef>
                <a:spcPts val="400"/>
              </a:spcBef>
            </a:pPr>
            <a:r>
              <a:rPr sz="600" b="1">
                <a:solidFill>
                  <a:srgbClr val="4F46E5"/>
                </a:solidFill>
              </a:rPr>
              <a:t>●  </a:t>
            </a:r>
            <a:r>
              <a:rPr sz="1100" b="1">
                <a:solidFill>
                  <a:srgbClr val="1A1A2E"/>
                </a:solidFill>
              </a:rPr>
              <a:t>Contexte : </a:t>
            </a:r>
            <a:r>
              <a:rPr sz="1100">
                <a:solidFill>
                  <a:srgbClr val="1A1A2E"/>
                </a:solidFill>
              </a:rPr>
              <a:t>un hôtel a besoin d'outils numériques pour gérer clients, chambres, commandes et réseau WiFi</a:t>
            </a:r>
          </a:p>
          <a:p>
            <a:pPr>
              <a:spcBef>
                <a:spcPts val="400"/>
              </a:spcBef>
            </a:pPr>
            <a:r>
              <a:rPr sz="600" b="1">
                <a:solidFill>
                  <a:srgbClr val="4F46E5"/>
                </a:solidFill>
              </a:rPr>
              <a:t>●  </a:t>
            </a:r>
            <a:r>
              <a:rPr sz="1100" b="1">
                <a:solidFill>
                  <a:srgbClr val="1A1A2E"/>
                </a:solidFill>
              </a:rPr>
              <a:t>Objectif : </a:t>
            </a:r>
            <a:r>
              <a:rPr sz="1100">
                <a:solidFill>
                  <a:srgbClr val="1A1A2E"/>
                </a:solidFill>
              </a:rPr>
              <a:t>concevoir et déployer une solution complète, fonctionnelle et démontrable sur le réseau de l'école</a:t>
            </a:r>
          </a:p>
          <a:p>
            <a:pPr>
              <a:spcBef>
                <a:spcPts val="400"/>
              </a:spcBef>
            </a:pPr>
            <a:r>
              <a:rPr sz="600" b="1">
                <a:solidFill>
                  <a:srgbClr val="4F46E5"/>
                </a:solidFill>
              </a:rPr>
              <a:t>●  </a:t>
            </a:r>
            <a:r>
              <a:rPr sz="1100" b="1">
                <a:solidFill>
                  <a:srgbClr val="1A1A2E"/>
                </a:solidFill>
              </a:rPr>
              <a:t>Contrainte : </a:t>
            </a:r>
            <a:r>
              <a:rPr sz="1100">
                <a:solidFill>
                  <a:srgbClr val="1A1A2E"/>
                </a:solidFill>
              </a:rPr>
              <a:t>tout tourne sur un seul PC via Docker — aucune installation manuelle de PHP, MySQL ou FreeRADIUS</a:t>
            </a:r>
          </a:p>
          <a:p>
            <a:pPr>
              <a:spcBef>
                <a:spcPts val="400"/>
              </a:spcBef>
            </a:pPr>
            <a:r>
              <a:rPr sz="600" b="1">
                <a:solidFill>
                  <a:srgbClr val="4F46E5"/>
                </a:solidFill>
              </a:rPr>
              <a:t>●  </a:t>
            </a:r>
            <a:r>
              <a:rPr sz="1100" b="1">
                <a:solidFill>
                  <a:srgbClr val="1A1A2E"/>
                </a:solidFill>
              </a:rPr>
              <a:t>Sécurité : </a:t>
            </a:r>
            <a:r>
              <a:rPr sz="1100">
                <a:solidFill>
                  <a:srgbClr val="1A1A2E"/>
                </a:solidFill>
              </a:rPr>
              <a:t>le WiFi n'est accessible qu'après authentification par numéro de chambre (protocole RADIUS)</a:t>
            </a:r>
          </a:p>
        </p:txBody>
      </p:sp>
      <p:sp>
        <p:nvSpPr>
          <p:cNvPr id="6" name="Card_Côté Cli"/>
          <p:cNvSpPr/>
          <p:nvPr/>
        </p:nvSpPr>
        <p:spPr>
          <a:xfrm>
            <a:off x="457200" y="3108960"/>
            <a:ext cx="5486400" cy="137160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CÔTÉ CLIENT</a:t>
            </a:r>
          </a:p>
          <a:p>
            <a:pPr>
              <a:spcBef>
                <a:spcPts val="400"/>
              </a:spcBef>
            </a:pPr>
            <a:r>
              <a:rPr sz="900">
                <a:solidFill>
                  <a:srgbClr val="1A1A2E"/>
                </a:solidFill>
              </a:rPr>
              <a:t>Réserver en ligne · Commander un repas · Accéder au WiFi avec son numéro de chambre · Voir son espace personnel</a:t>
            </a:r>
          </a:p>
        </p:txBody>
      </p:sp>
      <p:sp>
        <p:nvSpPr>
          <p:cNvPr id="7" name="Card_Côté Adm"/>
          <p:cNvSpPr/>
          <p:nvPr/>
        </p:nvSpPr>
        <p:spPr>
          <a:xfrm>
            <a:off x="6172200" y="3108960"/>
            <a:ext cx="5559552" cy="137160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CÔTÉ ADMIN</a:t>
            </a:r>
          </a:p>
          <a:p>
            <a:pPr>
              <a:spcBef>
                <a:spcPts val="400"/>
              </a:spcBef>
            </a:pPr>
            <a:r>
              <a:rPr sz="900">
                <a:solidFill>
                  <a:srgbClr val="1A1A2E"/>
                </a:solidFill>
              </a:rPr>
              <a:t>Voir les réservations · Gérer les commandes · Surveiller le WiFi · Recevoir des alertes Telegram en temps réel</a:t>
            </a:r>
          </a:p>
        </p:txBody>
      </p:sp>
      <p:sp>
        <p:nvSpPr>
          <p:cNvPr id="8" name="OralBg"/>
          <p:cNvSpPr/>
          <p:nvPr/>
        </p:nvSpPr>
        <p:spPr>
          <a:xfrm>
            <a:off x="365760" y="5806440"/>
            <a:ext cx="11430000" cy="6583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alAccent"/>
          <p:cNvSpPr/>
          <p:nvPr/>
        </p:nvSpPr>
        <p:spPr>
          <a:xfrm>
            <a:off x="365760" y="5806440"/>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alText"/>
          <p:cNvSpPr txBox="1"/>
          <p:nvPr/>
        </p:nvSpPr>
        <p:spPr>
          <a:xfrm>
            <a:off x="594360" y="5869940"/>
            <a:ext cx="11155680" cy="566928"/>
          </a:xfrm>
          <a:prstGeom prst="rect">
            <a:avLst/>
          </a:prstGeom>
          <a:noFill/>
        </p:spPr>
        <p:txBody>
          <a:bodyPr wrap="square">
            <a:spAutoFit/>
          </a:bodyPr>
          <a:lstStyle/>
          <a:p>
            <a:r>
              <a:rPr sz="750" b="1">
                <a:solidFill>
                  <a:srgbClr val="4F46E5"/>
                </a:solidFill>
              </a:rPr>
              <a:t>À dire à l'oral  </a:t>
            </a:r>
            <a:r>
              <a:rPr sz="900" i="1">
                <a:solidFill>
                  <a:srgbClr val="4B5563"/>
                </a:solidFill>
              </a:rPr>
              <a:t>"L'objectif était de construire un système réaliste, pas juste une maquette. Chaque fonctionnalité fonctionne vraiment : la réservation crée une entrée en base, le WiFi authentifie via RADIUS, les notifications arrivent sur Telegram."</a:t>
            </a:r>
          </a:p>
        </p:txBody>
      </p:sp>
      <p:sp>
        <p:nvSpPr>
          <p:cNvPr id="11" name="FooterLine"/>
          <p:cNvSpPr/>
          <p:nvPr/>
        </p:nvSpPr>
        <p:spPr>
          <a:xfrm>
            <a:off x="365760" y="6492240"/>
            <a:ext cx="11430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ooter"/>
          <p:cNvSpPr txBox="1"/>
          <p:nvPr/>
        </p:nvSpPr>
        <p:spPr>
          <a:xfrm>
            <a:off x="365760" y="6537960"/>
            <a:ext cx="11430000" cy="254000"/>
          </a:xfrm>
          <a:prstGeom prst="rect">
            <a:avLst/>
          </a:prstGeom>
          <a:noFill/>
        </p:spPr>
        <p:txBody>
          <a:bodyPr wrap="none">
            <a:spAutoFit/>
          </a:bodyPr>
          <a:lstStyle/>
          <a:p>
            <a:pPr algn="l"/>
            <a:r>
              <a:rPr sz="800">
                <a:solidFill>
                  <a:srgbClr val="6B7280"/>
                </a:solidFill>
              </a:rPr>
              <a:t>Maison Saclay — Projet OP-1</a:t>
            </a:r>
            <a:r>
              <a:rPr sz="800">
                <a:solidFill>
                  <a:srgbClr val="6B7280"/>
                </a:solidFill>
              </a:rPr>
              <a:t>         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Bar"/>
          <p:cNvSpPr/>
          <p:nvPr/>
        </p:nvSpPr>
        <p:spPr>
          <a:xfrm>
            <a:off x="0" y="0"/>
            <a:ext cx="12188952" cy="76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ag"/>
          <p:cNvSpPr txBox="1"/>
          <p:nvPr/>
        </p:nvSpPr>
        <p:spPr>
          <a:xfrm>
            <a:off x="457200" y="164592"/>
            <a:ext cx="9144000" cy="177800"/>
          </a:xfrm>
          <a:prstGeom prst="rect">
            <a:avLst/>
          </a:prstGeom>
          <a:noFill/>
        </p:spPr>
        <p:txBody>
          <a:bodyPr wrap="none">
            <a:spAutoFit/>
          </a:bodyPr>
          <a:lstStyle/>
          <a:p>
            <a:r>
              <a:rPr sz="800" b="1">
                <a:solidFill>
                  <a:srgbClr val="4F46E5"/>
                </a:solidFill>
              </a:rPr>
              <a:t>INFRASTRUCTURE</a:t>
            </a:r>
          </a:p>
        </p:txBody>
      </p:sp>
      <p:sp>
        <p:nvSpPr>
          <p:cNvPr id="4" name="SlideTitle"/>
          <p:cNvSpPr txBox="1"/>
          <p:nvPr/>
        </p:nvSpPr>
        <p:spPr>
          <a:xfrm>
            <a:off x="457200" y="320040"/>
            <a:ext cx="11247120" cy="685800"/>
          </a:xfrm>
          <a:prstGeom prst="rect">
            <a:avLst/>
          </a:prstGeom>
          <a:noFill/>
        </p:spPr>
        <p:txBody>
          <a:bodyPr wrap="square">
            <a:spAutoFit/>
          </a:bodyPr>
          <a:lstStyle/>
          <a:p>
            <a:r>
              <a:rPr sz="2800" b="1">
                <a:solidFill>
                  <a:srgbClr val="1A1A2E"/>
                </a:solidFill>
              </a:rPr>
              <a:t>Architecture Docker</a:t>
            </a:r>
          </a:p>
        </p:txBody>
      </p:sp>
      <p:sp>
        <p:nvSpPr>
          <p:cNvPr id="5" name="SlideSubtitle"/>
          <p:cNvSpPr txBox="1"/>
          <p:nvPr/>
        </p:nvSpPr>
        <p:spPr>
          <a:xfrm>
            <a:off x="457200" y="896112"/>
            <a:ext cx="11247120" cy="279400"/>
          </a:xfrm>
          <a:prstGeom prst="rect">
            <a:avLst/>
          </a:prstGeom>
          <a:noFill/>
        </p:spPr>
        <p:txBody>
          <a:bodyPr wrap="none">
            <a:spAutoFit/>
          </a:bodyPr>
          <a:lstStyle/>
          <a:p>
            <a:r>
              <a:rPr sz="1100">
                <a:solidFill>
                  <a:srgbClr val="6B7280"/>
                </a:solidFill>
              </a:rPr>
              <a:t>8 services orchestrés — une seule commande : docker compose up -d</a:t>
            </a:r>
          </a:p>
        </p:txBody>
      </p:sp>
      <p:graphicFrame>
        <p:nvGraphicFramePr>
          <p:cNvPr id="6" name="Table 5"/>
          <p:cNvGraphicFramePr>
            <a:graphicFrameLocks noGrp="1"/>
          </p:cNvGraphicFramePr>
          <p:nvPr/>
        </p:nvGraphicFramePr>
        <p:xfrm>
          <a:off x="365760" y="1234440"/>
          <a:ext cx="11430000" cy="4434840"/>
        </p:xfrm>
        <a:graphic>
          <a:graphicData uri="http://schemas.openxmlformats.org/drawingml/2006/table">
            <a:tbl>
              <a:tblPr firstRow="1" bandRow="1">
                <a:tableStyleId>{5C22544A-7EE6-4342-B048-85BDC9FD1C3A}</a:tableStyleId>
              </a:tblPr>
              <a:tblGrid>
                <a:gridCol w="3810000"/>
                <a:gridCol w="3810000"/>
                <a:gridCol w="3810000"/>
              </a:tblGrid>
              <a:tr h="492760">
                <a:tc>
                  <a:txBody>
                    <a:bodyPr/>
                    <a:lstStyle/>
                    <a:p>
                      <a:pPr algn="ctr"/>
                      <a:r>
                        <a:rPr sz="900" b="1">
                          <a:solidFill>
                            <a:srgbClr val="FFFFFF"/>
                          </a:solidFill>
                        </a:rPr>
                        <a:t>Container</a:t>
                      </a:r>
                    </a:p>
                  </a:txBody>
                  <a:tcPr>
                    <a:solidFill>
                      <a:srgbClr val="4F46E5"/>
                    </a:solidFill>
                  </a:tcPr>
                </a:tc>
                <a:tc>
                  <a:txBody>
                    <a:bodyPr/>
                    <a:lstStyle/>
                    <a:p>
                      <a:pPr algn="ctr"/>
                      <a:r>
                        <a:rPr sz="900" b="1">
                          <a:solidFill>
                            <a:srgbClr val="FFFFFF"/>
                          </a:solidFill>
                        </a:rPr>
                        <a:t>Image</a:t>
                      </a:r>
                    </a:p>
                  </a:txBody>
                  <a:tcPr>
                    <a:solidFill>
                      <a:srgbClr val="4F46E5"/>
                    </a:solidFill>
                  </a:tcPr>
                </a:tc>
                <a:tc>
                  <a:txBody>
                    <a:bodyPr/>
                    <a:lstStyle/>
                    <a:p>
                      <a:pPr algn="ctr"/>
                      <a:r>
                        <a:rPr sz="900" b="1">
                          <a:solidFill>
                            <a:srgbClr val="FFFFFF"/>
                          </a:solidFill>
                        </a:rPr>
                        <a:t>Rôle</a:t>
                      </a:r>
                    </a:p>
                  </a:txBody>
                  <a:tcPr>
                    <a:solidFill>
                      <a:srgbClr val="4F46E5"/>
                    </a:solidFill>
                  </a:tcPr>
                </a:tc>
              </a:tr>
              <a:tr h="492760">
                <a:tc>
                  <a:txBody>
                    <a:bodyPr/>
                    <a:lstStyle/>
                    <a:p>
                      <a:r>
                        <a:rPr sz="900">
                          <a:solidFill>
                            <a:srgbClr val="1A1A2E"/>
                          </a:solidFill>
                        </a:rPr>
                        <a:t>maison_nginx</a:t>
                      </a:r>
                    </a:p>
                  </a:txBody>
                  <a:tcPr>
                    <a:solidFill>
                      <a:srgbClr val="F8FAFF"/>
                    </a:solidFill>
                  </a:tcPr>
                </a:tc>
                <a:tc>
                  <a:txBody>
                    <a:bodyPr/>
                    <a:lstStyle/>
                    <a:p>
                      <a:r>
                        <a:rPr sz="900">
                          <a:solidFill>
                            <a:srgbClr val="1A1A2E"/>
                          </a:solidFill>
                        </a:rPr>
                        <a:t>nginx:alpine</a:t>
                      </a:r>
                    </a:p>
                  </a:txBody>
                  <a:tcPr>
                    <a:solidFill>
                      <a:srgbClr val="F8FAFF"/>
                    </a:solidFill>
                  </a:tcPr>
                </a:tc>
                <a:tc>
                  <a:txBody>
                    <a:bodyPr/>
                    <a:lstStyle/>
                    <a:p>
                      <a:r>
                        <a:rPr sz="900">
                          <a:solidFill>
                            <a:srgbClr val="1A1A2E"/>
                          </a:solidFill>
                        </a:rPr>
                        <a:t>Sert le frontend React · redirige /api/* vers PHP</a:t>
                      </a:r>
                    </a:p>
                  </a:txBody>
                  <a:tcPr>
                    <a:solidFill>
                      <a:srgbClr val="F8FAFF"/>
                    </a:solidFill>
                  </a:tcPr>
                </a:tc>
              </a:tr>
              <a:tr h="492760">
                <a:tc>
                  <a:txBody>
                    <a:bodyPr/>
                    <a:lstStyle/>
                    <a:p>
                      <a:r>
                        <a:rPr sz="900">
                          <a:solidFill>
                            <a:srgbClr val="1A1A2E"/>
                          </a:solidFill>
                        </a:rPr>
                        <a:t>maison_php</a:t>
                      </a:r>
                    </a:p>
                  </a:txBody>
                  <a:tcPr>
                    <a:solidFill>
                      <a:srgbClr val="FFFFFF"/>
                    </a:solidFill>
                  </a:tcPr>
                </a:tc>
                <a:tc>
                  <a:txBody>
                    <a:bodyPr/>
                    <a:lstStyle/>
                    <a:p>
                      <a:r>
                        <a:rPr sz="900">
                          <a:solidFill>
                            <a:srgbClr val="1A1A2E"/>
                          </a:solidFill>
                        </a:rPr>
                        <a:t>php:8.2-fpm</a:t>
                      </a:r>
                    </a:p>
                  </a:txBody>
                  <a:tcPr>
                    <a:solidFill>
                      <a:srgbClr val="FFFFFF"/>
                    </a:solidFill>
                  </a:tcPr>
                </a:tc>
                <a:tc>
                  <a:txBody>
                    <a:bodyPr/>
                    <a:lstStyle/>
                    <a:p>
                      <a:r>
                        <a:rPr sz="900">
                          <a:solidFill>
                            <a:srgbClr val="1A1A2E"/>
                          </a:solidFill>
                        </a:rPr>
                        <a:t>API REST — toute la logique métier</a:t>
                      </a:r>
                    </a:p>
                  </a:txBody>
                  <a:tcPr>
                    <a:solidFill>
                      <a:srgbClr val="FFFFFF"/>
                    </a:solidFill>
                  </a:tcPr>
                </a:tc>
              </a:tr>
              <a:tr h="492760">
                <a:tc>
                  <a:txBody>
                    <a:bodyPr/>
                    <a:lstStyle/>
                    <a:p>
                      <a:r>
                        <a:rPr sz="900">
                          <a:solidFill>
                            <a:srgbClr val="1A1A2E"/>
                          </a:solidFill>
                        </a:rPr>
                        <a:t>maison_mysql</a:t>
                      </a:r>
                    </a:p>
                  </a:txBody>
                  <a:tcPr>
                    <a:solidFill>
                      <a:srgbClr val="F8FAFF"/>
                    </a:solidFill>
                  </a:tcPr>
                </a:tc>
                <a:tc>
                  <a:txBody>
                    <a:bodyPr/>
                    <a:lstStyle/>
                    <a:p>
                      <a:r>
                        <a:rPr sz="900">
                          <a:solidFill>
                            <a:srgbClr val="1A1A2E"/>
                          </a:solidFill>
                        </a:rPr>
                        <a:t>mysql:8.0</a:t>
                      </a:r>
                    </a:p>
                  </a:txBody>
                  <a:tcPr>
                    <a:solidFill>
                      <a:srgbClr val="F8FAFF"/>
                    </a:solidFill>
                  </a:tcPr>
                </a:tc>
                <a:tc>
                  <a:txBody>
                    <a:bodyPr/>
                    <a:lstStyle/>
                    <a:p>
                      <a:r>
                        <a:rPr sz="900">
                          <a:solidFill>
                            <a:srgbClr val="1A1A2E"/>
                          </a:solidFill>
                        </a:rPr>
                        <a:t>Base de données · volume persistant</a:t>
                      </a:r>
                    </a:p>
                  </a:txBody>
                  <a:tcPr>
                    <a:solidFill>
                      <a:srgbClr val="F8FAFF"/>
                    </a:solidFill>
                  </a:tcPr>
                </a:tc>
              </a:tr>
              <a:tr h="492760">
                <a:tc>
                  <a:txBody>
                    <a:bodyPr/>
                    <a:lstStyle/>
                    <a:p>
                      <a:r>
                        <a:rPr sz="900">
                          <a:solidFill>
                            <a:srgbClr val="1A1A2E"/>
                          </a:solidFill>
                        </a:rPr>
                        <a:t>maison_freeradius</a:t>
                      </a:r>
                    </a:p>
                  </a:txBody>
                  <a:tcPr>
                    <a:solidFill>
                      <a:srgbClr val="FFFFFF"/>
                    </a:solidFill>
                  </a:tcPr>
                </a:tc>
                <a:tc>
                  <a:txBody>
                    <a:bodyPr/>
                    <a:lstStyle/>
                    <a:p>
                      <a:r>
                        <a:rPr sz="900">
                          <a:solidFill>
                            <a:srgbClr val="1A1A2E"/>
                          </a:solidFill>
                        </a:rPr>
                        <a:t>freeradius custom</a:t>
                      </a:r>
                    </a:p>
                  </a:txBody>
                  <a:tcPr>
                    <a:solidFill>
                      <a:srgbClr val="FFFFFF"/>
                    </a:solidFill>
                  </a:tcPr>
                </a:tc>
                <a:tc>
                  <a:txBody>
                    <a:bodyPr/>
                    <a:lstStyle/>
                    <a:p>
                      <a:r>
                        <a:rPr sz="900">
                          <a:solidFill>
                            <a:srgbClr val="1A1A2E"/>
                          </a:solidFill>
                        </a:rPr>
                        <a:t>Authentification WiFi RADIUS · chambres 101–603</a:t>
                      </a:r>
                    </a:p>
                  </a:txBody>
                  <a:tcPr>
                    <a:solidFill>
                      <a:srgbClr val="FFFFFF"/>
                    </a:solidFill>
                  </a:tcPr>
                </a:tc>
              </a:tr>
              <a:tr h="492760">
                <a:tc>
                  <a:txBody>
                    <a:bodyPr/>
                    <a:lstStyle/>
                    <a:p>
                      <a:r>
                        <a:rPr sz="900">
                          <a:solidFill>
                            <a:srgbClr val="1A1A2E"/>
                          </a:solidFill>
                        </a:rPr>
                        <a:t>maison_worker</a:t>
                      </a:r>
                    </a:p>
                  </a:txBody>
                  <a:tcPr>
                    <a:solidFill>
                      <a:srgbClr val="F8FAFF"/>
                    </a:solidFill>
                  </a:tcPr>
                </a:tc>
                <a:tc>
                  <a:txBody>
                    <a:bodyPr/>
                    <a:lstStyle/>
                    <a:p>
                      <a:r>
                        <a:rPr sz="900">
                          <a:solidFill>
                            <a:srgbClr val="1A1A2E"/>
                          </a:solidFill>
                        </a:rPr>
                        <a:t>php:8.2-fpm</a:t>
                      </a:r>
                    </a:p>
                  </a:txBody>
                  <a:tcPr>
                    <a:solidFill>
                      <a:srgbClr val="F8FAFF"/>
                    </a:solidFill>
                  </a:tcPr>
                </a:tc>
                <a:tc>
                  <a:txBody>
                    <a:bodyPr/>
                    <a:lstStyle/>
                    <a:p>
                      <a:r>
                        <a:rPr sz="900">
                          <a:solidFill>
                            <a:srgbClr val="1A1A2E"/>
                          </a:solidFill>
                        </a:rPr>
                        <a:t>Worker Telegram · traite les clics sur boutons</a:t>
                      </a:r>
                    </a:p>
                  </a:txBody>
                  <a:tcPr>
                    <a:solidFill>
                      <a:srgbClr val="F8FAFF"/>
                    </a:solidFill>
                  </a:tcPr>
                </a:tc>
              </a:tr>
              <a:tr h="492760">
                <a:tc>
                  <a:txBody>
                    <a:bodyPr/>
                    <a:lstStyle/>
                    <a:p>
                      <a:r>
                        <a:rPr sz="900">
                          <a:solidFill>
                            <a:srgbClr val="1A1A2E"/>
                          </a:solidFill>
                        </a:rPr>
                        <a:t>maison_asterisk</a:t>
                      </a:r>
                    </a:p>
                  </a:txBody>
                  <a:tcPr>
                    <a:solidFill>
                      <a:srgbClr val="FFFFFF"/>
                    </a:solidFill>
                  </a:tcPr>
                </a:tc>
                <a:tc>
                  <a:txBody>
                    <a:bodyPr/>
                    <a:lstStyle/>
                    <a:p>
                      <a:r>
                        <a:rPr sz="900">
                          <a:solidFill>
                            <a:srgbClr val="1A1A2E"/>
                          </a:solidFill>
                        </a:rPr>
                        <a:t>andrius/asterisk:16</a:t>
                      </a:r>
                    </a:p>
                  </a:txBody>
                  <a:tcPr>
                    <a:solidFill>
                      <a:srgbClr val="FFFFFF"/>
                    </a:solidFill>
                  </a:tcPr>
                </a:tc>
                <a:tc>
                  <a:txBody>
                    <a:bodyPr/>
                    <a:lstStyle/>
                    <a:p>
                      <a:r>
                        <a:rPr sz="900">
                          <a:solidFill>
                            <a:srgbClr val="1A1A2E"/>
                          </a:solidFill>
                        </a:rPr>
                        <a:t>Téléphonie IP · 10 extensions SIP (1001–1099)</a:t>
                      </a:r>
                    </a:p>
                  </a:txBody>
                  <a:tcPr>
                    <a:solidFill>
                      <a:srgbClr val="FFFFFF"/>
                    </a:solidFill>
                  </a:tcPr>
                </a:tc>
              </a:tr>
              <a:tr h="492760">
                <a:tc>
                  <a:txBody>
                    <a:bodyPr/>
                    <a:lstStyle/>
                    <a:p>
                      <a:r>
                        <a:rPr sz="900">
                          <a:solidFill>
                            <a:srgbClr val="1A1A2E"/>
                          </a:solidFill>
                        </a:rPr>
                        <a:t>maison_phpmyadmin</a:t>
                      </a:r>
                    </a:p>
                  </a:txBody>
                  <a:tcPr>
                    <a:solidFill>
                      <a:srgbClr val="F8FAFF"/>
                    </a:solidFill>
                  </a:tcPr>
                </a:tc>
                <a:tc>
                  <a:txBody>
                    <a:bodyPr/>
                    <a:lstStyle/>
                    <a:p>
                      <a:r>
                        <a:rPr sz="900">
                          <a:solidFill>
                            <a:srgbClr val="1A1A2E"/>
                          </a:solidFill>
                        </a:rPr>
                        <a:t>phpmyadmin/phpmyadmin</a:t>
                      </a:r>
                    </a:p>
                  </a:txBody>
                  <a:tcPr>
                    <a:solidFill>
                      <a:srgbClr val="F8FAFF"/>
                    </a:solidFill>
                  </a:tcPr>
                </a:tc>
                <a:tc>
                  <a:txBody>
                    <a:bodyPr/>
                    <a:lstStyle/>
                    <a:p>
                      <a:r>
                        <a:rPr sz="900">
                          <a:solidFill>
                            <a:srgbClr val="1A1A2E"/>
                          </a:solidFill>
                        </a:rPr>
                        <a:t>Interface web DB · localhost:8080</a:t>
                      </a:r>
                    </a:p>
                  </a:txBody>
                  <a:tcPr>
                    <a:solidFill>
                      <a:srgbClr val="F8FAFF"/>
                    </a:solidFill>
                  </a:tcPr>
                </a:tc>
              </a:tr>
              <a:tr h="492760">
                <a:tc>
                  <a:txBody>
                    <a:bodyPr/>
                    <a:lstStyle/>
                    <a:p>
                      <a:r>
                        <a:rPr sz="900">
                          <a:solidFill>
                            <a:srgbClr val="1A1A2E"/>
                          </a:solidFill>
                        </a:rPr>
                        <a:t>maison_portail</a:t>
                      </a:r>
                    </a:p>
                  </a:txBody>
                  <a:tcPr>
                    <a:solidFill>
                      <a:srgbClr val="FFFFFF"/>
                    </a:solidFill>
                  </a:tcPr>
                </a:tc>
                <a:tc>
                  <a:txBody>
                    <a:bodyPr/>
                    <a:lstStyle/>
                    <a:p>
                      <a:r>
                        <a:rPr sz="900">
                          <a:solidFill>
                            <a:srgbClr val="1A1A2E"/>
                          </a:solidFill>
                        </a:rPr>
                        <a:t>php:8.2-fpm</a:t>
                      </a:r>
                    </a:p>
                  </a:txBody>
                  <a:tcPr>
                    <a:solidFill>
                      <a:srgbClr val="FFFFFF"/>
                    </a:solidFill>
                  </a:tcPr>
                </a:tc>
                <a:tc>
                  <a:txBody>
                    <a:bodyPr/>
                    <a:lstStyle/>
                    <a:p>
                      <a:r>
                        <a:rPr sz="900">
                          <a:solidFill>
                            <a:srgbClr val="1A1A2E"/>
                          </a:solidFill>
                        </a:rPr>
                        <a:t>Ancien portail captif (legacy)</a:t>
                      </a:r>
                    </a:p>
                  </a:txBody>
                  <a:tcPr>
                    <a:solidFill>
                      <a:srgbClr val="FFFFFF"/>
                    </a:solidFill>
                  </a:tcPr>
                </a:tc>
              </a:tr>
            </a:tbl>
          </a:graphicData>
        </a:graphic>
      </p:graphicFrame>
      <p:sp>
        <p:nvSpPr>
          <p:cNvPr id="7" name="OralBg"/>
          <p:cNvSpPr/>
          <p:nvPr/>
        </p:nvSpPr>
        <p:spPr>
          <a:xfrm>
            <a:off x="365760" y="5806440"/>
            <a:ext cx="11430000" cy="6583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alAccent"/>
          <p:cNvSpPr/>
          <p:nvPr/>
        </p:nvSpPr>
        <p:spPr>
          <a:xfrm>
            <a:off x="365760" y="5806440"/>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alText"/>
          <p:cNvSpPr txBox="1"/>
          <p:nvPr/>
        </p:nvSpPr>
        <p:spPr>
          <a:xfrm>
            <a:off x="594360" y="5869940"/>
            <a:ext cx="11155680" cy="566928"/>
          </a:xfrm>
          <a:prstGeom prst="rect">
            <a:avLst/>
          </a:prstGeom>
          <a:noFill/>
        </p:spPr>
        <p:txBody>
          <a:bodyPr wrap="square">
            <a:spAutoFit/>
          </a:bodyPr>
          <a:lstStyle/>
          <a:p>
            <a:r>
              <a:rPr sz="750" b="1">
                <a:solidFill>
                  <a:srgbClr val="4F46E5"/>
                </a:solidFill>
              </a:rPr>
              <a:t>À dire à l'oral  </a:t>
            </a:r>
            <a:r>
              <a:rPr sz="900" i="1">
                <a:solidFill>
                  <a:srgbClr val="4B5563"/>
                </a:solidFill>
              </a:rPr>
              <a:t>"Docker permet de déployer l'ensemble du projet en une seule commande. Chaque service est isolé dans son container. Les données MySQL sont dans un volume persistant — elles survivent aux redémarrages."</a:t>
            </a:r>
          </a:p>
        </p:txBody>
      </p:sp>
      <p:sp>
        <p:nvSpPr>
          <p:cNvPr id="10" name="FooterLine"/>
          <p:cNvSpPr/>
          <p:nvPr/>
        </p:nvSpPr>
        <p:spPr>
          <a:xfrm>
            <a:off x="365760" y="6492240"/>
            <a:ext cx="11430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p:cNvSpPr txBox="1"/>
          <p:nvPr/>
        </p:nvSpPr>
        <p:spPr>
          <a:xfrm>
            <a:off x="365760" y="6537960"/>
            <a:ext cx="11430000" cy="254000"/>
          </a:xfrm>
          <a:prstGeom prst="rect">
            <a:avLst/>
          </a:prstGeom>
          <a:noFill/>
        </p:spPr>
        <p:txBody>
          <a:bodyPr wrap="none">
            <a:spAutoFit/>
          </a:bodyPr>
          <a:lstStyle/>
          <a:p>
            <a:pPr algn="l"/>
            <a:r>
              <a:rPr sz="800">
                <a:solidFill>
                  <a:srgbClr val="6B7280"/>
                </a:solidFill>
              </a:rPr>
              <a:t>Maison Saclay — Projet OP-1</a:t>
            </a:r>
            <a:r>
              <a:rPr sz="800">
                <a:solidFill>
                  <a:srgbClr val="6B7280"/>
                </a:solidFill>
              </a:rPr>
              <a:t>         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Bar"/>
          <p:cNvSpPr/>
          <p:nvPr/>
        </p:nvSpPr>
        <p:spPr>
          <a:xfrm>
            <a:off x="0" y="0"/>
            <a:ext cx="12188952" cy="76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ag"/>
          <p:cNvSpPr txBox="1"/>
          <p:nvPr/>
        </p:nvSpPr>
        <p:spPr>
          <a:xfrm>
            <a:off x="457200" y="164592"/>
            <a:ext cx="9144000" cy="177800"/>
          </a:xfrm>
          <a:prstGeom prst="rect">
            <a:avLst/>
          </a:prstGeom>
          <a:noFill/>
        </p:spPr>
        <p:txBody>
          <a:bodyPr wrap="none">
            <a:spAutoFit/>
          </a:bodyPr>
          <a:lstStyle/>
          <a:p>
            <a:r>
              <a:rPr sz="800" b="1">
                <a:solidFill>
                  <a:srgbClr val="4F46E5"/>
                </a:solidFill>
              </a:rPr>
              <a:t>FRONTEND REACT</a:t>
            </a:r>
          </a:p>
        </p:txBody>
      </p:sp>
      <p:sp>
        <p:nvSpPr>
          <p:cNvPr id="4" name="SlideTitle"/>
          <p:cNvSpPr txBox="1"/>
          <p:nvPr/>
        </p:nvSpPr>
        <p:spPr>
          <a:xfrm>
            <a:off x="457200" y="320040"/>
            <a:ext cx="11247120" cy="685800"/>
          </a:xfrm>
          <a:prstGeom prst="rect">
            <a:avLst/>
          </a:prstGeom>
          <a:noFill/>
        </p:spPr>
        <p:txBody>
          <a:bodyPr wrap="square">
            <a:spAutoFit/>
          </a:bodyPr>
          <a:lstStyle/>
          <a:p>
            <a:r>
              <a:rPr sz="2800" b="1">
                <a:solidFill>
                  <a:srgbClr val="1A1A2E"/>
                </a:solidFill>
              </a:rPr>
              <a:t>Site public hôtel</a:t>
            </a:r>
          </a:p>
        </p:txBody>
      </p:sp>
      <p:sp>
        <p:nvSpPr>
          <p:cNvPr id="5" name="SlideSubtitle"/>
          <p:cNvSpPr txBox="1"/>
          <p:nvPr/>
        </p:nvSpPr>
        <p:spPr>
          <a:xfrm>
            <a:off x="457200" y="896112"/>
            <a:ext cx="11247120" cy="279400"/>
          </a:xfrm>
          <a:prstGeom prst="rect">
            <a:avLst/>
          </a:prstGeom>
          <a:noFill/>
        </p:spPr>
        <p:txBody>
          <a:bodyPr wrap="none">
            <a:spAutoFit/>
          </a:bodyPr>
          <a:lstStyle/>
          <a:p>
            <a:r>
              <a:rPr sz="1100">
                <a:solidFill>
                  <a:srgbClr val="6B7280"/>
                </a:solidFill>
              </a:rPr>
              <a:t>SPA — Single Page Application</a:t>
            </a:r>
          </a:p>
        </p:txBody>
      </p:sp>
      <p:sp>
        <p:nvSpPr>
          <p:cNvPr id="6" name="BulletList"/>
          <p:cNvSpPr txBox="1"/>
          <p:nvPr/>
        </p:nvSpPr>
        <p:spPr>
          <a:xfrm>
            <a:off x="457200" y="1234440"/>
            <a:ext cx="6858000" cy="1920240"/>
          </a:xfrm>
          <a:prstGeom prst="rect">
            <a:avLst/>
          </a:prstGeom>
          <a:noFill/>
        </p:spPr>
        <p:txBody>
          <a:bodyPr wrap="square">
            <a:spAutoFit/>
          </a:bodyPr>
          <a:lstStyle/>
          <a:p>
            <a:pPr>
              <a:spcBef>
                <a:spcPts val="400"/>
              </a:spcBef>
            </a:pPr>
            <a:r>
              <a:rPr sz="600" b="1">
                <a:solidFill>
                  <a:srgbClr val="4F46E5"/>
                </a:solidFill>
              </a:rPr>
              <a:t>●  </a:t>
            </a:r>
            <a:r>
              <a:rPr sz="1100" b="1">
                <a:solidFill>
                  <a:srgbClr val="1A1A2E"/>
                </a:solidFill>
              </a:rPr>
              <a:t>Page d'accueil : </a:t>
            </a:r>
            <a:r>
              <a:rPr sz="1100">
                <a:solidFill>
                  <a:srgbClr val="1A1A2E"/>
                </a:solidFill>
              </a:rPr>
              <a:t>présentation de l'hôtel, navigation vers les sections</a:t>
            </a:r>
          </a:p>
          <a:p>
            <a:pPr>
              <a:spcBef>
                <a:spcPts val="400"/>
              </a:spcBef>
            </a:pPr>
            <a:r>
              <a:rPr sz="600" b="1">
                <a:solidFill>
                  <a:srgbClr val="4F46E5"/>
                </a:solidFill>
              </a:rPr>
              <a:t>●  </a:t>
            </a:r>
            <a:r>
              <a:rPr sz="1100" b="1">
                <a:solidFill>
                  <a:srgbClr val="1A1A2E"/>
                </a:solidFill>
              </a:rPr>
              <a:t>Catalogue des chambres : </a:t>
            </a:r>
            <a:r>
              <a:rPr sz="1100">
                <a:solidFill>
                  <a:srgbClr val="1A1A2E"/>
                </a:solidFill>
              </a:rPr>
              <a:t>3 types — Deluxe (38 m²), Suite (72 m²), Penthouse (210 m²)</a:t>
            </a:r>
          </a:p>
          <a:p>
            <a:pPr>
              <a:spcBef>
                <a:spcPts val="400"/>
              </a:spcBef>
            </a:pPr>
            <a:r>
              <a:rPr sz="600" b="1">
                <a:solidFill>
                  <a:srgbClr val="4F46E5"/>
                </a:solidFill>
              </a:rPr>
              <a:t>●  </a:t>
            </a:r>
            <a:r>
              <a:rPr sz="1100" b="1">
                <a:solidFill>
                  <a:srgbClr val="1A1A2E"/>
                </a:solidFill>
              </a:rPr>
              <a:t>Formulaire de réservation : </a:t>
            </a:r>
            <a:r>
              <a:rPr sz="1100">
                <a:solidFill>
                  <a:srgbClr val="1A1A2E"/>
                </a:solidFill>
              </a:rPr>
              <a:t>dates, voyageurs, calcul automatique du prix</a:t>
            </a:r>
          </a:p>
          <a:p>
            <a:pPr>
              <a:spcBef>
                <a:spcPts val="400"/>
              </a:spcBef>
            </a:pPr>
            <a:r>
              <a:rPr sz="600" b="1">
                <a:solidFill>
                  <a:srgbClr val="4F46E5"/>
                </a:solidFill>
              </a:rPr>
              <a:t>●  </a:t>
            </a:r>
            <a:r>
              <a:rPr sz="1100" b="1">
                <a:solidFill>
                  <a:srgbClr val="1A1A2E"/>
                </a:solidFill>
              </a:rPr>
              <a:t>Page de confirmation : </a:t>
            </a:r>
            <a:r>
              <a:rPr sz="1100">
                <a:solidFill>
                  <a:srgbClr val="1A1A2E"/>
                </a:solidFill>
              </a:rPr>
              <a:t>numéro de chambre physique attribuée + extension téléphonique</a:t>
            </a:r>
          </a:p>
          <a:p>
            <a:pPr>
              <a:spcBef>
                <a:spcPts val="400"/>
              </a:spcBef>
            </a:pPr>
            <a:r>
              <a:rPr sz="600" b="1">
                <a:solidFill>
                  <a:srgbClr val="4F46E5"/>
                </a:solidFill>
              </a:rPr>
              <a:t>●  </a:t>
            </a:r>
            <a:r>
              <a:rPr sz="1100" b="1">
                <a:solidFill>
                  <a:srgbClr val="1A1A2E"/>
                </a:solidFill>
              </a:rPr>
              <a:t>Room service : </a:t>
            </a:r>
            <a:r>
              <a:rPr sz="1100">
                <a:solidFill>
                  <a:srgbClr val="1A1A2E"/>
                </a:solidFill>
              </a:rPr>
              <a:t>commander un repas depuis sa chambre, suivi en temps réel</a:t>
            </a:r>
          </a:p>
        </p:txBody>
      </p:sp>
      <p:sp>
        <p:nvSpPr>
          <p:cNvPr id="7" name="Tag_React 18"/>
          <p:cNvSpPr/>
          <p:nvPr/>
        </p:nvSpPr>
        <p:spPr>
          <a:xfrm>
            <a:off x="7498079" y="1325880"/>
            <a:ext cx="1463040" cy="292608"/>
          </a:xfrm>
          <a:prstGeom prst="rect">
            <a:avLst/>
          </a:prstGeom>
          <a:solidFill>
            <a:srgbClr val="F8FAFF"/>
          </a:solidFill>
          <a:ln w="9525">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4F46E5"/>
                </a:solidFill>
              </a:rPr>
              <a:t>React 18</a:t>
            </a:r>
          </a:p>
        </p:txBody>
      </p:sp>
      <p:sp>
        <p:nvSpPr>
          <p:cNvPr id="8" name="Tag_TypeScri"/>
          <p:cNvSpPr/>
          <p:nvPr/>
        </p:nvSpPr>
        <p:spPr>
          <a:xfrm>
            <a:off x="9070847" y="1325880"/>
            <a:ext cx="1463040" cy="292608"/>
          </a:xfrm>
          <a:prstGeom prst="rect">
            <a:avLst/>
          </a:prstGeom>
          <a:solidFill>
            <a:srgbClr val="F8FAFF"/>
          </a:solidFill>
          <a:ln w="9525">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4F46E5"/>
                </a:solidFill>
              </a:rPr>
              <a:t>TypeScript</a:t>
            </a:r>
          </a:p>
        </p:txBody>
      </p:sp>
      <p:sp>
        <p:nvSpPr>
          <p:cNvPr id="9" name="Tag_Tailwind"/>
          <p:cNvSpPr/>
          <p:nvPr/>
        </p:nvSpPr>
        <p:spPr>
          <a:xfrm>
            <a:off x="7498079" y="1737360"/>
            <a:ext cx="1463040" cy="292608"/>
          </a:xfrm>
          <a:prstGeom prst="rect">
            <a:avLst/>
          </a:prstGeom>
          <a:solidFill>
            <a:srgbClr val="F8FAFF"/>
          </a:solidFill>
          <a:ln w="9525">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4F46E5"/>
                </a:solidFill>
              </a:rPr>
              <a:t>Tailwind CSS</a:t>
            </a:r>
          </a:p>
        </p:txBody>
      </p:sp>
      <p:sp>
        <p:nvSpPr>
          <p:cNvPr id="10" name="Tag_React Ro"/>
          <p:cNvSpPr/>
          <p:nvPr/>
        </p:nvSpPr>
        <p:spPr>
          <a:xfrm>
            <a:off x="9070847" y="1737360"/>
            <a:ext cx="1463040" cy="292608"/>
          </a:xfrm>
          <a:prstGeom prst="rect">
            <a:avLst/>
          </a:prstGeom>
          <a:solidFill>
            <a:srgbClr val="F8FAFF"/>
          </a:solidFill>
          <a:ln w="9525">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4F46E5"/>
                </a:solidFill>
              </a:rPr>
              <a:t>React Router</a:t>
            </a:r>
          </a:p>
        </p:txBody>
      </p:sp>
      <p:sp>
        <p:nvSpPr>
          <p:cNvPr id="11" name="Tag_Vite"/>
          <p:cNvSpPr/>
          <p:nvPr/>
        </p:nvSpPr>
        <p:spPr>
          <a:xfrm>
            <a:off x="7498079" y="2148840"/>
            <a:ext cx="1463040" cy="292608"/>
          </a:xfrm>
          <a:prstGeom prst="rect">
            <a:avLst/>
          </a:prstGeom>
          <a:solidFill>
            <a:srgbClr val="F8FAFF"/>
          </a:solidFill>
          <a:ln w="9525">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4F46E5"/>
                </a:solidFill>
              </a:rPr>
              <a:t>Vite</a:t>
            </a:r>
          </a:p>
        </p:txBody>
      </p:sp>
      <p:sp>
        <p:nvSpPr>
          <p:cNvPr id="12" name="Tag_Framer M"/>
          <p:cNvSpPr/>
          <p:nvPr/>
        </p:nvSpPr>
        <p:spPr>
          <a:xfrm>
            <a:off x="9070847" y="2148840"/>
            <a:ext cx="1463040" cy="292608"/>
          </a:xfrm>
          <a:prstGeom prst="rect">
            <a:avLst/>
          </a:prstGeom>
          <a:solidFill>
            <a:srgbClr val="F8FAFF"/>
          </a:solidFill>
          <a:ln w="9525">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4F46E5"/>
                </a:solidFill>
              </a:rPr>
              <a:t>Framer Motion</a:t>
            </a:r>
          </a:p>
        </p:txBody>
      </p:sp>
      <p:sp>
        <p:nvSpPr>
          <p:cNvPr id="13" name="Card_Communic"/>
          <p:cNvSpPr/>
          <p:nvPr/>
        </p:nvSpPr>
        <p:spPr>
          <a:xfrm>
            <a:off x="457200" y="3337560"/>
            <a:ext cx="11247120" cy="96012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COMMUNICATION FRONTEND → BACKEND</a:t>
            </a:r>
          </a:p>
          <a:p>
            <a:pPr>
              <a:spcBef>
                <a:spcPts val="400"/>
              </a:spcBef>
            </a:pPr>
            <a:r>
              <a:rPr sz="900">
                <a:solidFill>
                  <a:srgbClr val="1A1A2E"/>
                </a:solidFill>
              </a:rPr>
              <a:t>Centralisée dans api.ts — ajoute automatiquement le token JWT dans chaque requête. Le backend répond toujours en JSON avec success: true/false.</a:t>
            </a:r>
          </a:p>
        </p:txBody>
      </p:sp>
      <p:sp>
        <p:nvSpPr>
          <p:cNvPr id="14" name="OralBg"/>
          <p:cNvSpPr/>
          <p:nvPr/>
        </p:nvSpPr>
        <p:spPr>
          <a:xfrm>
            <a:off x="365760" y="5806440"/>
            <a:ext cx="11430000" cy="6583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alAccent"/>
          <p:cNvSpPr/>
          <p:nvPr/>
        </p:nvSpPr>
        <p:spPr>
          <a:xfrm>
            <a:off x="365760" y="5806440"/>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alText"/>
          <p:cNvSpPr txBox="1"/>
          <p:nvPr/>
        </p:nvSpPr>
        <p:spPr>
          <a:xfrm>
            <a:off x="594360" y="5869940"/>
            <a:ext cx="11155680" cy="566928"/>
          </a:xfrm>
          <a:prstGeom prst="rect">
            <a:avLst/>
          </a:prstGeom>
          <a:noFill/>
        </p:spPr>
        <p:txBody>
          <a:bodyPr wrap="square">
            <a:spAutoFit/>
          </a:bodyPr>
          <a:lstStyle/>
          <a:p>
            <a:r>
              <a:rPr sz="750" b="1">
                <a:solidFill>
                  <a:srgbClr val="4F46E5"/>
                </a:solidFill>
              </a:rPr>
              <a:t>À dire à l'oral  </a:t>
            </a:r>
            <a:r>
              <a:rPr sz="900" i="1">
                <a:solidFill>
                  <a:srgbClr val="4B5563"/>
                </a:solidFill>
              </a:rPr>
              <a:t>"Le frontend est une SPA React compilée avec Vite. Il communique avec le backend PHP uniquement via des appels API JSON. Nginx sert les fichiers statiques et redirige les requêtes /api vers PHP."</a:t>
            </a:r>
          </a:p>
        </p:txBody>
      </p:sp>
      <p:sp>
        <p:nvSpPr>
          <p:cNvPr id="17" name="FooterLine"/>
          <p:cNvSpPr/>
          <p:nvPr/>
        </p:nvSpPr>
        <p:spPr>
          <a:xfrm>
            <a:off x="365760" y="6492240"/>
            <a:ext cx="11430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ooter"/>
          <p:cNvSpPr txBox="1"/>
          <p:nvPr/>
        </p:nvSpPr>
        <p:spPr>
          <a:xfrm>
            <a:off x="365760" y="6537960"/>
            <a:ext cx="11430000" cy="254000"/>
          </a:xfrm>
          <a:prstGeom prst="rect">
            <a:avLst/>
          </a:prstGeom>
          <a:noFill/>
        </p:spPr>
        <p:txBody>
          <a:bodyPr wrap="none">
            <a:spAutoFit/>
          </a:bodyPr>
          <a:lstStyle/>
          <a:p>
            <a:pPr algn="l"/>
            <a:r>
              <a:rPr sz="800">
                <a:solidFill>
                  <a:srgbClr val="6B7280"/>
                </a:solidFill>
              </a:rPr>
              <a:t>Maison Saclay — Projet OP-1</a:t>
            </a:r>
            <a:r>
              <a:rPr sz="800">
                <a:solidFill>
                  <a:srgbClr val="6B7280"/>
                </a:solidFill>
              </a:rPr>
              <a:t>         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Bar"/>
          <p:cNvSpPr/>
          <p:nvPr/>
        </p:nvSpPr>
        <p:spPr>
          <a:xfrm>
            <a:off x="0" y="0"/>
            <a:ext cx="12188952" cy="76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ag"/>
          <p:cNvSpPr txBox="1"/>
          <p:nvPr/>
        </p:nvSpPr>
        <p:spPr>
          <a:xfrm>
            <a:off x="457200" y="164592"/>
            <a:ext cx="9144000" cy="177800"/>
          </a:xfrm>
          <a:prstGeom prst="rect">
            <a:avLst/>
          </a:prstGeom>
          <a:noFill/>
        </p:spPr>
        <p:txBody>
          <a:bodyPr wrap="none">
            <a:spAutoFit/>
          </a:bodyPr>
          <a:lstStyle/>
          <a:p>
            <a:r>
              <a:rPr sz="800" b="1">
                <a:solidFill>
                  <a:srgbClr val="4F46E5"/>
                </a:solidFill>
              </a:rPr>
              <a:t>BACKEND + MYSQL</a:t>
            </a:r>
          </a:p>
        </p:txBody>
      </p:sp>
      <p:sp>
        <p:nvSpPr>
          <p:cNvPr id="4" name="SlideTitle"/>
          <p:cNvSpPr txBox="1"/>
          <p:nvPr/>
        </p:nvSpPr>
        <p:spPr>
          <a:xfrm>
            <a:off x="457200" y="320040"/>
            <a:ext cx="11247120" cy="685800"/>
          </a:xfrm>
          <a:prstGeom prst="rect">
            <a:avLst/>
          </a:prstGeom>
          <a:noFill/>
        </p:spPr>
        <p:txBody>
          <a:bodyPr wrap="square">
            <a:spAutoFit/>
          </a:bodyPr>
          <a:lstStyle/>
          <a:p>
            <a:r>
              <a:rPr sz="2800" b="1">
                <a:solidFill>
                  <a:srgbClr val="1A1A2E"/>
                </a:solidFill>
              </a:rPr>
              <a:t>Réservation et base de données</a:t>
            </a:r>
          </a:p>
        </p:txBody>
      </p:sp>
      <p:sp>
        <p:nvSpPr>
          <p:cNvPr id="5" name="FlowBg"/>
          <p:cNvSpPr/>
          <p:nvPr/>
        </p:nvSpPr>
        <p:spPr>
          <a:xfrm>
            <a:off x="365760" y="1234440"/>
            <a:ext cx="11430000" cy="594360"/>
          </a:xfrm>
          <a:prstGeom prst="rect">
            <a:avLst/>
          </a:prstGeom>
          <a:solidFill>
            <a:srgbClr val="F8FA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low0"/>
          <p:cNvSpPr/>
          <p:nvPr/>
        </p:nvSpPr>
        <p:spPr>
          <a:xfrm>
            <a:off x="365760" y="1280160"/>
            <a:ext cx="1783080" cy="493776"/>
          </a:xfrm>
          <a:prstGeom prst="rect">
            <a:avLst/>
          </a:prstGeom>
          <a:solidFill>
            <a:srgbClr val="FFFF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1A1A2E"/>
                </a:solidFill>
              </a:rPr>
              <a:t>1. Client choisit les dates</a:t>
            </a:r>
          </a:p>
        </p:txBody>
      </p:sp>
      <p:sp>
        <p:nvSpPr>
          <p:cNvPr id="7" name="Arrow0"/>
          <p:cNvSpPr txBox="1"/>
          <p:nvPr/>
        </p:nvSpPr>
        <p:spPr>
          <a:xfrm>
            <a:off x="2112264" y="1344168"/>
            <a:ext cx="128016" cy="279400"/>
          </a:xfrm>
          <a:prstGeom prst="rect">
            <a:avLst/>
          </a:prstGeom>
          <a:noFill/>
        </p:spPr>
        <p:txBody>
          <a:bodyPr wrap="none">
            <a:spAutoFit/>
          </a:bodyPr>
          <a:lstStyle/>
          <a:p>
            <a:r>
              <a:rPr sz="1200" b="1">
                <a:solidFill>
                  <a:srgbClr val="4F46E5"/>
                </a:solidFill>
              </a:rPr>
              <a:t>→</a:t>
            </a:r>
          </a:p>
        </p:txBody>
      </p:sp>
      <p:sp>
        <p:nvSpPr>
          <p:cNvPr id="8" name="Flow1"/>
          <p:cNvSpPr/>
          <p:nvPr/>
        </p:nvSpPr>
        <p:spPr>
          <a:xfrm>
            <a:off x="2258568" y="1280160"/>
            <a:ext cx="1783080" cy="493776"/>
          </a:xfrm>
          <a:prstGeom prst="rect">
            <a:avLst/>
          </a:prstGeom>
          <a:solidFill>
            <a:srgbClr val="FFFF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1A1A2E"/>
                </a:solidFill>
              </a:rPr>
              <a:t>2. POST /api/bookings + JWT</a:t>
            </a:r>
          </a:p>
        </p:txBody>
      </p:sp>
      <p:sp>
        <p:nvSpPr>
          <p:cNvPr id="9" name="Arrow1"/>
          <p:cNvSpPr txBox="1"/>
          <p:nvPr/>
        </p:nvSpPr>
        <p:spPr>
          <a:xfrm>
            <a:off x="4005072" y="1344168"/>
            <a:ext cx="128016" cy="279400"/>
          </a:xfrm>
          <a:prstGeom prst="rect">
            <a:avLst/>
          </a:prstGeom>
          <a:noFill/>
        </p:spPr>
        <p:txBody>
          <a:bodyPr wrap="none">
            <a:spAutoFit/>
          </a:bodyPr>
          <a:lstStyle/>
          <a:p>
            <a:r>
              <a:rPr sz="1200" b="1">
                <a:solidFill>
                  <a:srgbClr val="4F46E5"/>
                </a:solidFill>
              </a:rPr>
              <a:t>→</a:t>
            </a:r>
          </a:p>
        </p:txBody>
      </p:sp>
      <p:sp>
        <p:nvSpPr>
          <p:cNvPr id="10" name="Flow2"/>
          <p:cNvSpPr/>
          <p:nvPr/>
        </p:nvSpPr>
        <p:spPr>
          <a:xfrm>
            <a:off x="4151376" y="1280160"/>
            <a:ext cx="1783080" cy="493776"/>
          </a:xfrm>
          <a:prstGeom prst="rect">
            <a:avLst/>
          </a:prstGeom>
          <a:solidFill>
            <a:srgbClr val="FFFF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1A1A2E"/>
                </a:solidFill>
              </a:rPr>
              <a:t>3. Dispo SQL</a:t>
            </a:r>
          </a:p>
        </p:txBody>
      </p:sp>
      <p:sp>
        <p:nvSpPr>
          <p:cNvPr id="11" name="Arrow2"/>
          <p:cNvSpPr txBox="1"/>
          <p:nvPr/>
        </p:nvSpPr>
        <p:spPr>
          <a:xfrm>
            <a:off x="5897880" y="1344168"/>
            <a:ext cx="128016" cy="279400"/>
          </a:xfrm>
          <a:prstGeom prst="rect">
            <a:avLst/>
          </a:prstGeom>
          <a:noFill/>
        </p:spPr>
        <p:txBody>
          <a:bodyPr wrap="none">
            <a:spAutoFit/>
          </a:bodyPr>
          <a:lstStyle/>
          <a:p>
            <a:r>
              <a:rPr sz="1200" b="1">
                <a:solidFill>
                  <a:srgbClr val="4F46E5"/>
                </a:solidFill>
              </a:rPr>
              <a:t>→</a:t>
            </a:r>
          </a:p>
        </p:txBody>
      </p:sp>
      <p:sp>
        <p:nvSpPr>
          <p:cNvPr id="12" name="Flow3"/>
          <p:cNvSpPr/>
          <p:nvPr/>
        </p:nvSpPr>
        <p:spPr>
          <a:xfrm>
            <a:off x="6044184" y="1280160"/>
            <a:ext cx="1783080" cy="493776"/>
          </a:xfrm>
          <a:prstGeom prst="rect">
            <a:avLst/>
          </a:prstGeom>
          <a:solidFill>
            <a:srgbClr val="FFFF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1A1A2E"/>
                </a:solidFill>
              </a:rPr>
              <a:t>4. Chambre attribuée</a:t>
            </a:r>
          </a:p>
        </p:txBody>
      </p:sp>
      <p:sp>
        <p:nvSpPr>
          <p:cNvPr id="13" name="Arrow3"/>
          <p:cNvSpPr txBox="1"/>
          <p:nvPr/>
        </p:nvSpPr>
        <p:spPr>
          <a:xfrm>
            <a:off x="7790688" y="1344168"/>
            <a:ext cx="128016" cy="279400"/>
          </a:xfrm>
          <a:prstGeom prst="rect">
            <a:avLst/>
          </a:prstGeom>
          <a:noFill/>
        </p:spPr>
        <p:txBody>
          <a:bodyPr wrap="none">
            <a:spAutoFit/>
          </a:bodyPr>
          <a:lstStyle/>
          <a:p>
            <a:r>
              <a:rPr sz="1200" b="1">
                <a:solidFill>
                  <a:srgbClr val="4F46E5"/>
                </a:solidFill>
              </a:rPr>
              <a:t>→</a:t>
            </a:r>
          </a:p>
        </p:txBody>
      </p:sp>
      <p:sp>
        <p:nvSpPr>
          <p:cNvPr id="14" name="Flow4"/>
          <p:cNvSpPr/>
          <p:nvPr/>
        </p:nvSpPr>
        <p:spPr>
          <a:xfrm>
            <a:off x="7936992" y="1280160"/>
            <a:ext cx="1783080" cy="493776"/>
          </a:xfrm>
          <a:prstGeom prst="rect">
            <a:avLst/>
          </a:prstGeom>
          <a:solidFill>
            <a:srgbClr val="FFFF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1A1A2E"/>
                </a:solidFill>
              </a:rPr>
              <a:t>5. INSERT MySQL</a:t>
            </a:r>
          </a:p>
        </p:txBody>
      </p:sp>
      <p:sp>
        <p:nvSpPr>
          <p:cNvPr id="15" name="Arrow4"/>
          <p:cNvSpPr txBox="1"/>
          <p:nvPr/>
        </p:nvSpPr>
        <p:spPr>
          <a:xfrm>
            <a:off x="9683496" y="1344168"/>
            <a:ext cx="128016" cy="279400"/>
          </a:xfrm>
          <a:prstGeom prst="rect">
            <a:avLst/>
          </a:prstGeom>
          <a:noFill/>
        </p:spPr>
        <p:txBody>
          <a:bodyPr wrap="none">
            <a:spAutoFit/>
          </a:bodyPr>
          <a:lstStyle/>
          <a:p>
            <a:r>
              <a:rPr sz="1200" b="1">
                <a:solidFill>
                  <a:srgbClr val="4F46E5"/>
                </a:solidFill>
              </a:rPr>
              <a:t>→</a:t>
            </a:r>
          </a:p>
        </p:txBody>
      </p:sp>
      <p:sp>
        <p:nvSpPr>
          <p:cNvPr id="16" name="Flow5"/>
          <p:cNvSpPr/>
          <p:nvPr/>
        </p:nvSpPr>
        <p:spPr>
          <a:xfrm>
            <a:off x="9829800" y="1280160"/>
            <a:ext cx="1783080" cy="493776"/>
          </a:xfrm>
          <a:prstGeom prst="rect">
            <a:avLst/>
          </a:prstGeom>
          <a:solidFill>
            <a:srgbClr val="FFFF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1A1A2E"/>
                </a:solidFill>
              </a:rPr>
              <a:t>6. Telegram</a:t>
            </a:r>
          </a:p>
        </p:txBody>
      </p:sp>
      <p:sp>
        <p:nvSpPr>
          <p:cNvPr id="17" name="BulletList"/>
          <p:cNvSpPr txBox="1"/>
          <p:nvPr/>
        </p:nvSpPr>
        <p:spPr>
          <a:xfrm>
            <a:off x="457200" y="1920240"/>
            <a:ext cx="11247120" cy="1600200"/>
          </a:xfrm>
          <a:prstGeom prst="rect">
            <a:avLst/>
          </a:prstGeom>
          <a:noFill/>
        </p:spPr>
        <p:txBody>
          <a:bodyPr wrap="square">
            <a:spAutoFit/>
          </a:bodyPr>
          <a:lstStyle/>
          <a:p>
            <a:pPr>
              <a:spcBef>
                <a:spcPts val="400"/>
              </a:spcBef>
            </a:pPr>
            <a:r>
              <a:rPr sz="600" b="1">
                <a:solidFill>
                  <a:srgbClr val="4F46E5"/>
                </a:solidFill>
              </a:rPr>
              <a:t>●  </a:t>
            </a:r>
            <a:r>
              <a:rPr sz="1100" b="1">
                <a:solidFill>
                  <a:srgbClr val="1A1A2E"/>
                </a:solidFill>
              </a:rPr>
              <a:t>Attribution automatique : </a:t>
            </a:r>
            <a:r>
              <a:rPr sz="1100">
                <a:solidFill>
                  <a:srgbClr val="1A1A2E"/>
                </a:solidFill>
              </a:rPr>
              <a:t>SQL avec chevauchement de dates — aucune double-réservation possible</a:t>
            </a:r>
          </a:p>
          <a:p>
            <a:pPr>
              <a:spcBef>
                <a:spcPts val="400"/>
              </a:spcBef>
            </a:pPr>
            <a:r>
              <a:rPr sz="600" b="1">
                <a:solidFill>
                  <a:srgbClr val="4F46E5"/>
                </a:solidFill>
              </a:rPr>
              <a:t>●  </a:t>
            </a:r>
            <a:r>
              <a:rPr sz="1100" b="1">
                <a:solidFill>
                  <a:srgbClr val="1A1A2E"/>
                </a:solidFill>
              </a:rPr>
              <a:t>Prix calculé : </a:t>
            </a:r>
            <a:r>
              <a:rPr sz="1100">
                <a:solidFill>
                  <a:srgbClr val="1A1A2E"/>
                </a:solidFill>
              </a:rPr>
              <a:t>nombre de nuits × tarif du type de chambre</a:t>
            </a:r>
          </a:p>
          <a:p>
            <a:pPr>
              <a:spcBef>
                <a:spcPts val="400"/>
              </a:spcBef>
            </a:pPr>
            <a:r>
              <a:rPr sz="600" b="1">
                <a:solidFill>
                  <a:srgbClr val="4F46E5"/>
                </a:solidFill>
              </a:rPr>
              <a:t>●  </a:t>
            </a:r>
            <a:r>
              <a:rPr sz="1100" b="1">
                <a:solidFill>
                  <a:srgbClr val="1A1A2E"/>
                </a:solidFill>
              </a:rPr>
              <a:t>Notification Telegram : </a:t>
            </a:r>
            <a:r>
              <a:rPr sz="1100">
                <a:solidFill>
                  <a:srgbClr val="1A1A2E"/>
                </a:solidFill>
              </a:rPr>
              <a:t>message avec boutons Confirmer / Annuler interactifs</a:t>
            </a:r>
          </a:p>
          <a:p>
            <a:pPr>
              <a:spcBef>
                <a:spcPts val="400"/>
              </a:spcBef>
            </a:pPr>
            <a:r>
              <a:rPr sz="600" b="1">
                <a:solidFill>
                  <a:srgbClr val="4F46E5"/>
                </a:solidFill>
              </a:rPr>
              <a:t>●  </a:t>
            </a:r>
            <a:r>
              <a:rPr sz="1100" b="1">
                <a:solidFill>
                  <a:srgbClr val="1A1A2E"/>
                </a:solidFill>
              </a:rPr>
              <a:t>Chambre physique : </a:t>
            </a:r>
            <a:r>
              <a:rPr sz="1100">
                <a:solidFill>
                  <a:srgbClr val="1A1A2E"/>
                </a:solidFill>
              </a:rPr>
              <a:t>distinction entre type catalogue et chambre réelle (101, 201, 601…)</a:t>
            </a:r>
          </a:p>
        </p:txBody>
      </p:sp>
      <p:sp>
        <p:nvSpPr>
          <p:cNvPr id="18" name="Stat5_0"/>
          <p:cNvSpPr/>
          <p:nvPr/>
        </p:nvSpPr>
        <p:spPr>
          <a:xfrm>
            <a:off x="365760" y="3703320"/>
            <a:ext cx="2148840" cy="914400"/>
          </a:xfrm>
          <a:prstGeom prst="rect">
            <a:avLst/>
          </a:prstGeom>
          <a:solidFill>
            <a:srgbClr val="F8FA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2600" b="1">
                <a:solidFill>
                  <a:srgbClr val="4F46E5"/>
                </a:solidFill>
              </a:rPr>
              <a:t>3</a:t>
            </a:r>
          </a:p>
          <a:p>
            <a:pPr algn="ctr"/>
            <a:r>
              <a:rPr sz="850">
                <a:solidFill>
                  <a:srgbClr val="6B7280"/>
                </a:solidFill>
              </a:rPr>
              <a:t>Types</a:t>
            </a:r>
          </a:p>
        </p:txBody>
      </p:sp>
      <p:sp>
        <p:nvSpPr>
          <p:cNvPr id="19" name="Stat5_1"/>
          <p:cNvSpPr/>
          <p:nvPr/>
        </p:nvSpPr>
        <p:spPr>
          <a:xfrm>
            <a:off x="2633472" y="3703320"/>
            <a:ext cx="2148840" cy="914400"/>
          </a:xfrm>
          <a:prstGeom prst="rect">
            <a:avLst/>
          </a:prstGeom>
          <a:solidFill>
            <a:srgbClr val="F8FA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2600" b="1">
                <a:solidFill>
                  <a:srgbClr val="4F46E5"/>
                </a:solidFill>
              </a:rPr>
              <a:t>9</a:t>
            </a:r>
          </a:p>
          <a:p>
            <a:pPr algn="ctr"/>
            <a:r>
              <a:rPr sz="850">
                <a:solidFill>
                  <a:srgbClr val="6B7280"/>
                </a:solidFill>
              </a:rPr>
              <a:t>Chambres</a:t>
            </a:r>
          </a:p>
        </p:txBody>
      </p:sp>
      <p:sp>
        <p:nvSpPr>
          <p:cNvPr id="20" name="Stat5_2"/>
          <p:cNvSpPr/>
          <p:nvPr/>
        </p:nvSpPr>
        <p:spPr>
          <a:xfrm>
            <a:off x="4901184" y="3703320"/>
            <a:ext cx="2148840" cy="914400"/>
          </a:xfrm>
          <a:prstGeom prst="rect">
            <a:avLst/>
          </a:prstGeom>
          <a:solidFill>
            <a:srgbClr val="F8FA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2600" b="1">
                <a:solidFill>
                  <a:srgbClr val="4F46E5"/>
                </a:solidFill>
              </a:rPr>
              <a:t>16</a:t>
            </a:r>
          </a:p>
          <a:p>
            <a:pPr algn="ctr"/>
            <a:r>
              <a:rPr sz="850">
                <a:solidFill>
                  <a:srgbClr val="6B7280"/>
                </a:solidFill>
              </a:rPr>
              <a:t>Réservations</a:t>
            </a:r>
          </a:p>
        </p:txBody>
      </p:sp>
      <p:sp>
        <p:nvSpPr>
          <p:cNvPr id="21" name="Stat5_3"/>
          <p:cNvSpPr/>
          <p:nvPr/>
        </p:nvSpPr>
        <p:spPr>
          <a:xfrm>
            <a:off x="7168896" y="3703320"/>
            <a:ext cx="2148840" cy="914400"/>
          </a:xfrm>
          <a:prstGeom prst="rect">
            <a:avLst/>
          </a:prstGeom>
          <a:solidFill>
            <a:srgbClr val="F8FA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2600" b="1">
                <a:solidFill>
                  <a:srgbClr val="4F46E5"/>
                </a:solidFill>
              </a:rPr>
              <a:t>11</a:t>
            </a:r>
          </a:p>
          <a:p>
            <a:pPr algn="ctr"/>
            <a:r>
              <a:rPr sz="850">
                <a:solidFill>
                  <a:srgbClr val="6B7280"/>
                </a:solidFill>
              </a:rPr>
              <a:t>Commandes</a:t>
            </a:r>
          </a:p>
        </p:txBody>
      </p:sp>
      <p:sp>
        <p:nvSpPr>
          <p:cNvPr id="22" name="Stat5_4"/>
          <p:cNvSpPr/>
          <p:nvPr/>
        </p:nvSpPr>
        <p:spPr>
          <a:xfrm>
            <a:off x="9436608" y="3703320"/>
            <a:ext cx="2148840" cy="914400"/>
          </a:xfrm>
          <a:prstGeom prst="rect">
            <a:avLst/>
          </a:prstGeom>
          <a:solidFill>
            <a:srgbClr val="F8FA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2600" b="1">
                <a:solidFill>
                  <a:srgbClr val="4F46E5"/>
                </a:solidFill>
              </a:rPr>
              <a:t>10</a:t>
            </a:r>
          </a:p>
          <a:p>
            <a:pPr algn="ctr"/>
            <a:r>
              <a:rPr sz="850">
                <a:solidFill>
                  <a:srgbClr val="6B7280"/>
                </a:solidFill>
              </a:rPr>
              <a:t>Tables SQL</a:t>
            </a:r>
          </a:p>
        </p:txBody>
      </p:sp>
      <p:sp>
        <p:nvSpPr>
          <p:cNvPr id="23" name="OralBg"/>
          <p:cNvSpPr/>
          <p:nvPr/>
        </p:nvSpPr>
        <p:spPr>
          <a:xfrm>
            <a:off x="365760" y="5806440"/>
            <a:ext cx="11430000" cy="6583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ralAccent"/>
          <p:cNvSpPr/>
          <p:nvPr/>
        </p:nvSpPr>
        <p:spPr>
          <a:xfrm>
            <a:off x="365760" y="5806440"/>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ralText"/>
          <p:cNvSpPr txBox="1"/>
          <p:nvPr/>
        </p:nvSpPr>
        <p:spPr>
          <a:xfrm>
            <a:off x="594360" y="5869940"/>
            <a:ext cx="11155680" cy="566928"/>
          </a:xfrm>
          <a:prstGeom prst="rect">
            <a:avLst/>
          </a:prstGeom>
          <a:noFill/>
        </p:spPr>
        <p:txBody>
          <a:bodyPr wrap="square">
            <a:spAutoFit/>
          </a:bodyPr>
          <a:lstStyle/>
          <a:p>
            <a:r>
              <a:rPr sz="750" b="1">
                <a:solidFill>
                  <a:srgbClr val="4F46E5"/>
                </a:solidFill>
              </a:rPr>
              <a:t>À dire à l'oral  </a:t>
            </a:r>
            <a:r>
              <a:rPr sz="900" i="1">
                <a:solidFill>
                  <a:srgbClr val="4B5563"/>
                </a:solidFill>
              </a:rPr>
              <a:t>"La réservation déclenche une série d'opérations : vérification SQL avec chevauchement de dates, attribution automatique de chambre physique, calcul du prix et notification Telegram avec boutons interactifs."</a:t>
            </a:r>
          </a:p>
        </p:txBody>
      </p:sp>
      <p:sp>
        <p:nvSpPr>
          <p:cNvPr id="26" name="FooterLine"/>
          <p:cNvSpPr/>
          <p:nvPr/>
        </p:nvSpPr>
        <p:spPr>
          <a:xfrm>
            <a:off x="365760" y="6492240"/>
            <a:ext cx="11430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ooter"/>
          <p:cNvSpPr txBox="1"/>
          <p:nvPr/>
        </p:nvSpPr>
        <p:spPr>
          <a:xfrm>
            <a:off x="365760" y="6537960"/>
            <a:ext cx="11430000" cy="254000"/>
          </a:xfrm>
          <a:prstGeom prst="rect">
            <a:avLst/>
          </a:prstGeom>
          <a:noFill/>
        </p:spPr>
        <p:txBody>
          <a:bodyPr wrap="none">
            <a:spAutoFit/>
          </a:bodyPr>
          <a:lstStyle/>
          <a:p>
            <a:pPr algn="l"/>
            <a:r>
              <a:rPr sz="800">
                <a:solidFill>
                  <a:srgbClr val="6B7280"/>
                </a:solidFill>
              </a:rPr>
              <a:t>Maison Saclay — Projet OP-1</a:t>
            </a:r>
            <a:r>
              <a:rPr sz="800">
                <a:solidFill>
                  <a:srgbClr val="6B7280"/>
                </a:solidFill>
              </a:rPr>
              <a:t>         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Bar"/>
          <p:cNvSpPr/>
          <p:nvPr/>
        </p:nvSpPr>
        <p:spPr>
          <a:xfrm>
            <a:off x="0" y="0"/>
            <a:ext cx="12188952" cy="76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ag"/>
          <p:cNvSpPr txBox="1"/>
          <p:nvPr/>
        </p:nvSpPr>
        <p:spPr>
          <a:xfrm>
            <a:off x="457200" y="164592"/>
            <a:ext cx="9144000" cy="177800"/>
          </a:xfrm>
          <a:prstGeom prst="rect">
            <a:avLst/>
          </a:prstGeom>
          <a:noFill/>
        </p:spPr>
        <p:txBody>
          <a:bodyPr wrap="none">
            <a:spAutoFit/>
          </a:bodyPr>
          <a:lstStyle/>
          <a:p>
            <a:r>
              <a:rPr sz="800" b="1">
                <a:solidFill>
                  <a:srgbClr val="4F46E5"/>
                </a:solidFill>
              </a:rPr>
              <a:t>ADMIN REACT</a:t>
            </a:r>
          </a:p>
        </p:txBody>
      </p:sp>
      <p:sp>
        <p:nvSpPr>
          <p:cNvPr id="4" name="SlideTitle"/>
          <p:cNvSpPr txBox="1"/>
          <p:nvPr/>
        </p:nvSpPr>
        <p:spPr>
          <a:xfrm>
            <a:off x="457200" y="320040"/>
            <a:ext cx="11247120" cy="685800"/>
          </a:xfrm>
          <a:prstGeom prst="rect">
            <a:avLst/>
          </a:prstGeom>
          <a:noFill/>
        </p:spPr>
        <p:txBody>
          <a:bodyPr wrap="square">
            <a:spAutoFit/>
          </a:bodyPr>
          <a:lstStyle/>
          <a:p>
            <a:r>
              <a:rPr sz="2800" b="1">
                <a:solidFill>
                  <a:srgbClr val="1A1A2E"/>
                </a:solidFill>
              </a:rPr>
              <a:t>Dashboard administrateur</a:t>
            </a:r>
          </a:p>
        </p:txBody>
      </p:sp>
      <p:sp>
        <p:nvSpPr>
          <p:cNvPr id="5" name="SlideSubtitle"/>
          <p:cNvSpPr txBox="1"/>
          <p:nvPr/>
        </p:nvSpPr>
        <p:spPr>
          <a:xfrm>
            <a:off x="457200" y="896112"/>
            <a:ext cx="11247120" cy="279400"/>
          </a:xfrm>
          <a:prstGeom prst="rect">
            <a:avLst/>
          </a:prstGeom>
          <a:noFill/>
        </p:spPr>
        <p:txBody>
          <a:bodyPr wrap="none">
            <a:spAutoFit/>
          </a:bodyPr>
          <a:lstStyle/>
          <a:p>
            <a:r>
              <a:rPr sz="1100">
                <a:solidFill>
                  <a:srgbClr val="6B7280"/>
                </a:solidFill>
              </a:rPr>
              <a:t>Route /admin — protégée par JWT · 5 onglets</a:t>
            </a:r>
          </a:p>
        </p:txBody>
      </p:sp>
      <p:sp>
        <p:nvSpPr>
          <p:cNvPr id="6" name="Card_Réservat"/>
          <p:cNvSpPr/>
          <p:nvPr/>
        </p:nvSpPr>
        <p:spPr>
          <a:xfrm>
            <a:off x="365760" y="1417320"/>
            <a:ext cx="3675887" cy="1261872"/>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RÉSERVATIONS</a:t>
            </a:r>
          </a:p>
          <a:p>
            <a:pPr>
              <a:spcBef>
                <a:spcPts val="400"/>
              </a:spcBef>
            </a:pPr>
            <a:r>
              <a:rPr sz="900">
                <a:solidFill>
                  <a:srgbClr val="1A1A2E"/>
                </a:solidFill>
              </a:rPr>
              <a:t>Liste · Chambre attribuée · Changer statut</a:t>
            </a:r>
          </a:p>
        </p:txBody>
      </p:sp>
      <p:sp>
        <p:nvSpPr>
          <p:cNvPr id="7" name="Card_Commande"/>
          <p:cNvSpPr/>
          <p:nvPr/>
        </p:nvSpPr>
        <p:spPr>
          <a:xfrm>
            <a:off x="4178808" y="1417320"/>
            <a:ext cx="3675887" cy="1261872"/>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COMMANDES</a:t>
            </a:r>
          </a:p>
          <a:p>
            <a:pPr>
              <a:spcBef>
                <a:spcPts val="400"/>
              </a:spcBef>
            </a:pPr>
            <a:r>
              <a:rPr sz="900">
                <a:solidFill>
                  <a:srgbClr val="1A1A2E"/>
                </a:solidFill>
              </a:rPr>
              <a:t>Room service · Statuts : en attente / préparation / livré</a:t>
            </a:r>
          </a:p>
        </p:txBody>
      </p:sp>
      <p:sp>
        <p:nvSpPr>
          <p:cNvPr id="8" name="Card_Chambres"/>
          <p:cNvSpPr/>
          <p:nvPr/>
        </p:nvSpPr>
        <p:spPr>
          <a:xfrm>
            <a:off x="7991856" y="1417320"/>
            <a:ext cx="3675887" cy="1261872"/>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CHAMBRES</a:t>
            </a:r>
          </a:p>
          <a:p>
            <a:pPr>
              <a:spcBef>
                <a:spcPts val="400"/>
              </a:spcBef>
            </a:pPr>
            <a:r>
              <a:rPr sz="900">
                <a:solidFill>
                  <a:srgbClr val="1A1A2E"/>
                </a:solidFill>
              </a:rPr>
              <a:t>Vue temps réel : libre, occupée, arrivée, départ</a:t>
            </a:r>
          </a:p>
        </p:txBody>
      </p:sp>
      <p:sp>
        <p:nvSpPr>
          <p:cNvPr id="9" name="Card_WiFi"/>
          <p:cNvSpPr/>
          <p:nvPr/>
        </p:nvSpPr>
        <p:spPr>
          <a:xfrm>
            <a:off x="365760" y="2788920"/>
            <a:ext cx="3675887" cy="1261872"/>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WIFI</a:t>
            </a:r>
          </a:p>
          <a:p>
            <a:pPr>
              <a:spcBef>
                <a:spcPts val="400"/>
              </a:spcBef>
            </a:pPr>
            <a:r>
              <a:rPr sz="900">
                <a:solidFill>
                  <a:srgbClr val="1A1A2E"/>
                </a:solidFill>
              </a:rPr>
              <a:t>Sessions RADIUS réelles + activité réseau démo</a:t>
            </a:r>
          </a:p>
        </p:txBody>
      </p:sp>
      <p:sp>
        <p:nvSpPr>
          <p:cNvPr id="10" name="Card_Statisti"/>
          <p:cNvSpPr/>
          <p:nvPr/>
        </p:nvSpPr>
        <p:spPr>
          <a:xfrm>
            <a:off x="4178808" y="2788920"/>
            <a:ext cx="3675887" cy="1261872"/>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STATISTIQUES</a:t>
            </a:r>
          </a:p>
          <a:p>
            <a:pPr>
              <a:spcBef>
                <a:spcPts val="400"/>
              </a:spcBef>
            </a:pPr>
            <a:r>
              <a:rPr sz="900">
                <a:solidFill>
                  <a:srgbClr val="1A1A2E"/>
                </a:solidFill>
              </a:rPr>
              <a:t>Revenus, taux d'occupation, activité du jour</a:t>
            </a:r>
          </a:p>
        </p:txBody>
      </p:sp>
      <p:sp>
        <p:nvSpPr>
          <p:cNvPr id="11" name="Card_Chargeme"/>
          <p:cNvSpPr/>
          <p:nvPr/>
        </p:nvSpPr>
        <p:spPr>
          <a:xfrm>
            <a:off x="7991856" y="2788920"/>
            <a:ext cx="3675887" cy="1261872"/>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CHARGEMENT</a:t>
            </a:r>
          </a:p>
          <a:p>
            <a:pPr>
              <a:spcBef>
                <a:spcPts val="400"/>
              </a:spcBef>
            </a:pPr>
            <a:r>
              <a:rPr sz="900">
                <a:solidFill>
                  <a:srgbClr val="1A1A2E"/>
                </a:solidFill>
              </a:rPr>
              <a:t>Toutes les données en parallèle via Promise.all()</a:t>
            </a:r>
          </a:p>
        </p:txBody>
      </p:sp>
      <p:sp>
        <p:nvSpPr>
          <p:cNvPr id="12" name="Card_Authenti"/>
          <p:cNvSpPr/>
          <p:nvPr/>
        </p:nvSpPr>
        <p:spPr>
          <a:xfrm>
            <a:off x="365760" y="4251960"/>
            <a:ext cx="5486400" cy="105156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AUTHENTIFICATION ADMIN</a:t>
            </a:r>
          </a:p>
          <a:p>
            <a:pPr>
              <a:spcBef>
                <a:spcPts val="400"/>
              </a:spcBef>
            </a:pPr>
            <a:r>
              <a:rPr sz="900">
                <a:solidFill>
                  <a:srgbClr val="1A1A2E"/>
                </a:solidFill>
              </a:rPr>
              <a:t>Mot de passe unique (.env) → JWT HS256 · 7 jours · sessionStorage</a:t>
            </a:r>
          </a:p>
        </p:txBody>
      </p:sp>
      <p:sp>
        <p:nvSpPr>
          <p:cNvPr id="13" name="Card_Protecti"/>
          <p:cNvSpPr/>
          <p:nvPr/>
        </p:nvSpPr>
        <p:spPr>
          <a:xfrm>
            <a:off x="6035040" y="4251960"/>
            <a:ext cx="5605272" cy="105156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PROTECTION API</a:t>
            </a:r>
          </a:p>
          <a:p>
            <a:pPr>
              <a:spcBef>
                <a:spcPts val="400"/>
              </a:spcBef>
            </a:pPr>
            <a:r>
              <a:rPr sz="900">
                <a:solidFill>
                  <a:srgbClr val="1A1A2E"/>
                </a:solidFill>
              </a:rPr>
              <a:t>AdminMiddleware vérifie le JWT à chaque requête → HTTP 401 si absent ou invalide</a:t>
            </a:r>
          </a:p>
        </p:txBody>
      </p:sp>
      <p:sp>
        <p:nvSpPr>
          <p:cNvPr id="14" name="OralBg"/>
          <p:cNvSpPr/>
          <p:nvPr/>
        </p:nvSpPr>
        <p:spPr>
          <a:xfrm>
            <a:off x="365760" y="5806440"/>
            <a:ext cx="11430000" cy="6583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alAccent"/>
          <p:cNvSpPr/>
          <p:nvPr/>
        </p:nvSpPr>
        <p:spPr>
          <a:xfrm>
            <a:off x="365760" y="5806440"/>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alText"/>
          <p:cNvSpPr txBox="1"/>
          <p:nvPr/>
        </p:nvSpPr>
        <p:spPr>
          <a:xfrm>
            <a:off x="594360" y="5869940"/>
            <a:ext cx="11155680" cy="566928"/>
          </a:xfrm>
          <a:prstGeom prst="rect">
            <a:avLst/>
          </a:prstGeom>
          <a:noFill/>
        </p:spPr>
        <p:txBody>
          <a:bodyPr wrap="square">
            <a:spAutoFit/>
          </a:bodyPr>
          <a:lstStyle/>
          <a:p>
            <a:r>
              <a:rPr sz="750" b="1">
                <a:solidFill>
                  <a:srgbClr val="4F46E5"/>
                </a:solidFill>
              </a:rPr>
              <a:t>À dire à l'oral  </a:t>
            </a:r>
            <a:r>
              <a:rPr sz="900" i="1">
                <a:solidFill>
                  <a:srgbClr val="4B5563"/>
                </a:solidFill>
              </a:rPr>
              <a:t>"L'admin est une SPA React. Toutes les données sont chargées en parallèle. Chaque route API admin retourne HTTP 401 si le token est absent — il n'y a aucun accès sans authentification."</a:t>
            </a:r>
          </a:p>
        </p:txBody>
      </p:sp>
      <p:sp>
        <p:nvSpPr>
          <p:cNvPr id="17" name="FooterLine"/>
          <p:cNvSpPr/>
          <p:nvPr/>
        </p:nvSpPr>
        <p:spPr>
          <a:xfrm>
            <a:off x="365760" y="6492240"/>
            <a:ext cx="11430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ooter"/>
          <p:cNvSpPr txBox="1"/>
          <p:nvPr/>
        </p:nvSpPr>
        <p:spPr>
          <a:xfrm>
            <a:off x="365760" y="6537960"/>
            <a:ext cx="11430000" cy="254000"/>
          </a:xfrm>
          <a:prstGeom prst="rect">
            <a:avLst/>
          </a:prstGeom>
          <a:noFill/>
        </p:spPr>
        <p:txBody>
          <a:bodyPr wrap="none">
            <a:spAutoFit/>
          </a:bodyPr>
          <a:lstStyle/>
          <a:p>
            <a:pPr algn="l"/>
            <a:r>
              <a:rPr sz="800">
                <a:solidFill>
                  <a:srgbClr val="6B7280"/>
                </a:solidFill>
              </a:rPr>
              <a:t>Maison Saclay — Projet OP-1</a:t>
            </a:r>
            <a:r>
              <a:rPr sz="800">
                <a:solidFill>
                  <a:srgbClr val="6B7280"/>
                </a:solidFill>
              </a:rPr>
              <a:t>         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Bar"/>
          <p:cNvSpPr/>
          <p:nvPr/>
        </p:nvSpPr>
        <p:spPr>
          <a:xfrm>
            <a:off x="0" y="0"/>
            <a:ext cx="12188952" cy="76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ag"/>
          <p:cNvSpPr txBox="1"/>
          <p:nvPr/>
        </p:nvSpPr>
        <p:spPr>
          <a:xfrm>
            <a:off x="457200" y="164592"/>
            <a:ext cx="9144000" cy="177800"/>
          </a:xfrm>
          <a:prstGeom prst="rect">
            <a:avLst/>
          </a:prstGeom>
          <a:noFill/>
        </p:spPr>
        <p:txBody>
          <a:bodyPr wrap="none">
            <a:spAutoFit/>
          </a:bodyPr>
          <a:lstStyle/>
          <a:p>
            <a:r>
              <a:rPr sz="800" b="1">
                <a:solidFill>
                  <a:srgbClr val="4F46E5"/>
                </a:solidFill>
              </a:rPr>
              <a:t>WIFI — TP-LINK EAP330</a:t>
            </a:r>
          </a:p>
        </p:txBody>
      </p:sp>
      <p:sp>
        <p:nvSpPr>
          <p:cNvPr id="4" name="SlideTitle"/>
          <p:cNvSpPr txBox="1"/>
          <p:nvPr/>
        </p:nvSpPr>
        <p:spPr>
          <a:xfrm>
            <a:off x="457200" y="320040"/>
            <a:ext cx="11247120" cy="685800"/>
          </a:xfrm>
          <a:prstGeom prst="rect">
            <a:avLst/>
          </a:prstGeom>
          <a:noFill/>
        </p:spPr>
        <p:txBody>
          <a:bodyPr wrap="square">
            <a:spAutoFit/>
          </a:bodyPr>
          <a:lstStyle/>
          <a:p>
            <a:r>
              <a:rPr sz="2800" b="1">
                <a:solidFill>
                  <a:srgbClr val="1A1A2E"/>
                </a:solidFill>
              </a:rPr>
              <a:t>Portail captif WiFi</a:t>
            </a:r>
          </a:p>
        </p:txBody>
      </p:sp>
      <p:sp>
        <p:nvSpPr>
          <p:cNvPr id="5" name="SlideSubtitle"/>
          <p:cNvSpPr txBox="1"/>
          <p:nvPr/>
        </p:nvSpPr>
        <p:spPr>
          <a:xfrm>
            <a:off x="457200" y="896112"/>
            <a:ext cx="11247120" cy="279400"/>
          </a:xfrm>
          <a:prstGeom prst="rect">
            <a:avLst/>
          </a:prstGeom>
          <a:noFill/>
        </p:spPr>
        <p:txBody>
          <a:bodyPr wrap="none">
            <a:spAutoFit/>
          </a:bodyPr>
          <a:lstStyle/>
          <a:p>
            <a:r>
              <a:rPr sz="1100">
                <a:solidFill>
                  <a:srgbClr val="6B7280"/>
                </a:solidFill>
              </a:rPr>
              <a:t>Authentification des clients par numéro de chambre</a:t>
            </a:r>
          </a:p>
        </p:txBody>
      </p:sp>
      <p:sp>
        <p:nvSpPr>
          <p:cNvPr id="6" name="FlowBg7"/>
          <p:cNvSpPr/>
          <p:nvPr/>
        </p:nvSpPr>
        <p:spPr>
          <a:xfrm>
            <a:off x="365760" y="1325880"/>
            <a:ext cx="11430000" cy="594360"/>
          </a:xfrm>
          <a:prstGeom prst="rect">
            <a:avLst/>
          </a:prstGeom>
          <a:solidFill>
            <a:srgbClr val="F8FA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low7_0"/>
          <p:cNvSpPr/>
          <p:nvPr/>
        </p:nvSpPr>
        <p:spPr>
          <a:xfrm>
            <a:off x="365760" y="1371600"/>
            <a:ext cx="1783080" cy="493776"/>
          </a:xfrm>
          <a:prstGeom prst="rect">
            <a:avLst/>
          </a:prstGeom>
          <a:solidFill>
            <a:srgbClr val="FFFF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1A1A2E"/>
                </a:solidFill>
              </a:rPr>
              <a:t>Téléphone → OP1_Wifi</a:t>
            </a:r>
          </a:p>
        </p:txBody>
      </p:sp>
      <p:sp>
        <p:nvSpPr>
          <p:cNvPr id="8" name="TextBox 7"/>
          <p:cNvSpPr txBox="1"/>
          <p:nvPr/>
        </p:nvSpPr>
        <p:spPr>
          <a:xfrm>
            <a:off x="2112264" y="1435608"/>
            <a:ext cx="128016" cy="279400"/>
          </a:xfrm>
          <a:prstGeom prst="rect">
            <a:avLst/>
          </a:prstGeom>
          <a:noFill/>
        </p:spPr>
        <p:txBody>
          <a:bodyPr wrap="none">
            <a:spAutoFit/>
          </a:bodyPr>
          <a:lstStyle/>
          <a:p>
            <a:r>
              <a:rPr sz="1200" b="1">
                <a:solidFill>
                  <a:srgbClr val="4F46E5"/>
                </a:solidFill>
              </a:rPr>
              <a:t>→</a:t>
            </a:r>
          </a:p>
        </p:txBody>
      </p:sp>
      <p:sp>
        <p:nvSpPr>
          <p:cNvPr id="9" name="Flow7_1"/>
          <p:cNvSpPr/>
          <p:nvPr/>
        </p:nvSpPr>
        <p:spPr>
          <a:xfrm>
            <a:off x="2258568" y="1371600"/>
            <a:ext cx="1783080" cy="493776"/>
          </a:xfrm>
          <a:prstGeom prst="rect">
            <a:avLst/>
          </a:prstGeom>
          <a:solidFill>
            <a:srgbClr val="FFFF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1A1A2E"/>
                </a:solidFill>
              </a:rPr>
              <a:t>Portail EAP330</a:t>
            </a:r>
          </a:p>
        </p:txBody>
      </p:sp>
      <p:sp>
        <p:nvSpPr>
          <p:cNvPr id="10" name="TextBox 9"/>
          <p:cNvSpPr txBox="1"/>
          <p:nvPr/>
        </p:nvSpPr>
        <p:spPr>
          <a:xfrm>
            <a:off x="4005072" y="1435608"/>
            <a:ext cx="128016" cy="279400"/>
          </a:xfrm>
          <a:prstGeom prst="rect">
            <a:avLst/>
          </a:prstGeom>
          <a:noFill/>
        </p:spPr>
        <p:txBody>
          <a:bodyPr wrap="none">
            <a:spAutoFit/>
          </a:bodyPr>
          <a:lstStyle/>
          <a:p>
            <a:r>
              <a:rPr sz="1200" b="1">
                <a:solidFill>
                  <a:srgbClr val="4F46E5"/>
                </a:solidFill>
              </a:rPr>
              <a:t>→</a:t>
            </a:r>
          </a:p>
        </p:txBody>
      </p:sp>
      <p:sp>
        <p:nvSpPr>
          <p:cNvPr id="11" name="Flow7_2"/>
          <p:cNvSpPr/>
          <p:nvPr/>
        </p:nvSpPr>
        <p:spPr>
          <a:xfrm>
            <a:off x="4151376" y="1371600"/>
            <a:ext cx="1783080" cy="493776"/>
          </a:xfrm>
          <a:prstGeom prst="rect">
            <a:avLst/>
          </a:prstGeom>
          <a:solidFill>
            <a:srgbClr val="FFFF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1A1A2E"/>
                </a:solidFill>
              </a:rPr>
              <a:t>Login 201/201</a:t>
            </a:r>
          </a:p>
        </p:txBody>
      </p:sp>
      <p:sp>
        <p:nvSpPr>
          <p:cNvPr id="12" name="TextBox 11"/>
          <p:cNvSpPr txBox="1"/>
          <p:nvPr/>
        </p:nvSpPr>
        <p:spPr>
          <a:xfrm>
            <a:off x="5897880" y="1435608"/>
            <a:ext cx="128016" cy="279400"/>
          </a:xfrm>
          <a:prstGeom prst="rect">
            <a:avLst/>
          </a:prstGeom>
          <a:noFill/>
        </p:spPr>
        <p:txBody>
          <a:bodyPr wrap="none">
            <a:spAutoFit/>
          </a:bodyPr>
          <a:lstStyle/>
          <a:p>
            <a:r>
              <a:rPr sz="1200" b="1">
                <a:solidFill>
                  <a:srgbClr val="4F46E5"/>
                </a:solidFill>
              </a:rPr>
              <a:t>→</a:t>
            </a:r>
          </a:p>
        </p:txBody>
      </p:sp>
      <p:sp>
        <p:nvSpPr>
          <p:cNvPr id="13" name="Flow7_3"/>
          <p:cNvSpPr/>
          <p:nvPr/>
        </p:nvSpPr>
        <p:spPr>
          <a:xfrm>
            <a:off x="6044184" y="1371600"/>
            <a:ext cx="1783080" cy="493776"/>
          </a:xfrm>
          <a:prstGeom prst="rect">
            <a:avLst/>
          </a:prstGeom>
          <a:solidFill>
            <a:srgbClr val="FFFF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1A1A2E"/>
                </a:solidFill>
              </a:rPr>
              <a:t>RADIUS :18120</a:t>
            </a:r>
          </a:p>
        </p:txBody>
      </p:sp>
      <p:sp>
        <p:nvSpPr>
          <p:cNvPr id="14" name="TextBox 13"/>
          <p:cNvSpPr txBox="1"/>
          <p:nvPr/>
        </p:nvSpPr>
        <p:spPr>
          <a:xfrm>
            <a:off x="7790688" y="1435608"/>
            <a:ext cx="128016" cy="279400"/>
          </a:xfrm>
          <a:prstGeom prst="rect">
            <a:avLst/>
          </a:prstGeom>
          <a:noFill/>
        </p:spPr>
        <p:txBody>
          <a:bodyPr wrap="none">
            <a:spAutoFit/>
          </a:bodyPr>
          <a:lstStyle/>
          <a:p>
            <a:r>
              <a:rPr sz="1200" b="1">
                <a:solidFill>
                  <a:srgbClr val="4F46E5"/>
                </a:solidFill>
              </a:rPr>
              <a:t>→</a:t>
            </a:r>
          </a:p>
        </p:txBody>
      </p:sp>
      <p:sp>
        <p:nvSpPr>
          <p:cNvPr id="15" name="Flow7_4"/>
          <p:cNvSpPr/>
          <p:nvPr/>
        </p:nvSpPr>
        <p:spPr>
          <a:xfrm>
            <a:off x="7936992" y="1371600"/>
            <a:ext cx="1783080" cy="493776"/>
          </a:xfrm>
          <a:prstGeom prst="rect">
            <a:avLst/>
          </a:prstGeom>
          <a:solidFill>
            <a:srgbClr val="FFFF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1A1A2E"/>
                </a:solidFill>
              </a:rPr>
              <a:t>FreeRADIUS Docker</a:t>
            </a:r>
          </a:p>
        </p:txBody>
      </p:sp>
      <p:sp>
        <p:nvSpPr>
          <p:cNvPr id="16" name="TextBox 15"/>
          <p:cNvSpPr txBox="1"/>
          <p:nvPr/>
        </p:nvSpPr>
        <p:spPr>
          <a:xfrm>
            <a:off x="9683496" y="1435608"/>
            <a:ext cx="128016" cy="279400"/>
          </a:xfrm>
          <a:prstGeom prst="rect">
            <a:avLst/>
          </a:prstGeom>
          <a:noFill/>
        </p:spPr>
        <p:txBody>
          <a:bodyPr wrap="none">
            <a:spAutoFit/>
          </a:bodyPr>
          <a:lstStyle/>
          <a:p>
            <a:r>
              <a:rPr sz="1200" b="1">
                <a:solidFill>
                  <a:srgbClr val="4F46E5"/>
                </a:solidFill>
              </a:rPr>
              <a:t>→</a:t>
            </a:r>
          </a:p>
        </p:txBody>
      </p:sp>
      <p:sp>
        <p:nvSpPr>
          <p:cNvPr id="17" name="Flow7_5"/>
          <p:cNvSpPr/>
          <p:nvPr/>
        </p:nvSpPr>
        <p:spPr>
          <a:xfrm>
            <a:off x="9829800" y="1371600"/>
            <a:ext cx="1783080" cy="493776"/>
          </a:xfrm>
          <a:prstGeom prst="rect">
            <a:avLst/>
          </a:prstGeom>
          <a:solidFill>
            <a:srgbClr val="FFFFFF"/>
          </a:solidFill>
          <a:ln w="63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1A1A2E"/>
                </a:solidFill>
              </a:rPr>
              <a:t>Access-Accept → Internet</a:t>
            </a:r>
          </a:p>
        </p:txBody>
      </p:sp>
      <p:sp>
        <p:nvSpPr>
          <p:cNvPr id="18" name="BulletList"/>
          <p:cNvSpPr txBox="1"/>
          <p:nvPr/>
        </p:nvSpPr>
        <p:spPr>
          <a:xfrm>
            <a:off x="457200" y="2084831"/>
            <a:ext cx="11247120" cy="1828800"/>
          </a:xfrm>
          <a:prstGeom prst="rect">
            <a:avLst/>
          </a:prstGeom>
          <a:noFill/>
        </p:spPr>
        <p:txBody>
          <a:bodyPr wrap="square">
            <a:spAutoFit/>
          </a:bodyPr>
          <a:lstStyle/>
          <a:p>
            <a:pPr>
              <a:spcBef>
                <a:spcPts val="400"/>
              </a:spcBef>
            </a:pPr>
            <a:r>
              <a:rPr sz="600" b="1">
                <a:solidFill>
                  <a:srgbClr val="4F46E5"/>
                </a:solidFill>
              </a:rPr>
              <a:t>●  </a:t>
            </a:r>
            <a:r>
              <a:rPr sz="1100">
                <a:solidFill>
                  <a:srgbClr val="1A1A2E"/>
                </a:solidFill>
              </a:rPr>
              <a:t>Identifiant = Mot de passe = Numéro de chambre (ex: 201)</a:t>
            </a:r>
          </a:p>
          <a:p>
            <a:pPr>
              <a:spcBef>
                <a:spcPts val="400"/>
              </a:spcBef>
            </a:pPr>
            <a:r>
              <a:rPr sz="600" b="1">
                <a:solidFill>
                  <a:srgbClr val="4F46E5"/>
                </a:solidFill>
              </a:rPr>
              <a:t>●  </a:t>
            </a:r>
            <a:r>
              <a:rPr sz="1100">
                <a:solidFill>
                  <a:srgbClr val="1A1A2E"/>
                </a:solidFill>
              </a:rPr>
              <a:t>Borne EAP330 en mode 'Local Web Portal' + External RADIUS Server</a:t>
            </a:r>
          </a:p>
          <a:p>
            <a:pPr>
              <a:spcBef>
                <a:spcPts val="400"/>
              </a:spcBef>
            </a:pPr>
            <a:r>
              <a:rPr sz="600" b="1">
                <a:solidFill>
                  <a:srgbClr val="4F46E5"/>
                </a:solidFill>
              </a:rPr>
              <a:t>●  </a:t>
            </a:r>
            <a:r>
              <a:rPr sz="1100">
                <a:solidFill>
                  <a:srgbClr val="1A1A2E"/>
                </a:solidFill>
              </a:rPr>
              <a:t>Session autorisée 1 heure — puis re-authentification requise</a:t>
            </a:r>
          </a:p>
          <a:p>
            <a:pPr>
              <a:spcBef>
                <a:spcPts val="400"/>
              </a:spcBef>
            </a:pPr>
            <a:r>
              <a:rPr sz="600" b="1">
                <a:solidFill>
                  <a:srgbClr val="4F46E5"/>
                </a:solidFill>
              </a:rPr>
              <a:t>●  </a:t>
            </a:r>
            <a:r>
              <a:rPr sz="1100">
                <a:solidFill>
                  <a:srgbClr val="1A1A2E"/>
                </a:solidFill>
              </a:rPr>
              <a:t>FreeRADIUS répond Access-Accept (OK) ou Access-Reject (refusé)</a:t>
            </a:r>
          </a:p>
          <a:p>
            <a:pPr>
              <a:spcBef>
                <a:spcPts val="400"/>
              </a:spcBef>
            </a:pPr>
            <a:r>
              <a:rPr sz="600" b="1">
                <a:solidFill>
                  <a:srgbClr val="4F46E5"/>
                </a:solidFill>
              </a:rPr>
              <a:t>●  </a:t>
            </a:r>
            <a:r>
              <a:rPr sz="1100">
                <a:solidFill>
                  <a:srgbClr val="1A1A2E"/>
                </a:solidFill>
              </a:rPr>
              <a:t>RADIUS = protocole standard en hôtellerie, entreprises et universités</a:t>
            </a:r>
          </a:p>
        </p:txBody>
      </p:sp>
      <p:sp>
        <p:nvSpPr>
          <p:cNvPr id="19" name="DemoBadge"/>
          <p:cNvSpPr/>
          <p:nvPr/>
        </p:nvSpPr>
        <p:spPr>
          <a:xfrm>
            <a:off x="457200" y="4114800"/>
            <a:ext cx="5943600" cy="365760"/>
          </a:xfrm>
          <a:prstGeom prst="rect">
            <a:avLst/>
          </a:prstGeom>
          <a:solidFill>
            <a:srgbClr val="ECFDF5"/>
          </a:solidFill>
          <a:ln w="9525">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065F46"/>
                </a:solidFill>
              </a:rPr>
              <a:t>Démo live : connexion WiFi depuis un téléphone — chambre 201</a:t>
            </a:r>
          </a:p>
        </p:txBody>
      </p:sp>
      <p:sp>
        <p:nvSpPr>
          <p:cNvPr id="20" name="OralBg"/>
          <p:cNvSpPr/>
          <p:nvPr/>
        </p:nvSpPr>
        <p:spPr>
          <a:xfrm>
            <a:off x="365760" y="5806440"/>
            <a:ext cx="11430000" cy="6583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ralAccent"/>
          <p:cNvSpPr/>
          <p:nvPr/>
        </p:nvSpPr>
        <p:spPr>
          <a:xfrm>
            <a:off x="365760" y="5806440"/>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ralText"/>
          <p:cNvSpPr txBox="1"/>
          <p:nvPr/>
        </p:nvSpPr>
        <p:spPr>
          <a:xfrm>
            <a:off x="594360" y="5869940"/>
            <a:ext cx="11155680" cy="566928"/>
          </a:xfrm>
          <a:prstGeom prst="rect">
            <a:avLst/>
          </a:prstGeom>
          <a:noFill/>
        </p:spPr>
        <p:txBody>
          <a:bodyPr wrap="square">
            <a:spAutoFit/>
          </a:bodyPr>
          <a:lstStyle/>
          <a:p>
            <a:r>
              <a:rPr sz="750" b="1">
                <a:solidFill>
                  <a:srgbClr val="4F46E5"/>
                </a:solidFill>
              </a:rPr>
              <a:t>À dire à l'oral  </a:t>
            </a:r>
            <a:r>
              <a:rPr sz="900" i="1">
                <a:solidFill>
                  <a:srgbClr val="4B5563"/>
                </a:solidFill>
              </a:rPr>
              <a:t>"La borne TP-Link EAP330 délègue l'authentification à FreeRADIUS. Le client entre son numéro de chambre et accède à Internet. On a dû créer un relay UDP PowerShell car Docker Desktop Windows ne peut pas recevoir de paquets UDP du réseau local."</a:t>
            </a:r>
          </a:p>
        </p:txBody>
      </p:sp>
      <p:sp>
        <p:nvSpPr>
          <p:cNvPr id="23" name="FooterLine"/>
          <p:cNvSpPr/>
          <p:nvPr/>
        </p:nvSpPr>
        <p:spPr>
          <a:xfrm>
            <a:off x="365760" y="6492240"/>
            <a:ext cx="11430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ooter"/>
          <p:cNvSpPr txBox="1"/>
          <p:nvPr/>
        </p:nvSpPr>
        <p:spPr>
          <a:xfrm>
            <a:off x="365760" y="6537960"/>
            <a:ext cx="11430000" cy="254000"/>
          </a:xfrm>
          <a:prstGeom prst="rect">
            <a:avLst/>
          </a:prstGeom>
          <a:noFill/>
        </p:spPr>
        <p:txBody>
          <a:bodyPr wrap="none">
            <a:spAutoFit/>
          </a:bodyPr>
          <a:lstStyle/>
          <a:p>
            <a:pPr algn="l"/>
            <a:r>
              <a:rPr sz="800">
                <a:solidFill>
                  <a:srgbClr val="6B7280"/>
                </a:solidFill>
              </a:rPr>
              <a:t>Maison Saclay — Projet OP-1</a:t>
            </a:r>
            <a:r>
              <a:rPr sz="800">
                <a:solidFill>
                  <a:srgbClr val="6B7280"/>
                </a:solidFill>
              </a:rPr>
              <a:t>         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Bar"/>
          <p:cNvSpPr/>
          <p:nvPr/>
        </p:nvSpPr>
        <p:spPr>
          <a:xfrm>
            <a:off x="0" y="0"/>
            <a:ext cx="12188952" cy="76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ag"/>
          <p:cNvSpPr txBox="1"/>
          <p:nvPr/>
        </p:nvSpPr>
        <p:spPr>
          <a:xfrm>
            <a:off x="457200" y="164592"/>
            <a:ext cx="9144000" cy="177800"/>
          </a:xfrm>
          <a:prstGeom prst="rect">
            <a:avLst/>
          </a:prstGeom>
          <a:noFill/>
        </p:spPr>
        <p:txBody>
          <a:bodyPr wrap="none">
            <a:spAutoFit/>
          </a:bodyPr>
          <a:lstStyle/>
          <a:p>
            <a:r>
              <a:rPr sz="800" b="1">
                <a:solidFill>
                  <a:srgbClr val="4F46E5"/>
                </a:solidFill>
              </a:rPr>
              <a:t>FREERADIUS + REMONTÉE ADMIN</a:t>
            </a:r>
          </a:p>
        </p:txBody>
      </p:sp>
      <p:sp>
        <p:nvSpPr>
          <p:cNvPr id="4" name="SlideTitle"/>
          <p:cNvSpPr txBox="1"/>
          <p:nvPr/>
        </p:nvSpPr>
        <p:spPr>
          <a:xfrm>
            <a:off x="457200" y="320040"/>
            <a:ext cx="11247120" cy="685800"/>
          </a:xfrm>
          <a:prstGeom prst="rect">
            <a:avLst/>
          </a:prstGeom>
          <a:noFill/>
        </p:spPr>
        <p:txBody>
          <a:bodyPr wrap="square">
            <a:spAutoFit/>
          </a:bodyPr>
          <a:lstStyle/>
          <a:p>
            <a:r>
              <a:rPr sz="2800" b="1">
                <a:solidFill>
                  <a:srgbClr val="1A1A2E"/>
                </a:solidFill>
              </a:rPr>
              <a:t>Sessions WiFi dans l'admin</a:t>
            </a:r>
          </a:p>
        </p:txBody>
      </p:sp>
      <p:sp>
        <p:nvSpPr>
          <p:cNvPr id="5" name="BulletList"/>
          <p:cNvSpPr txBox="1"/>
          <p:nvPr/>
        </p:nvSpPr>
        <p:spPr>
          <a:xfrm>
            <a:off x="457200" y="1234440"/>
            <a:ext cx="11247120" cy="2011680"/>
          </a:xfrm>
          <a:prstGeom prst="rect">
            <a:avLst/>
          </a:prstGeom>
          <a:noFill/>
        </p:spPr>
        <p:txBody>
          <a:bodyPr wrap="square">
            <a:spAutoFit/>
          </a:bodyPr>
          <a:lstStyle/>
          <a:p>
            <a:pPr>
              <a:spcBef>
                <a:spcPts val="400"/>
              </a:spcBef>
            </a:pPr>
            <a:r>
              <a:rPr sz="600" b="1">
                <a:solidFill>
                  <a:srgbClr val="4F46E5"/>
                </a:solidFill>
              </a:rPr>
              <a:t>●  </a:t>
            </a:r>
            <a:r>
              <a:rPr sz="1100" b="1">
                <a:solidFill>
                  <a:srgbClr val="1A1A2E"/>
                </a:solidFill>
              </a:rPr>
              <a:t>FreeRADIUS dans Docker : </a:t>
            </a:r>
            <a:r>
              <a:rPr sz="1100">
                <a:solidFill>
                  <a:srgbClr val="1A1A2E"/>
                </a:solidFill>
              </a:rPr>
              <a:t>10 chambres (101–603) configurées, secret partagé avec la borne</a:t>
            </a:r>
          </a:p>
          <a:p>
            <a:pPr>
              <a:spcBef>
                <a:spcPts val="400"/>
              </a:spcBef>
            </a:pPr>
            <a:r>
              <a:rPr sz="600" b="1">
                <a:solidFill>
                  <a:srgbClr val="4F46E5"/>
                </a:solidFill>
              </a:rPr>
              <a:t>●  </a:t>
            </a:r>
            <a:r>
              <a:rPr sz="1100" b="1">
                <a:solidFill>
                  <a:srgbClr val="1A1A2E"/>
                </a:solidFill>
              </a:rPr>
              <a:t>Relay UDP PowerShell : </a:t>
            </a:r>
            <a:r>
              <a:rPr sz="1100">
                <a:solidFill>
                  <a:srgbClr val="1A1A2E"/>
                </a:solidFill>
              </a:rPr>
              <a:t>écoute :18120 sur l'interface physique, retransmet vers FreeRADIUS :1812</a:t>
            </a:r>
          </a:p>
          <a:p>
            <a:pPr>
              <a:spcBef>
                <a:spcPts val="400"/>
              </a:spcBef>
            </a:pPr>
            <a:r>
              <a:rPr sz="600" b="1">
                <a:solidFill>
                  <a:srgbClr val="4F46E5"/>
                </a:solidFill>
              </a:rPr>
              <a:t>●  </a:t>
            </a:r>
            <a:r>
              <a:rPr sz="1100" b="1">
                <a:solidFill>
                  <a:srgbClr val="1A1A2E"/>
                </a:solidFill>
              </a:rPr>
              <a:t>Script sync_radius_sessions.sh : </a:t>
            </a:r>
            <a:r>
              <a:rPr sz="1100">
                <a:solidFill>
                  <a:srgbClr val="1A1A2E"/>
                </a:solidFill>
              </a:rPr>
              <a:t>parse logs FreeRADIUS → insère/met à jour MySQL (idempotent)</a:t>
            </a:r>
          </a:p>
          <a:p>
            <a:pPr>
              <a:spcBef>
                <a:spcPts val="400"/>
              </a:spcBef>
            </a:pPr>
            <a:r>
              <a:rPr sz="600" b="1">
                <a:solidFill>
                  <a:srgbClr val="4F46E5"/>
                </a:solidFill>
              </a:rPr>
              <a:t>●  </a:t>
            </a:r>
            <a:r>
              <a:rPr sz="1100" b="1">
                <a:solidFill>
                  <a:srgbClr val="1A1A2E"/>
                </a:solidFill>
              </a:rPr>
              <a:t>Onglet WiFi admin : </a:t>
            </a:r>
            <a:r>
              <a:rPr sz="1100">
                <a:solidFill>
                  <a:srgbClr val="1A1A2E"/>
                </a:solidFill>
              </a:rPr>
              <a:t>appareils connectés, chambres, adresses MAC, Access-Accept/Reject</a:t>
            </a:r>
          </a:p>
          <a:p>
            <a:pPr>
              <a:spcBef>
                <a:spcPts val="400"/>
              </a:spcBef>
            </a:pPr>
            <a:r>
              <a:rPr sz="600" b="1">
                <a:solidFill>
                  <a:srgbClr val="4F46E5"/>
                </a:solidFill>
              </a:rPr>
              <a:t>●  </a:t>
            </a:r>
            <a:r>
              <a:rPr sz="1100" b="1">
                <a:solidFill>
                  <a:srgbClr val="1A1A2E"/>
                </a:solidFill>
              </a:rPr>
              <a:t>Activité réseau : </a:t>
            </a:r>
            <a:r>
              <a:rPr sz="1100">
                <a:solidFill>
                  <a:srgbClr val="1A1A2E"/>
                </a:solidFill>
              </a:rPr>
              <a:t>section de démonstration clairement labelisée dans l'interface</a:t>
            </a:r>
          </a:p>
        </p:txBody>
      </p:sp>
      <p:sp>
        <p:nvSpPr>
          <p:cNvPr id="6" name="Card_Données "/>
          <p:cNvSpPr/>
          <p:nvPr/>
        </p:nvSpPr>
        <p:spPr>
          <a:xfrm>
            <a:off x="457200" y="3429000"/>
            <a:ext cx="5486400" cy="105156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DONNÉES WIFI EN BASE (RÉELLES)</a:t>
            </a:r>
          </a:p>
          <a:p>
            <a:pPr>
              <a:spcBef>
                <a:spcPts val="400"/>
              </a:spcBef>
            </a:pPr>
            <a:r>
              <a:rPr sz="900">
                <a:solidFill>
                  <a:srgbClr val="1A1A2E"/>
                </a:solidFill>
              </a:rPr>
              <a:t>4 sessions · 3 Access-Accept · 1 Access-Reject · Adresses MAC réelles</a:t>
            </a:r>
          </a:p>
        </p:txBody>
      </p:sp>
      <p:sp>
        <p:nvSpPr>
          <p:cNvPr id="7" name="Card_Activité"/>
          <p:cNvSpPr/>
          <p:nvPr/>
        </p:nvSpPr>
        <p:spPr>
          <a:xfrm>
            <a:off x="6126480" y="3429000"/>
            <a:ext cx="5605272" cy="105156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ACTIVITÉ RÉSEAU (DÉMONSTRATION)</a:t>
            </a:r>
          </a:p>
          <a:p>
            <a:pPr>
              <a:spcBef>
                <a:spcPts val="400"/>
              </a:spcBef>
            </a:pPr>
            <a:r>
              <a:rPr sz="900">
                <a:solidFill>
                  <a:srgbClr val="1A1A2E"/>
                </a:solidFill>
              </a:rPr>
              <a:t>10 lignes DNS · Chambres 101 et 201 · Marquées is_demo=1 en base</a:t>
            </a:r>
          </a:p>
        </p:txBody>
      </p:sp>
      <p:sp>
        <p:nvSpPr>
          <p:cNvPr id="8" name="DemoBadge2"/>
          <p:cNvSpPr/>
          <p:nvPr/>
        </p:nvSpPr>
        <p:spPr>
          <a:xfrm>
            <a:off x="457200" y="4709160"/>
            <a:ext cx="6858000" cy="365760"/>
          </a:xfrm>
          <a:prstGeom prst="rect">
            <a:avLst/>
          </a:prstGeom>
          <a:solidFill>
            <a:srgbClr val="ECFDF5"/>
          </a:solidFill>
          <a:ln w="9525">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065F46"/>
                </a:solidFill>
              </a:rPr>
              <a:t>Démo : bash sync_radius_sessions.sh → onglet WiFi mis à jour</a:t>
            </a:r>
          </a:p>
        </p:txBody>
      </p:sp>
      <p:sp>
        <p:nvSpPr>
          <p:cNvPr id="9" name="OralBg"/>
          <p:cNvSpPr/>
          <p:nvPr/>
        </p:nvSpPr>
        <p:spPr>
          <a:xfrm>
            <a:off x="365760" y="5806440"/>
            <a:ext cx="11430000" cy="6583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alAccent"/>
          <p:cNvSpPr/>
          <p:nvPr/>
        </p:nvSpPr>
        <p:spPr>
          <a:xfrm>
            <a:off x="365760" y="5806440"/>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alText"/>
          <p:cNvSpPr txBox="1"/>
          <p:nvPr/>
        </p:nvSpPr>
        <p:spPr>
          <a:xfrm>
            <a:off x="594360" y="5869940"/>
            <a:ext cx="11155680" cy="566928"/>
          </a:xfrm>
          <a:prstGeom prst="rect">
            <a:avLst/>
          </a:prstGeom>
          <a:noFill/>
        </p:spPr>
        <p:txBody>
          <a:bodyPr wrap="square">
            <a:spAutoFit/>
          </a:bodyPr>
          <a:lstStyle/>
          <a:p>
            <a:r>
              <a:rPr sz="750" b="1">
                <a:solidFill>
                  <a:srgbClr val="4F46E5"/>
                </a:solidFill>
              </a:rPr>
              <a:t>À dire à l'oral  </a:t>
            </a:r>
            <a:r>
              <a:rPr sz="900" i="1">
                <a:solidFill>
                  <a:srgbClr val="4B5563"/>
                </a:solidFill>
              </a:rPr>
              <a:t>"Un script bash lit les logs FreeRADIUS et les transforme en données SQL. L'admin voit en temps réel quels appareils sont connectés et depuis quelle chambre. Le script peut être relancé sans créer de doublons (ON DUPLICATE KEY UPDATE)."</a:t>
            </a:r>
          </a:p>
        </p:txBody>
      </p:sp>
      <p:sp>
        <p:nvSpPr>
          <p:cNvPr id="12" name="FooterLine"/>
          <p:cNvSpPr/>
          <p:nvPr/>
        </p:nvSpPr>
        <p:spPr>
          <a:xfrm>
            <a:off x="365760" y="6492240"/>
            <a:ext cx="11430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ooter"/>
          <p:cNvSpPr txBox="1"/>
          <p:nvPr/>
        </p:nvSpPr>
        <p:spPr>
          <a:xfrm>
            <a:off x="365760" y="6537960"/>
            <a:ext cx="11430000" cy="254000"/>
          </a:xfrm>
          <a:prstGeom prst="rect">
            <a:avLst/>
          </a:prstGeom>
          <a:noFill/>
        </p:spPr>
        <p:txBody>
          <a:bodyPr wrap="none">
            <a:spAutoFit/>
          </a:bodyPr>
          <a:lstStyle/>
          <a:p>
            <a:pPr algn="l"/>
            <a:r>
              <a:rPr sz="800">
                <a:solidFill>
                  <a:srgbClr val="6B7280"/>
                </a:solidFill>
              </a:rPr>
              <a:t>Maison Saclay — Projet OP-1</a:t>
            </a:r>
            <a:r>
              <a:rPr sz="800">
                <a:solidFill>
                  <a:srgbClr val="6B7280"/>
                </a:solidFill>
              </a:rPr>
              <a:t>         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Bar"/>
          <p:cNvSpPr/>
          <p:nvPr/>
        </p:nvSpPr>
        <p:spPr>
          <a:xfrm>
            <a:off x="0" y="0"/>
            <a:ext cx="12188952" cy="76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ag"/>
          <p:cNvSpPr txBox="1"/>
          <p:nvPr/>
        </p:nvSpPr>
        <p:spPr>
          <a:xfrm>
            <a:off x="457200" y="164592"/>
            <a:ext cx="9144000" cy="177800"/>
          </a:xfrm>
          <a:prstGeom prst="rect">
            <a:avLst/>
          </a:prstGeom>
          <a:noFill/>
        </p:spPr>
        <p:txBody>
          <a:bodyPr wrap="none">
            <a:spAutoFit/>
          </a:bodyPr>
          <a:lstStyle/>
          <a:p>
            <a:r>
              <a:rPr sz="800" b="1">
                <a:solidFill>
                  <a:srgbClr val="4F46E5"/>
                </a:solidFill>
              </a:rPr>
              <a:t>SÉCURITÉ &amp; PROBLÈMES RÉSOLUS</a:t>
            </a:r>
          </a:p>
        </p:txBody>
      </p:sp>
      <p:sp>
        <p:nvSpPr>
          <p:cNvPr id="4" name="SlideTitle"/>
          <p:cNvSpPr txBox="1"/>
          <p:nvPr/>
        </p:nvSpPr>
        <p:spPr>
          <a:xfrm>
            <a:off x="457200" y="320040"/>
            <a:ext cx="11247120" cy="685800"/>
          </a:xfrm>
          <a:prstGeom prst="rect">
            <a:avLst/>
          </a:prstGeom>
          <a:noFill/>
        </p:spPr>
        <p:txBody>
          <a:bodyPr wrap="square">
            <a:spAutoFit/>
          </a:bodyPr>
          <a:lstStyle/>
          <a:p>
            <a:r>
              <a:rPr sz="2800" b="1">
                <a:solidFill>
                  <a:srgbClr val="1A1A2E"/>
                </a:solidFill>
              </a:rPr>
              <a:t>Difficultés et solutions</a:t>
            </a:r>
          </a:p>
        </p:txBody>
      </p:sp>
      <p:sp>
        <p:nvSpPr>
          <p:cNvPr id="5" name="Card_JWT HS25"/>
          <p:cNvSpPr/>
          <p:nvPr/>
        </p:nvSpPr>
        <p:spPr>
          <a:xfrm>
            <a:off x="365760" y="1417320"/>
            <a:ext cx="5605272" cy="91440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JWT HS256</a:t>
            </a:r>
          </a:p>
          <a:p>
            <a:pPr>
              <a:spcBef>
                <a:spcPts val="400"/>
              </a:spcBef>
            </a:pPr>
            <a:r>
              <a:rPr sz="900">
                <a:solidFill>
                  <a:srgbClr val="1A1A2E"/>
                </a:solidFill>
              </a:rPr>
              <a:t>Tokens signés — impossible à forger sans le secret .env</a:t>
            </a:r>
          </a:p>
        </p:txBody>
      </p:sp>
      <p:sp>
        <p:nvSpPr>
          <p:cNvPr id="6" name="Card_Mots de "/>
          <p:cNvSpPr/>
          <p:nvPr/>
        </p:nvSpPr>
        <p:spPr>
          <a:xfrm>
            <a:off x="6126480" y="1417320"/>
            <a:ext cx="5605272" cy="91440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MOTS DE PASSE BCRYPT</a:t>
            </a:r>
          </a:p>
          <a:p>
            <a:pPr>
              <a:spcBef>
                <a:spcPts val="400"/>
              </a:spcBef>
            </a:pPr>
            <a:r>
              <a:rPr sz="900">
                <a:solidFill>
                  <a:srgbClr val="1A1A2E"/>
                </a:solidFill>
              </a:rPr>
              <a:t>Jamais stockés en clair — hash irréversible en base</a:t>
            </a:r>
          </a:p>
        </p:txBody>
      </p:sp>
      <p:sp>
        <p:nvSpPr>
          <p:cNvPr id="7" name="Card_Requêtes"/>
          <p:cNvSpPr/>
          <p:nvPr/>
        </p:nvSpPr>
        <p:spPr>
          <a:xfrm>
            <a:off x="365760" y="2441448"/>
            <a:ext cx="5605272" cy="91440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REQUÊTES PDO PRÉPARÉES</a:t>
            </a:r>
          </a:p>
          <a:p>
            <a:pPr>
              <a:spcBef>
                <a:spcPts val="400"/>
              </a:spcBef>
            </a:pPr>
            <a:r>
              <a:rPr sz="900">
                <a:solidFill>
                  <a:srgbClr val="1A1A2E"/>
                </a:solidFill>
              </a:rPr>
              <a:t>Paramètres bindés — protection contre les injections SQL</a:t>
            </a:r>
          </a:p>
        </p:txBody>
      </p:sp>
      <p:sp>
        <p:nvSpPr>
          <p:cNvPr id="8" name="Card_Ports re"/>
          <p:cNvSpPr/>
          <p:nvPr/>
        </p:nvSpPr>
        <p:spPr>
          <a:xfrm>
            <a:off x="6126480" y="2441448"/>
            <a:ext cx="5605272" cy="91440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PORTS RESTREINTS</a:t>
            </a:r>
          </a:p>
          <a:p>
            <a:pPr>
              <a:spcBef>
                <a:spcPts val="400"/>
              </a:spcBef>
            </a:pPr>
            <a:r>
              <a:rPr sz="900">
                <a:solidFill>
                  <a:srgbClr val="1A1A2E"/>
                </a:solidFill>
              </a:rPr>
              <a:t>phpMyAdmin + MySQL sur 127.0.0.1 uniquement</a:t>
            </a:r>
          </a:p>
        </p:txBody>
      </p:sp>
      <p:sp>
        <p:nvSpPr>
          <p:cNvPr id="9" name="Rectangle 8"/>
          <p:cNvSpPr/>
          <p:nvPr/>
        </p:nvSpPr>
        <p:spPr>
          <a:xfrm>
            <a:off x="365760" y="3547872"/>
            <a:ext cx="11430000" cy="1270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3639312"/>
            <a:ext cx="11247120" cy="177800"/>
          </a:xfrm>
          <a:prstGeom prst="rect">
            <a:avLst/>
          </a:prstGeom>
          <a:noFill/>
        </p:spPr>
        <p:txBody>
          <a:bodyPr wrap="none">
            <a:spAutoFit/>
          </a:bodyPr>
          <a:lstStyle/>
          <a:p>
            <a:r>
              <a:rPr sz="750" b="1">
                <a:solidFill>
                  <a:srgbClr val="6B7280"/>
                </a:solidFill>
              </a:rPr>
              <a:t>PROBLÈMES RENCONTRÉS ET SOLUTIONS</a:t>
            </a:r>
          </a:p>
        </p:txBody>
      </p:sp>
      <p:graphicFrame>
        <p:nvGraphicFramePr>
          <p:cNvPr id="11" name="Table 10"/>
          <p:cNvGraphicFramePr>
            <a:graphicFrameLocks noGrp="1"/>
          </p:cNvGraphicFramePr>
          <p:nvPr/>
        </p:nvGraphicFramePr>
        <p:xfrm>
          <a:off x="365760" y="3840480"/>
          <a:ext cx="11430000" cy="1828800"/>
        </p:xfrm>
        <a:graphic>
          <a:graphicData uri="http://schemas.openxmlformats.org/drawingml/2006/table">
            <a:tbl>
              <a:tblPr firstRow="1" bandRow="1">
                <a:tableStyleId>{5C22544A-7EE6-4342-B048-85BDC9FD1C3A}</a:tableStyleId>
              </a:tblPr>
              <a:tblGrid>
                <a:gridCol w="3810000"/>
                <a:gridCol w="3810000"/>
                <a:gridCol w="3810000"/>
              </a:tblGrid>
              <a:tr h="457200">
                <a:tc>
                  <a:txBody>
                    <a:bodyPr/>
                    <a:lstStyle/>
                    <a:p>
                      <a:pPr algn="ctr"/>
                      <a:r>
                        <a:rPr sz="900" b="1">
                          <a:solidFill>
                            <a:srgbClr val="FFFFFF"/>
                          </a:solidFill>
                        </a:rPr>
                        <a:t>Problème</a:t>
                      </a:r>
                    </a:p>
                  </a:txBody>
                  <a:tcPr>
                    <a:solidFill>
                      <a:srgbClr val="4F46E5"/>
                    </a:solidFill>
                  </a:tcPr>
                </a:tc>
                <a:tc>
                  <a:txBody>
                    <a:bodyPr/>
                    <a:lstStyle/>
                    <a:p>
                      <a:pPr algn="ctr"/>
                      <a:r>
                        <a:rPr sz="900" b="1">
                          <a:solidFill>
                            <a:srgbClr val="FFFFFF"/>
                          </a:solidFill>
                        </a:rPr>
                        <a:t>Cause</a:t>
                      </a:r>
                    </a:p>
                  </a:txBody>
                  <a:tcPr>
                    <a:solidFill>
                      <a:srgbClr val="4F46E5"/>
                    </a:solidFill>
                  </a:tcPr>
                </a:tc>
                <a:tc>
                  <a:txBody>
                    <a:bodyPr/>
                    <a:lstStyle/>
                    <a:p>
                      <a:pPr algn="ctr"/>
                      <a:r>
                        <a:rPr sz="900" b="1">
                          <a:solidFill>
                            <a:srgbClr val="FFFFFF"/>
                          </a:solidFill>
                        </a:rPr>
                        <a:t>Solution appliquée</a:t>
                      </a:r>
                    </a:p>
                  </a:txBody>
                  <a:tcPr>
                    <a:solidFill>
                      <a:srgbClr val="4F46E5"/>
                    </a:solidFill>
                  </a:tcPr>
                </a:tc>
              </a:tr>
              <a:tr h="457200">
                <a:tc>
                  <a:txBody>
                    <a:bodyPr/>
                    <a:lstStyle/>
                    <a:p>
                      <a:r>
                        <a:rPr sz="900">
                          <a:solidFill>
                            <a:srgbClr val="1A1A2E"/>
                          </a:solidFill>
                        </a:rPr>
                        <a:t>Docker + UDP</a:t>
                      </a:r>
                    </a:p>
                  </a:txBody>
                  <a:tcPr>
                    <a:solidFill>
                      <a:srgbClr val="F8FAFF"/>
                    </a:solidFill>
                  </a:tcPr>
                </a:tc>
                <a:tc>
                  <a:txBody>
                    <a:bodyPr/>
                    <a:lstStyle/>
                    <a:p>
                      <a:r>
                        <a:rPr sz="900">
                          <a:solidFill>
                            <a:srgbClr val="1A1A2E"/>
                          </a:solidFill>
                        </a:rPr>
                        <a:t>Docker Desktop Windows ne peut pas recevoir de paquets UDP depuis le réseau local (NAT)</a:t>
                      </a:r>
                    </a:p>
                  </a:txBody>
                  <a:tcPr>
                    <a:solidFill>
                      <a:srgbClr val="F8FAFF"/>
                    </a:solidFill>
                  </a:tcPr>
                </a:tc>
                <a:tc>
                  <a:txBody>
                    <a:bodyPr/>
                    <a:lstStyle/>
                    <a:p>
                      <a:r>
                        <a:rPr sz="900">
                          <a:solidFill>
                            <a:srgbClr val="1A1A2E"/>
                          </a:solidFill>
                        </a:rPr>
                        <a:t>Relay UDP PowerShell : écoute 192.168.30.104:18120 → retransmet vers 127.0.0.1:1812</a:t>
                      </a:r>
                    </a:p>
                  </a:txBody>
                  <a:tcPr>
                    <a:solidFill>
                      <a:srgbClr val="F8FAFF"/>
                    </a:solidFill>
                  </a:tcPr>
                </a:tc>
              </a:tr>
              <a:tr h="457200">
                <a:tc>
                  <a:txBody>
                    <a:bodyPr/>
                    <a:lstStyle/>
                    <a:p>
                      <a:r>
                        <a:rPr sz="900">
                          <a:solidFill>
                            <a:srgbClr val="1A1A2E"/>
                          </a:solidFill>
                        </a:rPr>
                        <a:t>Double réservation</a:t>
                      </a:r>
                    </a:p>
                  </a:txBody>
                  <a:tcPr>
                    <a:solidFill>
                      <a:srgbClr val="FFFFFF"/>
                    </a:solidFill>
                  </a:tcPr>
                </a:tc>
                <a:tc>
                  <a:txBody>
                    <a:bodyPr/>
                    <a:lstStyle/>
                    <a:p>
                      <a:r>
                        <a:rPr sz="900">
                          <a:solidFill>
                            <a:srgbClr val="1A1A2E"/>
                          </a:solidFill>
                        </a:rPr>
                        <a:t>Deux clients pouvaient réserver la même chambre aux mêmes dates</a:t>
                      </a:r>
                    </a:p>
                  </a:txBody>
                  <a:tcPr>
                    <a:solidFill>
                      <a:srgbClr val="FFFFFF"/>
                    </a:solidFill>
                  </a:tcPr>
                </a:tc>
                <a:tc>
                  <a:txBody>
                    <a:bodyPr/>
                    <a:lstStyle/>
                    <a:p>
                      <a:r>
                        <a:rPr sz="900">
                          <a:solidFill>
                            <a:srgbClr val="1A1A2E"/>
                          </a:solidFill>
                        </a:rPr>
                        <a:t>Requête SQL avec condition de chevauchement de dates + attribution automatique</a:t>
                      </a:r>
                    </a:p>
                  </a:txBody>
                  <a:tcPr>
                    <a:solidFill>
                      <a:srgbClr val="FFFFFF"/>
                    </a:solidFill>
                  </a:tcPr>
                </a:tc>
              </a:tr>
              <a:tr h="457200">
                <a:tc>
                  <a:txBody>
                    <a:bodyPr/>
                    <a:lstStyle/>
                    <a:p>
                      <a:r>
                        <a:rPr sz="900">
                          <a:solidFill>
                            <a:srgbClr val="1A1A2E"/>
                          </a:solidFill>
                        </a:rPr>
                        <a:t>Boutons Telegram bloqués</a:t>
                      </a:r>
                    </a:p>
                  </a:txBody>
                  <a:tcPr>
                    <a:solidFill>
                      <a:srgbClr val="F8FAFF"/>
                    </a:solidFill>
                  </a:tcPr>
                </a:tc>
                <a:tc>
                  <a:txBody>
                    <a:bodyPr/>
                    <a:lstStyle/>
                    <a:p>
                      <a:r>
                        <a:rPr sz="900">
                          <a:solidFill>
                            <a:srgbClr val="1A1A2E"/>
                          </a:solidFill>
                        </a:rPr>
                        <a:t>Connexion PDO singleton expirée (MySQL gone away) — answerCallbackQuery jamais appelé</a:t>
                      </a:r>
                    </a:p>
                  </a:txBody>
                  <a:tcPr>
                    <a:solidFill>
                      <a:srgbClr val="F8FAFF"/>
                    </a:solidFill>
                  </a:tcPr>
                </a:tc>
                <a:tc>
                  <a:txBody>
                    <a:bodyPr/>
                    <a:lstStyle/>
                    <a:p>
                      <a:r>
                        <a:rPr sz="900">
                          <a:solidFill>
                            <a:srgbClr val="1A1A2E"/>
                          </a:solidFill>
                        </a:rPr>
                        <a:t>Fonction get_db() avec ping + Database::reset() + reconnexion automatique</a:t>
                      </a:r>
                    </a:p>
                  </a:txBody>
                  <a:tcPr>
                    <a:solidFill>
                      <a:srgbClr val="F8FAFF"/>
                    </a:solidFill>
                  </a:tcPr>
                </a:tc>
              </a:tr>
            </a:tbl>
          </a:graphicData>
        </a:graphic>
      </p:graphicFrame>
      <p:sp>
        <p:nvSpPr>
          <p:cNvPr id="12" name="OralBg"/>
          <p:cNvSpPr/>
          <p:nvPr/>
        </p:nvSpPr>
        <p:spPr>
          <a:xfrm>
            <a:off x="365760" y="5788152"/>
            <a:ext cx="11430000" cy="6583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alAccent"/>
          <p:cNvSpPr/>
          <p:nvPr/>
        </p:nvSpPr>
        <p:spPr>
          <a:xfrm>
            <a:off x="365760" y="5788152"/>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alText"/>
          <p:cNvSpPr txBox="1"/>
          <p:nvPr/>
        </p:nvSpPr>
        <p:spPr>
          <a:xfrm>
            <a:off x="594360" y="5851652"/>
            <a:ext cx="11155680" cy="566928"/>
          </a:xfrm>
          <a:prstGeom prst="rect">
            <a:avLst/>
          </a:prstGeom>
          <a:noFill/>
        </p:spPr>
        <p:txBody>
          <a:bodyPr wrap="square">
            <a:spAutoFit/>
          </a:bodyPr>
          <a:lstStyle/>
          <a:p>
            <a:r>
              <a:rPr sz="750" b="1">
                <a:solidFill>
                  <a:srgbClr val="4F46E5"/>
                </a:solidFill>
              </a:rPr>
              <a:t>À dire à l'oral  </a:t>
            </a:r>
            <a:r>
              <a:rPr sz="900" i="1">
                <a:solidFill>
                  <a:srgbClr val="4B5563"/>
                </a:solidFill>
              </a:rPr>
              <a:t>"La principale difficulté était Docker + RADIUS sur Windows. Le relay UDP PowerShell résout ce problème. On a aussi corrigé un bug : les boutons Telegram chargeaient à l'infini car la connexion MySQL s'était coupée."</a:t>
            </a:r>
          </a:p>
        </p:txBody>
      </p:sp>
      <p:sp>
        <p:nvSpPr>
          <p:cNvPr id="15" name="FooterLine"/>
          <p:cNvSpPr/>
          <p:nvPr/>
        </p:nvSpPr>
        <p:spPr>
          <a:xfrm>
            <a:off x="365760" y="6492240"/>
            <a:ext cx="11430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ooter"/>
          <p:cNvSpPr txBox="1"/>
          <p:nvPr/>
        </p:nvSpPr>
        <p:spPr>
          <a:xfrm>
            <a:off x="365760" y="6537960"/>
            <a:ext cx="11430000" cy="254000"/>
          </a:xfrm>
          <a:prstGeom prst="rect">
            <a:avLst/>
          </a:prstGeom>
          <a:noFill/>
        </p:spPr>
        <p:txBody>
          <a:bodyPr wrap="none">
            <a:spAutoFit/>
          </a:bodyPr>
          <a:lstStyle/>
          <a:p>
            <a:pPr algn="l"/>
            <a:r>
              <a:rPr sz="800">
                <a:solidFill>
                  <a:srgbClr val="6B7280"/>
                </a:solidFill>
              </a:rPr>
              <a:t>Maison Saclay — Projet OP-1</a:t>
            </a:r>
            <a:r>
              <a:rPr sz="800">
                <a:solidFill>
                  <a:srgbClr val="6B7280"/>
                </a:solidFill>
              </a:rPr>
              <a:t>         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Bar"/>
          <p:cNvSpPr/>
          <p:nvPr/>
        </p:nvSpPr>
        <p:spPr>
          <a:xfrm>
            <a:off x="0" y="0"/>
            <a:ext cx="12188952" cy="76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ag"/>
          <p:cNvSpPr txBox="1"/>
          <p:nvPr/>
        </p:nvSpPr>
        <p:spPr>
          <a:xfrm>
            <a:off x="457200" y="164592"/>
            <a:ext cx="9144000" cy="177800"/>
          </a:xfrm>
          <a:prstGeom prst="rect">
            <a:avLst/>
          </a:prstGeom>
          <a:noFill/>
        </p:spPr>
        <p:txBody>
          <a:bodyPr wrap="none">
            <a:spAutoFit/>
          </a:bodyPr>
          <a:lstStyle/>
          <a:p>
            <a:r>
              <a:rPr sz="800" b="1">
                <a:solidFill>
                  <a:srgbClr val="4F46E5"/>
                </a:solidFill>
              </a:rPr>
              <a:t>BILAN</a:t>
            </a:r>
          </a:p>
        </p:txBody>
      </p:sp>
      <p:sp>
        <p:nvSpPr>
          <p:cNvPr id="4" name="SlideTitle"/>
          <p:cNvSpPr txBox="1"/>
          <p:nvPr/>
        </p:nvSpPr>
        <p:spPr>
          <a:xfrm>
            <a:off x="457200" y="320040"/>
            <a:ext cx="11247120" cy="685800"/>
          </a:xfrm>
          <a:prstGeom prst="rect">
            <a:avLst/>
          </a:prstGeom>
          <a:noFill/>
        </p:spPr>
        <p:txBody>
          <a:bodyPr wrap="square">
            <a:spAutoFit/>
          </a:bodyPr>
          <a:lstStyle/>
          <a:p>
            <a:r>
              <a:rPr sz="2800" b="1">
                <a:solidFill>
                  <a:srgbClr val="1A1A2E"/>
                </a:solidFill>
              </a:rPr>
              <a:t>Conclusion et améliorations</a:t>
            </a:r>
          </a:p>
        </p:txBody>
      </p:sp>
      <p:sp>
        <p:nvSpPr>
          <p:cNvPr id="5" name="TextBox 4"/>
          <p:cNvSpPr txBox="1"/>
          <p:nvPr/>
        </p:nvSpPr>
        <p:spPr>
          <a:xfrm>
            <a:off x="457200" y="1234440"/>
            <a:ext cx="11247120" cy="177800"/>
          </a:xfrm>
          <a:prstGeom prst="rect">
            <a:avLst/>
          </a:prstGeom>
          <a:noFill/>
        </p:spPr>
        <p:txBody>
          <a:bodyPr wrap="none">
            <a:spAutoFit/>
          </a:bodyPr>
          <a:lstStyle/>
          <a:p>
            <a:r>
              <a:rPr sz="800" b="1">
                <a:solidFill>
                  <a:srgbClr val="6B7280"/>
                </a:solidFill>
              </a:rPr>
              <a:t>CE QUI FONCTIONNE — DÉMONTRABLE EN LIVE</a:t>
            </a:r>
          </a:p>
        </p:txBody>
      </p:sp>
      <p:sp>
        <p:nvSpPr>
          <p:cNvPr id="6" name="BulletList"/>
          <p:cNvSpPr txBox="1"/>
          <p:nvPr/>
        </p:nvSpPr>
        <p:spPr>
          <a:xfrm>
            <a:off x="457200" y="1481328"/>
            <a:ext cx="11247120" cy="1691640"/>
          </a:xfrm>
          <a:prstGeom prst="rect">
            <a:avLst/>
          </a:prstGeom>
          <a:noFill/>
        </p:spPr>
        <p:txBody>
          <a:bodyPr wrap="square">
            <a:spAutoFit/>
          </a:bodyPr>
          <a:lstStyle/>
          <a:p>
            <a:pPr>
              <a:spcBef>
                <a:spcPts val="400"/>
              </a:spcBef>
            </a:pPr>
            <a:r>
              <a:rPr sz="600" b="1">
                <a:solidFill>
                  <a:srgbClr val="4F46E5"/>
                </a:solidFill>
              </a:rPr>
              <a:t>●  </a:t>
            </a:r>
            <a:r>
              <a:rPr sz="1100">
                <a:solidFill>
                  <a:srgbClr val="1A1A2E"/>
                </a:solidFill>
              </a:rPr>
              <a:t>Réservation multi-nuits de bout en bout avec attribution automatique de chambre physique</a:t>
            </a:r>
          </a:p>
          <a:p>
            <a:pPr>
              <a:spcBef>
                <a:spcPts val="400"/>
              </a:spcBef>
            </a:pPr>
            <a:r>
              <a:rPr sz="600" b="1">
                <a:solidFill>
                  <a:srgbClr val="4F46E5"/>
                </a:solidFill>
              </a:rPr>
              <a:t>●  </a:t>
            </a:r>
            <a:r>
              <a:rPr sz="1100" b="1">
                <a:solidFill>
                  <a:srgbClr val="1A1A2E"/>
                </a:solidFill>
              </a:rPr>
              <a:t>Room service : </a:t>
            </a:r>
            <a:r>
              <a:rPr sz="1100">
                <a:solidFill>
                  <a:srgbClr val="1A1A2E"/>
                </a:solidFill>
              </a:rPr>
              <a:t>commande → Telegram → suivi statut dans l'admin</a:t>
            </a:r>
          </a:p>
          <a:p>
            <a:pPr>
              <a:spcBef>
                <a:spcPts val="400"/>
              </a:spcBef>
            </a:pPr>
            <a:r>
              <a:rPr sz="600" b="1">
                <a:solidFill>
                  <a:srgbClr val="4F46E5"/>
                </a:solidFill>
              </a:rPr>
              <a:t>●  </a:t>
            </a:r>
            <a:r>
              <a:rPr sz="1100">
                <a:solidFill>
                  <a:srgbClr val="1A1A2E"/>
                </a:solidFill>
              </a:rPr>
              <a:t>Portail captif WiFi RADIUS — testé avec de vrais appareils sur le réseau</a:t>
            </a:r>
          </a:p>
          <a:p>
            <a:pPr>
              <a:spcBef>
                <a:spcPts val="400"/>
              </a:spcBef>
            </a:pPr>
            <a:r>
              <a:rPr sz="600" b="1">
                <a:solidFill>
                  <a:srgbClr val="4F46E5"/>
                </a:solidFill>
              </a:rPr>
              <a:t>●  </a:t>
            </a:r>
            <a:r>
              <a:rPr sz="1100" b="1">
                <a:solidFill>
                  <a:srgbClr val="1A1A2E"/>
                </a:solidFill>
              </a:rPr>
              <a:t>Dashboard admin complet : </a:t>
            </a:r>
            <a:r>
              <a:rPr sz="1100">
                <a:solidFill>
                  <a:srgbClr val="1A1A2E"/>
                </a:solidFill>
              </a:rPr>
              <a:t>réservations, commandes, chambres, WiFi, statistiques</a:t>
            </a:r>
          </a:p>
          <a:p>
            <a:pPr>
              <a:spcBef>
                <a:spcPts val="400"/>
              </a:spcBef>
            </a:pPr>
            <a:r>
              <a:rPr sz="600" b="1">
                <a:solidFill>
                  <a:srgbClr val="4F46E5"/>
                </a:solidFill>
              </a:rPr>
              <a:t>●  </a:t>
            </a:r>
            <a:r>
              <a:rPr sz="1100">
                <a:solidFill>
                  <a:srgbClr val="1A1A2E"/>
                </a:solidFill>
              </a:rPr>
              <a:t>Infrastructure Docker stable — 8 services, IP statique, relay UDP persistant</a:t>
            </a:r>
          </a:p>
        </p:txBody>
      </p:sp>
      <p:sp>
        <p:nvSpPr>
          <p:cNvPr id="7" name="Rectangle 6"/>
          <p:cNvSpPr/>
          <p:nvPr/>
        </p:nvSpPr>
        <p:spPr>
          <a:xfrm>
            <a:off x="365760" y="3310128"/>
            <a:ext cx="11430000" cy="1270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401568"/>
            <a:ext cx="11247120" cy="177800"/>
          </a:xfrm>
          <a:prstGeom prst="rect">
            <a:avLst/>
          </a:prstGeom>
          <a:noFill/>
        </p:spPr>
        <p:txBody>
          <a:bodyPr wrap="none">
            <a:spAutoFit/>
          </a:bodyPr>
          <a:lstStyle/>
          <a:p>
            <a:r>
              <a:rPr sz="800" b="1">
                <a:solidFill>
                  <a:srgbClr val="6B7280"/>
                </a:solidFill>
              </a:rPr>
              <a:t>AMÉLIORATIONS POSSIBLES</a:t>
            </a:r>
          </a:p>
        </p:txBody>
      </p:sp>
      <p:sp>
        <p:nvSpPr>
          <p:cNvPr id="9" name="Card_HTTPS"/>
          <p:cNvSpPr/>
          <p:nvPr/>
        </p:nvSpPr>
        <p:spPr>
          <a:xfrm>
            <a:off x="365760" y="3657600"/>
            <a:ext cx="2697480" cy="114300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HTTPS</a:t>
            </a:r>
          </a:p>
          <a:p>
            <a:pPr>
              <a:spcBef>
                <a:spcPts val="400"/>
              </a:spcBef>
            </a:pPr>
            <a:r>
              <a:rPr sz="900">
                <a:solidFill>
                  <a:srgbClr val="1A1A2E"/>
                </a:solidFill>
              </a:rPr>
              <a:t>Certificat SSL (Let's Encrypt) pour chiffrer les échanges</a:t>
            </a:r>
          </a:p>
        </p:txBody>
      </p:sp>
      <p:sp>
        <p:nvSpPr>
          <p:cNvPr id="10" name="Card_DNS réel"/>
          <p:cNvSpPr/>
          <p:nvPr/>
        </p:nvSpPr>
        <p:spPr>
          <a:xfrm>
            <a:off x="3200400" y="3657600"/>
            <a:ext cx="2697480" cy="114300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DNS RÉEL</a:t>
            </a:r>
          </a:p>
          <a:p>
            <a:pPr>
              <a:spcBef>
                <a:spcPts val="400"/>
              </a:spcBef>
            </a:pPr>
            <a:r>
              <a:rPr sz="900">
                <a:solidFill>
                  <a:srgbClr val="1A1A2E"/>
                </a:solidFill>
              </a:rPr>
              <a:t>Pi-hole pour remplacer la démo par de vraies données réseau</a:t>
            </a:r>
          </a:p>
        </p:txBody>
      </p:sp>
      <p:sp>
        <p:nvSpPr>
          <p:cNvPr id="11" name="Card_Téléphon"/>
          <p:cNvSpPr/>
          <p:nvPr/>
        </p:nvSpPr>
        <p:spPr>
          <a:xfrm>
            <a:off x="6035040" y="3657600"/>
            <a:ext cx="2697480" cy="114300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TÉLÉPHONIE</a:t>
            </a:r>
          </a:p>
          <a:p>
            <a:pPr>
              <a:spcBef>
                <a:spcPts val="400"/>
              </a:spcBef>
            </a:pPr>
            <a:r>
              <a:rPr sz="900">
                <a:solidFill>
                  <a:srgbClr val="1A1A2E"/>
                </a:solidFill>
              </a:rPr>
              <a:t>Connecter des postes SIP physiques aux extensions Asterisk</a:t>
            </a:r>
          </a:p>
        </p:txBody>
      </p:sp>
      <p:sp>
        <p:nvSpPr>
          <p:cNvPr id="12" name="Card_Monitori"/>
          <p:cNvSpPr/>
          <p:nvPr/>
        </p:nvSpPr>
        <p:spPr>
          <a:xfrm>
            <a:off x="8869680" y="3657600"/>
            <a:ext cx="2697480" cy="1143000"/>
          </a:xfrm>
          <a:prstGeom prst="rect">
            <a:avLst/>
          </a:prstGeom>
          <a:solidFill>
            <a:srgbClr val="F8FAFF"/>
          </a:solidFill>
          <a:ln w="9525">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76200" rIns="109728" bIns="76200"/>
          <a:lstStyle/>
          <a:p>
            <a:pPr algn="ctr"/>
            <a:r>
              <a:rPr sz="750" b="1">
                <a:solidFill>
                  <a:srgbClr val="4F46E5"/>
                </a:solidFill>
              </a:rPr>
              <a:t>MONITORING</a:t>
            </a:r>
          </a:p>
          <a:p>
            <a:pPr>
              <a:spcBef>
                <a:spcPts val="400"/>
              </a:spcBef>
            </a:pPr>
            <a:r>
              <a:rPr sz="900">
                <a:solidFill>
                  <a:srgbClr val="1A1A2E"/>
                </a:solidFill>
              </a:rPr>
              <a:t>Alertes automatiques si un service Docker tombe</a:t>
            </a:r>
          </a:p>
        </p:txBody>
      </p:sp>
      <p:sp>
        <p:nvSpPr>
          <p:cNvPr id="13" name="ClosingBg"/>
          <p:cNvSpPr/>
          <p:nvPr/>
        </p:nvSpPr>
        <p:spPr>
          <a:xfrm>
            <a:off x="0" y="4983480"/>
            <a:ext cx="12188952" cy="1874519"/>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0" y="5212080"/>
            <a:ext cx="12188952" cy="640080"/>
          </a:xfrm>
          <a:prstGeom prst="rect">
            <a:avLst/>
          </a:prstGeom>
          <a:noFill/>
        </p:spPr>
        <p:txBody>
          <a:bodyPr wrap="none">
            <a:spAutoFit/>
          </a:bodyPr>
          <a:lstStyle/>
          <a:p>
            <a:pPr algn="ctr"/>
            <a:r>
              <a:rPr sz="1600" b="1">
                <a:solidFill>
                  <a:srgbClr val="FFFFFF"/>
                </a:solidFill>
              </a:rPr>
              <a:t>Maison Saclay — Hôtel 5 étoiles — Projet OP-1</a:t>
            </a:r>
          </a:p>
        </p:txBody>
      </p:sp>
      <p:sp>
        <p:nvSpPr>
          <p:cNvPr id="15" name="TextBox 14"/>
          <p:cNvSpPr txBox="1"/>
          <p:nvPr/>
        </p:nvSpPr>
        <p:spPr>
          <a:xfrm>
            <a:off x="0" y="5760720"/>
            <a:ext cx="12188952" cy="457200"/>
          </a:xfrm>
          <a:prstGeom prst="rect">
            <a:avLst/>
          </a:prstGeom>
          <a:noFill/>
        </p:spPr>
        <p:txBody>
          <a:bodyPr wrap="none">
            <a:spAutoFit/>
          </a:bodyPr>
          <a:lstStyle/>
          <a:p>
            <a:pPr algn="ctr"/>
            <a:r>
              <a:rPr sz="1100">
                <a:solidFill>
                  <a:srgbClr val="6B7280"/>
                </a:solidFill>
              </a:rPr>
              <a:t>Licence Pro MRT — 2025–2026</a:t>
            </a:r>
          </a:p>
        </p:txBody>
      </p:sp>
      <p:sp>
        <p:nvSpPr>
          <p:cNvPr id="16" name="OralBg"/>
          <p:cNvSpPr/>
          <p:nvPr/>
        </p:nvSpPr>
        <p:spPr>
          <a:xfrm>
            <a:off x="365760" y="6446520"/>
            <a:ext cx="11430000" cy="6583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ralAccent"/>
          <p:cNvSpPr/>
          <p:nvPr/>
        </p:nvSpPr>
        <p:spPr>
          <a:xfrm>
            <a:off x="365760" y="6446520"/>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ralText"/>
          <p:cNvSpPr txBox="1"/>
          <p:nvPr/>
        </p:nvSpPr>
        <p:spPr>
          <a:xfrm>
            <a:off x="594360" y="6510020"/>
            <a:ext cx="11155680" cy="566928"/>
          </a:xfrm>
          <a:prstGeom prst="rect">
            <a:avLst/>
          </a:prstGeom>
          <a:noFill/>
        </p:spPr>
        <p:txBody>
          <a:bodyPr wrap="square">
            <a:spAutoFit/>
          </a:bodyPr>
          <a:lstStyle/>
          <a:p>
            <a:r>
              <a:rPr sz="750" b="1">
                <a:solidFill>
                  <a:srgbClr val="4F46E5"/>
                </a:solidFill>
              </a:rPr>
              <a:t>À dire à l'oral  </a:t>
            </a:r>
            <a:r>
              <a:rPr sz="900" i="1">
                <a:solidFill>
                  <a:srgbClr val="4B5563"/>
                </a:solidFill>
              </a:rPr>
              <a:t>"Le projet est fonctionnel et démontrable dans son ensemble. Avec plus de temps : HTTPS, vrai DNS local, postes téléphoniques physiques et alertes monitoring."</a:t>
            </a:r>
          </a:p>
        </p:txBody>
      </p:sp>
      <p:sp>
        <p:nvSpPr>
          <p:cNvPr id="19" name="FooterLine"/>
          <p:cNvSpPr/>
          <p:nvPr/>
        </p:nvSpPr>
        <p:spPr>
          <a:xfrm>
            <a:off x="365760" y="6492240"/>
            <a:ext cx="11430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ooter"/>
          <p:cNvSpPr txBox="1"/>
          <p:nvPr/>
        </p:nvSpPr>
        <p:spPr>
          <a:xfrm>
            <a:off x="365760" y="6537960"/>
            <a:ext cx="11430000" cy="254000"/>
          </a:xfrm>
          <a:prstGeom prst="rect">
            <a:avLst/>
          </a:prstGeom>
          <a:noFill/>
        </p:spPr>
        <p:txBody>
          <a:bodyPr wrap="none">
            <a:spAutoFit/>
          </a:bodyPr>
          <a:lstStyle/>
          <a:p>
            <a:pPr algn="l"/>
            <a:r>
              <a:rPr sz="800">
                <a:solidFill>
                  <a:srgbClr val="6B7280"/>
                </a:solidFill>
              </a:rPr>
              <a:t>Maison Saclay — Projet OP-1</a:t>
            </a:r>
            <a:r>
              <a:rPr sz="800">
                <a:solidFill>
                  <a:srgbClr val="6B7280"/>
                </a:solidFill>
              </a:rPr>
              <a:t>         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