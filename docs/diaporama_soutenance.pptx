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669280"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0" y="0"/>
            <a:ext cx="6519672" cy="6858000"/>
          </a:xfrm>
          <a:prstGeom prst="rect">
            <a:avLst/>
          </a:prstGeom>
          <a:solidFill>
            <a:srgbClr val="F8F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669280" cy="635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97280"/>
            <a:ext cx="1005840" cy="10058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97280"/>
            <a:ext cx="1005840" cy="1005840"/>
          </a:xfrm>
          <a:prstGeom prst="rect">
            <a:avLst/>
          </a:prstGeom>
          <a:noFill/>
        </p:spPr>
        <p:txBody>
          <a:bodyPr wrap="square">
            <a:spAutoFit/>
          </a:bodyPr>
          <a:lstStyle/>
          <a:p>
            <a:pPr algn="ctr"/>
            <a:r>
              <a:rPr b="1" i="0" sz="2800">
                <a:solidFill>
                  <a:srgbClr val="FFFFFF"/>
                </a:solidFill>
              </a:rPr>
              <a:t>MS</a:t>
            </a:r>
          </a:p>
        </p:txBody>
      </p:sp>
      <p:sp>
        <p:nvSpPr>
          <p:cNvPr id="7" name="TextBox 6"/>
          <p:cNvSpPr txBox="1"/>
          <p:nvPr/>
        </p:nvSpPr>
        <p:spPr>
          <a:xfrm>
            <a:off x="502920" y="2331720"/>
            <a:ext cx="4937760" cy="731520"/>
          </a:xfrm>
          <a:prstGeom prst="rect">
            <a:avLst/>
          </a:prstGeom>
          <a:noFill/>
        </p:spPr>
        <p:txBody>
          <a:bodyPr wrap="square">
            <a:spAutoFit/>
          </a:bodyPr>
          <a:lstStyle/>
          <a:p>
            <a:pPr algn="l"/>
            <a:r>
              <a:rPr b="1" i="0" sz="3800">
                <a:solidFill>
                  <a:srgbClr val="FFFFFF"/>
                </a:solidFill>
              </a:rPr>
              <a:t>Maison Saclay</a:t>
            </a:r>
          </a:p>
        </p:txBody>
      </p:sp>
      <p:sp>
        <p:nvSpPr>
          <p:cNvPr id="8" name="TextBox 7"/>
          <p:cNvSpPr txBox="1"/>
          <p:nvPr/>
        </p:nvSpPr>
        <p:spPr>
          <a:xfrm>
            <a:off x="502920" y="2971800"/>
            <a:ext cx="4937760" cy="548640"/>
          </a:xfrm>
          <a:prstGeom prst="rect">
            <a:avLst/>
          </a:prstGeom>
          <a:noFill/>
        </p:spPr>
        <p:txBody>
          <a:bodyPr wrap="square">
            <a:spAutoFit/>
          </a:bodyPr>
          <a:lstStyle/>
          <a:p>
            <a:pPr algn="l"/>
            <a:r>
              <a:rPr b="1" i="0" sz="2400">
                <a:solidFill>
                  <a:srgbClr val="4F46E5"/>
                </a:solidFill>
              </a:rPr>
              <a:t>Hôtel 5 étoiles</a:t>
            </a:r>
          </a:p>
        </p:txBody>
      </p:sp>
      <p:sp>
        <p:nvSpPr>
          <p:cNvPr id="9" name="TextBox 8"/>
          <p:cNvSpPr txBox="1"/>
          <p:nvPr/>
        </p:nvSpPr>
        <p:spPr>
          <a:xfrm>
            <a:off x="502920" y="3520440"/>
            <a:ext cx="4937760" cy="457200"/>
          </a:xfrm>
          <a:prstGeom prst="rect">
            <a:avLst/>
          </a:prstGeom>
          <a:noFill/>
        </p:spPr>
        <p:txBody>
          <a:bodyPr wrap="square">
            <a:spAutoFit/>
          </a:bodyPr>
          <a:lstStyle/>
          <a:p>
            <a:pPr algn="l"/>
            <a:r>
              <a:rPr b="0" i="0" sz="1100">
                <a:solidFill>
                  <a:srgbClr val="9CA3AF"/>
                </a:solidFill>
              </a:rPr>
              <a:t>Projet OP-1 — Licence Pro MRT — 2025–2026</a:t>
            </a:r>
          </a:p>
        </p:txBody>
      </p:sp>
      <p:sp>
        <p:nvSpPr>
          <p:cNvPr id="10" name="Rectangle 9"/>
          <p:cNvSpPr/>
          <p:nvPr/>
        </p:nvSpPr>
        <p:spPr>
          <a:xfrm>
            <a:off x="502920" y="4251960"/>
            <a:ext cx="2377440" cy="283464"/>
          </a:xfrm>
          <a:prstGeom prst="rect">
            <a:avLst/>
          </a:prstGeom>
          <a:solidFill>
            <a:srgbClr val="2D2D4E"/>
          </a:solidFill>
          <a:ln w="63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290060"/>
            <a:ext cx="2194560" cy="256032"/>
          </a:xfrm>
          <a:prstGeom prst="rect">
            <a:avLst/>
          </a:prstGeom>
          <a:noFill/>
        </p:spPr>
        <p:txBody>
          <a:bodyPr wrap="square">
            <a:spAutoFit/>
          </a:bodyPr>
          <a:lstStyle/>
          <a:p>
            <a:pPr algn="l"/>
            <a:r>
              <a:rPr b="1" i="0" sz="950">
                <a:solidFill>
                  <a:srgbClr val="C7D2FE"/>
                </a:solidFill>
              </a:rPr>
              <a:t>React + TypeScript</a:t>
            </a:r>
          </a:p>
        </p:txBody>
      </p:sp>
      <p:sp>
        <p:nvSpPr>
          <p:cNvPr id="12" name="Rectangle 11"/>
          <p:cNvSpPr/>
          <p:nvPr/>
        </p:nvSpPr>
        <p:spPr>
          <a:xfrm>
            <a:off x="502920" y="4599432"/>
            <a:ext cx="2377440" cy="283464"/>
          </a:xfrm>
          <a:prstGeom prst="rect">
            <a:avLst/>
          </a:prstGeom>
          <a:solidFill>
            <a:srgbClr val="2D2D4E"/>
          </a:solidFill>
          <a:ln w="63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4637532"/>
            <a:ext cx="2194560" cy="256032"/>
          </a:xfrm>
          <a:prstGeom prst="rect">
            <a:avLst/>
          </a:prstGeom>
          <a:noFill/>
        </p:spPr>
        <p:txBody>
          <a:bodyPr wrap="square">
            <a:spAutoFit/>
          </a:bodyPr>
          <a:lstStyle/>
          <a:p>
            <a:pPr algn="l"/>
            <a:r>
              <a:rPr b="1" i="0" sz="950">
                <a:solidFill>
                  <a:srgbClr val="C7D2FE"/>
                </a:solidFill>
              </a:rPr>
              <a:t>PHP 8.2 API REST</a:t>
            </a:r>
          </a:p>
        </p:txBody>
      </p:sp>
      <p:sp>
        <p:nvSpPr>
          <p:cNvPr id="14" name="Rectangle 13"/>
          <p:cNvSpPr/>
          <p:nvPr/>
        </p:nvSpPr>
        <p:spPr>
          <a:xfrm>
            <a:off x="502920" y="4946904"/>
            <a:ext cx="2377440" cy="283464"/>
          </a:xfrm>
          <a:prstGeom prst="rect">
            <a:avLst/>
          </a:prstGeom>
          <a:solidFill>
            <a:srgbClr val="2D2D4E"/>
          </a:solidFill>
          <a:ln w="63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985004"/>
            <a:ext cx="2194560" cy="256032"/>
          </a:xfrm>
          <a:prstGeom prst="rect">
            <a:avLst/>
          </a:prstGeom>
          <a:noFill/>
        </p:spPr>
        <p:txBody>
          <a:bodyPr wrap="square">
            <a:spAutoFit/>
          </a:bodyPr>
          <a:lstStyle/>
          <a:p>
            <a:pPr algn="l"/>
            <a:r>
              <a:rPr b="1" i="0" sz="950">
                <a:solidFill>
                  <a:srgbClr val="C7D2FE"/>
                </a:solidFill>
              </a:rPr>
              <a:t>MySQL + Docker</a:t>
            </a:r>
          </a:p>
        </p:txBody>
      </p:sp>
      <p:sp>
        <p:nvSpPr>
          <p:cNvPr id="16" name="Rectangle 15"/>
          <p:cNvSpPr/>
          <p:nvPr/>
        </p:nvSpPr>
        <p:spPr>
          <a:xfrm>
            <a:off x="502920" y="5294376"/>
            <a:ext cx="2377440" cy="283464"/>
          </a:xfrm>
          <a:prstGeom prst="rect">
            <a:avLst/>
          </a:prstGeom>
          <a:solidFill>
            <a:srgbClr val="2D2D4E"/>
          </a:solidFill>
          <a:ln w="63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5332476"/>
            <a:ext cx="2194560" cy="256032"/>
          </a:xfrm>
          <a:prstGeom prst="rect">
            <a:avLst/>
          </a:prstGeom>
          <a:noFill/>
        </p:spPr>
        <p:txBody>
          <a:bodyPr wrap="square">
            <a:spAutoFit/>
          </a:bodyPr>
          <a:lstStyle/>
          <a:p>
            <a:pPr algn="l"/>
            <a:r>
              <a:rPr b="1" i="0" sz="950">
                <a:solidFill>
                  <a:srgbClr val="C7D2FE"/>
                </a:solidFill>
              </a:rPr>
              <a:t>FreeRADIUS + EAP330</a:t>
            </a:r>
          </a:p>
        </p:txBody>
      </p:sp>
      <p:sp>
        <p:nvSpPr>
          <p:cNvPr id="18" name="Rectangle 17"/>
          <p:cNvSpPr/>
          <p:nvPr/>
        </p:nvSpPr>
        <p:spPr>
          <a:xfrm>
            <a:off x="502920" y="5641848"/>
            <a:ext cx="2377440" cy="283464"/>
          </a:xfrm>
          <a:prstGeom prst="rect">
            <a:avLst/>
          </a:prstGeom>
          <a:solidFill>
            <a:srgbClr val="2D2D4E"/>
          </a:solidFill>
          <a:ln w="63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5679948"/>
            <a:ext cx="2194560" cy="256032"/>
          </a:xfrm>
          <a:prstGeom prst="rect">
            <a:avLst/>
          </a:prstGeom>
          <a:noFill/>
        </p:spPr>
        <p:txBody>
          <a:bodyPr wrap="square">
            <a:spAutoFit/>
          </a:bodyPr>
          <a:lstStyle/>
          <a:p>
            <a:pPr algn="l"/>
            <a:r>
              <a:rPr b="1" i="0" sz="950">
                <a:solidFill>
                  <a:srgbClr val="C7D2FE"/>
                </a:solidFill>
              </a:rPr>
              <a:t>Asterisk 16</a:t>
            </a:r>
          </a:p>
        </p:txBody>
      </p:sp>
      <p:sp>
        <p:nvSpPr>
          <p:cNvPr id="20" name="Rectangle 19"/>
          <p:cNvSpPr/>
          <p:nvPr/>
        </p:nvSpPr>
        <p:spPr>
          <a:xfrm>
            <a:off x="6035040" y="1097280"/>
            <a:ext cx="2560320" cy="1645920"/>
          </a:xfrm>
          <a:prstGeom prst="rect">
            <a:avLst/>
          </a:prstGeom>
          <a:solidFill>
            <a:srgbClr val="FFFFFF"/>
          </a:solidFill>
          <a:ln w="6350">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1371600"/>
            <a:ext cx="2560320" cy="822960"/>
          </a:xfrm>
          <a:prstGeom prst="rect">
            <a:avLst/>
          </a:prstGeom>
          <a:noFill/>
        </p:spPr>
        <p:txBody>
          <a:bodyPr wrap="square">
            <a:spAutoFit/>
          </a:bodyPr>
          <a:lstStyle/>
          <a:p>
            <a:pPr algn="ctr"/>
            <a:r>
              <a:rPr b="1" i="0" sz="3600">
                <a:solidFill>
                  <a:srgbClr val="4F46E5"/>
                </a:solidFill>
              </a:rPr>
              <a:t>8</a:t>
            </a:r>
          </a:p>
        </p:txBody>
      </p:sp>
      <p:sp>
        <p:nvSpPr>
          <p:cNvPr id="22" name="TextBox 21"/>
          <p:cNvSpPr txBox="1"/>
          <p:nvPr/>
        </p:nvSpPr>
        <p:spPr>
          <a:xfrm>
            <a:off x="6035040" y="2103120"/>
            <a:ext cx="2560320" cy="279400"/>
          </a:xfrm>
          <a:prstGeom prst="rect">
            <a:avLst/>
          </a:prstGeom>
          <a:noFill/>
        </p:spPr>
        <p:txBody>
          <a:bodyPr wrap="square">
            <a:spAutoFit/>
          </a:bodyPr>
          <a:lstStyle/>
          <a:p>
            <a:pPr algn="ctr"/>
            <a:r>
              <a:rPr b="0" i="0" sz="900">
                <a:solidFill>
                  <a:srgbClr val="6B7280"/>
                </a:solidFill>
              </a:rPr>
              <a:t>Services Docker</a:t>
            </a:r>
          </a:p>
        </p:txBody>
      </p:sp>
      <p:sp>
        <p:nvSpPr>
          <p:cNvPr id="23" name="Rectangle 22"/>
          <p:cNvSpPr/>
          <p:nvPr/>
        </p:nvSpPr>
        <p:spPr>
          <a:xfrm>
            <a:off x="8961120" y="1097280"/>
            <a:ext cx="2560320" cy="1645920"/>
          </a:xfrm>
          <a:prstGeom prst="rect">
            <a:avLst/>
          </a:prstGeom>
          <a:solidFill>
            <a:srgbClr val="FFFFFF"/>
          </a:solidFill>
          <a:ln w="6350">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0" y="1371600"/>
            <a:ext cx="2560320" cy="822960"/>
          </a:xfrm>
          <a:prstGeom prst="rect">
            <a:avLst/>
          </a:prstGeom>
          <a:noFill/>
        </p:spPr>
        <p:txBody>
          <a:bodyPr wrap="square">
            <a:spAutoFit/>
          </a:bodyPr>
          <a:lstStyle/>
          <a:p>
            <a:pPr algn="ctr"/>
            <a:r>
              <a:rPr b="1" i="0" sz="3600">
                <a:solidFill>
                  <a:srgbClr val="4F46E5"/>
                </a:solidFill>
              </a:rPr>
              <a:t>10</a:t>
            </a:r>
          </a:p>
        </p:txBody>
      </p:sp>
      <p:sp>
        <p:nvSpPr>
          <p:cNvPr id="25" name="TextBox 24"/>
          <p:cNvSpPr txBox="1"/>
          <p:nvPr/>
        </p:nvSpPr>
        <p:spPr>
          <a:xfrm>
            <a:off x="8961120" y="2103120"/>
            <a:ext cx="2560320" cy="279400"/>
          </a:xfrm>
          <a:prstGeom prst="rect">
            <a:avLst/>
          </a:prstGeom>
          <a:noFill/>
        </p:spPr>
        <p:txBody>
          <a:bodyPr wrap="square">
            <a:spAutoFit/>
          </a:bodyPr>
          <a:lstStyle/>
          <a:p>
            <a:pPr algn="ctr"/>
            <a:r>
              <a:rPr b="0" i="0" sz="900">
                <a:solidFill>
                  <a:srgbClr val="6B7280"/>
                </a:solidFill>
              </a:rPr>
              <a:t>Tables MySQL</a:t>
            </a:r>
          </a:p>
        </p:txBody>
      </p:sp>
      <p:sp>
        <p:nvSpPr>
          <p:cNvPr id="26" name="Rectangle 25"/>
          <p:cNvSpPr/>
          <p:nvPr/>
        </p:nvSpPr>
        <p:spPr>
          <a:xfrm>
            <a:off x="6035040" y="3200400"/>
            <a:ext cx="2560320" cy="1645920"/>
          </a:xfrm>
          <a:prstGeom prst="rect">
            <a:avLst/>
          </a:prstGeom>
          <a:solidFill>
            <a:srgbClr val="FFFFFF"/>
          </a:solidFill>
          <a:ln w="6350">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35040" y="3474720"/>
            <a:ext cx="2560320" cy="822960"/>
          </a:xfrm>
          <a:prstGeom prst="rect">
            <a:avLst/>
          </a:prstGeom>
          <a:noFill/>
        </p:spPr>
        <p:txBody>
          <a:bodyPr wrap="square">
            <a:spAutoFit/>
          </a:bodyPr>
          <a:lstStyle/>
          <a:p>
            <a:pPr algn="ctr"/>
            <a:r>
              <a:rPr b="1" i="0" sz="3600">
                <a:solidFill>
                  <a:srgbClr val="4F46E5"/>
                </a:solidFill>
              </a:rPr>
              <a:t>9</a:t>
            </a:r>
          </a:p>
        </p:txBody>
      </p:sp>
      <p:sp>
        <p:nvSpPr>
          <p:cNvPr id="28" name="TextBox 27"/>
          <p:cNvSpPr txBox="1"/>
          <p:nvPr/>
        </p:nvSpPr>
        <p:spPr>
          <a:xfrm>
            <a:off x="6035040" y="4206240"/>
            <a:ext cx="2560320" cy="279400"/>
          </a:xfrm>
          <a:prstGeom prst="rect">
            <a:avLst/>
          </a:prstGeom>
          <a:noFill/>
        </p:spPr>
        <p:txBody>
          <a:bodyPr wrap="square">
            <a:spAutoFit/>
          </a:bodyPr>
          <a:lstStyle/>
          <a:p>
            <a:pPr algn="ctr"/>
            <a:r>
              <a:rPr b="0" i="0" sz="900">
                <a:solidFill>
                  <a:srgbClr val="6B7280"/>
                </a:solidFill>
              </a:rPr>
              <a:t>Chambres physiques</a:t>
            </a:r>
          </a:p>
        </p:txBody>
      </p:sp>
      <p:sp>
        <p:nvSpPr>
          <p:cNvPr id="29" name="Rectangle 28"/>
          <p:cNvSpPr/>
          <p:nvPr/>
        </p:nvSpPr>
        <p:spPr>
          <a:xfrm>
            <a:off x="8961120" y="3200400"/>
            <a:ext cx="2560320" cy="1645920"/>
          </a:xfrm>
          <a:prstGeom prst="rect">
            <a:avLst/>
          </a:prstGeom>
          <a:solidFill>
            <a:srgbClr val="FFFFFF"/>
          </a:solidFill>
          <a:ln w="6350">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0" y="3474720"/>
            <a:ext cx="2560320" cy="822960"/>
          </a:xfrm>
          <a:prstGeom prst="rect">
            <a:avLst/>
          </a:prstGeom>
          <a:noFill/>
        </p:spPr>
        <p:txBody>
          <a:bodyPr wrap="square">
            <a:spAutoFit/>
          </a:bodyPr>
          <a:lstStyle/>
          <a:p>
            <a:pPr algn="ctr"/>
            <a:r>
              <a:rPr b="1" i="0" sz="3600">
                <a:solidFill>
                  <a:srgbClr val="4F46E5"/>
                </a:solidFill>
              </a:rPr>
              <a:t>RADIUS</a:t>
            </a:r>
          </a:p>
        </p:txBody>
      </p:sp>
      <p:sp>
        <p:nvSpPr>
          <p:cNvPr id="31" name="TextBox 30"/>
          <p:cNvSpPr txBox="1"/>
          <p:nvPr/>
        </p:nvSpPr>
        <p:spPr>
          <a:xfrm>
            <a:off x="8961120" y="4206240"/>
            <a:ext cx="2560320" cy="279400"/>
          </a:xfrm>
          <a:prstGeom prst="rect">
            <a:avLst/>
          </a:prstGeom>
          <a:noFill/>
        </p:spPr>
        <p:txBody>
          <a:bodyPr wrap="square">
            <a:spAutoFit/>
          </a:bodyPr>
          <a:lstStyle/>
          <a:p>
            <a:pPr algn="ctr"/>
            <a:r>
              <a:rPr b="0" i="0" sz="900">
                <a:solidFill>
                  <a:srgbClr val="6B7280"/>
                </a:solidFill>
              </a:rPr>
              <a:t>Auth WiFi</a:t>
            </a:r>
          </a:p>
        </p:txBody>
      </p:sp>
      <p:sp>
        <p:nvSpPr>
          <p:cNvPr id="32" name="Rectangle 31"/>
          <p:cNvSpPr/>
          <p:nvPr/>
        </p:nvSpPr>
        <p:spPr>
          <a:xfrm>
            <a:off x="457200" y="6492240"/>
            <a:ext cx="11274552" cy="12700"/>
          </a:xfrm>
          <a:prstGeom prst="rect">
            <a:avLst/>
          </a:prstGeom>
          <a:solidFill>
            <a:srgbClr val="E0E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6537960"/>
            <a:ext cx="5486400" cy="228600"/>
          </a:xfrm>
          <a:prstGeom prst="rect">
            <a:avLst/>
          </a:prstGeom>
          <a:noFill/>
        </p:spPr>
        <p:txBody>
          <a:bodyPr wrap="square">
            <a:spAutoFit/>
          </a:bodyPr>
          <a:lstStyle/>
          <a:p>
            <a:pPr algn="l"/>
            <a:r>
              <a:rPr b="0" i="0" sz="800">
                <a:solidFill>
                  <a:srgbClr val="9CA3AF"/>
                </a:solidFill>
              </a:rPr>
              <a:t>Maison Saclay — Projet OP-1</a:t>
            </a:r>
          </a:p>
        </p:txBody>
      </p:sp>
      <p:sp>
        <p:nvSpPr>
          <p:cNvPr id="34" name="TextBox 33"/>
          <p:cNvSpPr txBox="1"/>
          <p:nvPr/>
        </p:nvSpPr>
        <p:spPr>
          <a:xfrm>
            <a:off x="6245352" y="6537960"/>
            <a:ext cx="5486400" cy="228600"/>
          </a:xfrm>
          <a:prstGeom prst="rect">
            <a:avLst/>
          </a:prstGeom>
          <a:noFill/>
        </p:spPr>
        <p:txBody>
          <a:bodyPr wrap="square">
            <a:spAutoFit/>
          </a:bodyPr>
          <a:lstStyle/>
          <a:p>
            <a:pPr algn="r"/>
            <a:r>
              <a:rPr b="0" i="0" sz="800">
                <a:solidFill>
                  <a:srgbClr val="9CA3AF"/>
                </a:solidFill>
              </a:rPr>
              <a:t>Slide 1 /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3500"/>
          </a:xfrm>
          <a:prstGeom prst="rect">
            <a:avLst/>
          </a:prstGeom>
          <a:gradFill rotWithShape="1">
            <a:gsLst>
              <a:gs pos="0">
                <a:srgbClr val="4F46E5"/>
              </a:gs>
              <a:gs pos="100000">
                <a:srgbClr val="4338CA"/>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9144000" cy="177800"/>
          </a:xfrm>
          <a:prstGeom prst="rect">
            <a:avLst/>
          </a:prstGeom>
          <a:noFill/>
        </p:spPr>
        <p:txBody>
          <a:bodyPr wrap="square">
            <a:spAutoFit/>
          </a:bodyPr>
          <a:lstStyle/>
          <a:p>
            <a:pPr algn="l"/>
            <a:r>
              <a:rPr b="1" i="0" sz="800">
                <a:solidFill>
                  <a:srgbClr val="4F46E5"/>
                </a:solidFill>
              </a:rPr>
              <a:t>CONTEXTE &amp; OBJECTIF</a:t>
            </a:r>
          </a:p>
        </p:txBody>
      </p:sp>
      <p:sp>
        <p:nvSpPr>
          <p:cNvPr id="4" name="TextBox 3"/>
          <p:cNvSpPr txBox="1"/>
          <p:nvPr/>
        </p:nvSpPr>
        <p:spPr>
          <a:xfrm>
            <a:off x="457200" y="329184"/>
            <a:ext cx="11274552" cy="731520"/>
          </a:xfrm>
          <a:prstGeom prst="rect">
            <a:avLst/>
          </a:prstGeom>
          <a:noFill/>
        </p:spPr>
        <p:txBody>
          <a:bodyPr wrap="square">
            <a:spAutoFit/>
          </a:bodyPr>
          <a:lstStyle/>
          <a:p>
            <a:pPr algn="l"/>
            <a:r>
              <a:rPr b="1" i="0" sz="2600">
                <a:solidFill>
                  <a:srgbClr val="1A1A2E"/>
                </a:solidFill>
              </a:rPr>
              <a:t>Pourquoi ce projet ?</a:t>
            </a:r>
          </a:p>
        </p:txBody>
      </p:sp>
      <p:sp>
        <p:nvSpPr>
          <p:cNvPr id="5" name="TextBox 4"/>
          <p:cNvSpPr txBox="1"/>
          <p:nvPr/>
        </p:nvSpPr>
        <p:spPr>
          <a:xfrm>
            <a:off x="457200" y="1188720"/>
            <a:ext cx="11274552" cy="1737360"/>
          </a:xfrm>
          <a:prstGeom prst="rect">
            <a:avLst/>
          </a:prstGeom>
          <a:noFill/>
        </p:spPr>
        <p:txBody>
          <a:bodyPr wrap="square">
            <a:spAutoFit/>
          </a:bodyPr>
          <a:lstStyle/>
          <a:p>
            <a:pPr>
              <a:spcBef>
                <a:spcPts val="300"/>
              </a:spcBef>
            </a:pPr>
            <a:r>
              <a:rPr sz="600" b="1">
                <a:solidFill>
                  <a:srgbClr val="4F46E5"/>
                </a:solidFill>
              </a:rPr>
              <a:t>●  </a:t>
            </a:r>
            <a:r>
              <a:rPr b="1" sz="1050">
                <a:solidFill>
                  <a:srgbClr val="1A1A2E"/>
                </a:solidFill>
              </a:rPr>
              <a:t>Contexte : </a:t>
            </a:r>
            <a:r>
              <a:rPr b="0" sz="1050">
                <a:solidFill>
                  <a:srgbClr val="1A1A2E"/>
                </a:solidFill>
              </a:rPr>
              <a:t>un hôtel a besoin d'outils numériques pour gérer clients, chambres, commandes et réseau WiFi</a:t>
            </a:r>
          </a:p>
          <a:p>
            <a:pPr>
              <a:spcBef>
                <a:spcPts val="300"/>
              </a:spcBef>
            </a:pPr>
            <a:r>
              <a:rPr sz="600" b="1">
                <a:solidFill>
                  <a:srgbClr val="4F46E5"/>
                </a:solidFill>
              </a:rPr>
              <a:t>●  </a:t>
            </a:r>
            <a:r>
              <a:rPr b="1" sz="1050">
                <a:solidFill>
                  <a:srgbClr val="1A1A2E"/>
                </a:solidFill>
              </a:rPr>
              <a:t>Objectif : </a:t>
            </a:r>
            <a:r>
              <a:rPr b="0" sz="1050">
                <a:solidFill>
                  <a:srgbClr val="1A1A2E"/>
                </a:solidFill>
              </a:rPr>
              <a:t>concevoir et déployer une solution complète, fonctionnelle et démontrable sur le réseau de l'école</a:t>
            </a:r>
          </a:p>
          <a:p>
            <a:pPr>
              <a:spcBef>
                <a:spcPts val="300"/>
              </a:spcBef>
            </a:pPr>
            <a:r>
              <a:rPr sz="600" b="1">
                <a:solidFill>
                  <a:srgbClr val="4F46E5"/>
                </a:solidFill>
              </a:rPr>
              <a:t>●  </a:t>
            </a:r>
            <a:r>
              <a:rPr b="1" sz="1050">
                <a:solidFill>
                  <a:srgbClr val="1A1A2E"/>
                </a:solidFill>
              </a:rPr>
              <a:t>Contrainte : </a:t>
            </a:r>
            <a:r>
              <a:rPr b="0" sz="1050">
                <a:solidFill>
                  <a:srgbClr val="1A1A2E"/>
                </a:solidFill>
              </a:rPr>
              <a:t>tout tourne sur un seul PC via Docker — aucune installation manuelle de PHP, MySQL ou FreeRADIUS</a:t>
            </a:r>
          </a:p>
          <a:p>
            <a:pPr>
              <a:spcBef>
                <a:spcPts val="300"/>
              </a:spcBef>
            </a:pPr>
            <a:r>
              <a:rPr sz="600" b="1">
                <a:solidFill>
                  <a:srgbClr val="4F46E5"/>
                </a:solidFill>
              </a:rPr>
              <a:t>●  </a:t>
            </a:r>
            <a:r>
              <a:rPr b="1" sz="1050">
                <a:solidFill>
                  <a:srgbClr val="1A1A2E"/>
                </a:solidFill>
              </a:rPr>
              <a:t>Sécurité : </a:t>
            </a:r>
            <a:r>
              <a:rPr b="0" sz="1050">
                <a:solidFill>
                  <a:srgbClr val="1A1A2E"/>
                </a:solidFill>
              </a:rPr>
              <a:t>le WiFi n'est accessible qu'après authentification par numéro de chambre (protocole RADIUS)</a:t>
            </a:r>
          </a:p>
        </p:txBody>
      </p:sp>
      <p:sp>
        <p:nvSpPr>
          <p:cNvPr id="6" name="Rectangle 5"/>
          <p:cNvSpPr/>
          <p:nvPr/>
        </p:nvSpPr>
        <p:spPr>
          <a:xfrm>
            <a:off x="457200" y="3063240"/>
            <a:ext cx="5486400" cy="1325880"/>
          </a:xfrm>
          <a:prstGeom prst="rect">
            <a:avLst/>
          </a:prstGeom>
          <a:solidFill>
            <a:srgbClr val="F8FAFF"/>
          </a:solidFill>
          <a:ln w="6350">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3136392"/>
            <a:ext cx="5266944" cy="177800"/>
          </a:xfrm>
          <a:prstGeom prst="rect">
            <a:avLst/>
          </a:prstGeom>
          <a:noFill/>
        </p:spPr>
        <p:txBody>
          <a:bodyPr wrap="square">
            <a:spAutoFit/>
          </a:bodyPr>
          <a:lstStyle/>
          <a:p>
            <a:pPr algn="l"/>
            <a:r>
              <a:rPr b="1" i="0" sz="750">
                <a:solidFill>
                  <a:srgbClr val="4F46E5"/>
                </a:solidFill>
              </a:rPr>
              <a:t>CÔTÉ CLIENT</a:t>
            </a:r>
          </a:p>
        </p:txBody>
      </p:sp>
      <p:sp>
        <p:nvSpPr>
          <p:cNvPr id="8" name="TextBox 7"/>
          <p:cNvSpPr txBox="1"/>
          <p:nvPr/>
        </p:nvSpPr>
        <p:spPr>
          <a:xfrm>
            <a:off x="566928" y="3310128"/>
            <a:ext cx="5266944" cy="1005840"/>
          </a:xfrm>
          <a:prstGeom prst="rect">
            <a:avLst/>
          </a:prstGeom>
          <a:noFill/>
        </p:spPr>
        <p:txBody>
          <a:bodyPr wrap="square">
            <a:spAutoFit/>
          </a:bodyPr>
          <a:lstStyle/>
          <a:p>
            <a:pPr algn="l"/>
            <a:r>
              <a:rPr b="0" i="0" sz="850">
                <a:solidFill>
                  <a:srgbClr val="374151"/>
                </a:solidFill>
              </a:rPr>
              <a:t>Réserver en ligne · Commander un repas · Accéder au WiFi avec son numéro de chambre · Voir son espace personnel</a:t>
            </a:r>
          </a:p>
        </p:txBody>
      </p:sp>
      <p:sp>
        <p:nvSpPr>
          <p:cNvPr id="9" name="Rectangle 8"/>
          <p:cNvSpPr/>
          <p:nvPr/>
        </p:nvSpPr>
        <p:spPr>
          <a:xfrm>
            <a:off x="6126480" y="3063240"/>
            <a:ext cx="5605272" cy="1325880"/>
          </a:xfrm>
          <a:prstGeom prst="rect">
            <a:avLst/>
          </a:prstGeom>
          <a:solidFill>
            <a:srgbClr val="F8FAFF"/>
          </a:solidFill>
          <a:ln w="6350">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36208" y="3136392"/>
            <a:ext cx="5385816" cy="177800"/>
          </a:xfrm>
          <a:prstGeom prst="rect">
            <a:avLst/>
          </a:prstGeom>
          <a:noFill/>
        </p:spPr>
        <p:txBody>
          <a:bodyPr wrap="square">
            <a:spAutoFit/>
          </a:bodyPr>
          <a:lstStyle/>
          <a:p>
            <a:pPr algn="l"/>
            <a:r>
              <a:rPr b="1" i="0" sz="750">
                <a:solidFill>
                  <a:srgbClr val="4F46E5"/>
                </a:solidFill>
              </a:rPr>
              <a:t>CÔTÉ ADMIN</a:t>
            </a:r>
          </a:p>
        </p:txBody>
      </p:sp>
      <p:sp>
        <p:nvSpPr>
          <p:cNvPr id="11" name="TextBox 10"/>
          <p:cNvSpPr txBox="1"/>
          <p:nvPr/>
        </p:nvSpPr>
        <p:spPr>
          <a:xfrm>
            <a:off x="6236208" y="3310128"/>
            <a:ext cx="5385816" cy="1005840"/>
          </a:xfrm>
          <a:prstGeom prst="rect">
            <a:avLst/>
          </a:prstGeom>
          <a:noFill/>
        </p:spPr>
        <p:txBody>
          <a:bodyPr wrap="square">
            <a:spAutoFit/>
          </a:bodyPr>
          <a:lstStyle/>
          <a:p>
            <a:pPr algn="l"/>
            <a:r>
              <a:rPr b="0" i="0" sz="850">
                <a:solidFill>
                  <a:srgbClr val="374151"/>
                </a:solidFill>
              </a:rPr>
              <a:t>Voir les réservations · Gérer les commandes · Surveiller le WiFi · Recevoir des alertes Telegram en temps réel</a:t>
            </a:r>
          </a:p>
        </p:txBody>
      </p:sp>
      <p:sp>
        <p:nvSpPr>
          <p:cNvPr id="12" name="Rectangle 11"/>
          <p:cNvSpPr/>
          <p:nvPr/>
        </p:nvSpPr>
        <p:spPr>
          <a:xfrm>
            <a:off x="457200" y="5806440"/>
            <a:ext cx="11274552" cy="658368"/>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806440"/>
            <a:ext cx="50800" cy="65836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5843016"/>
            <a:ext cx="2743200" cy="152400"/>
          </a:xfrm>
          <a:prstGeom prst="rect">
            <a:avLst/>
          </a:prstGeom>
          <a:noFill/>
        </p:spPr>
        <p:txBody>
          <a:bodyPr wrap="square">
            <a:spAutoFit/>
          </a:bodyPr>
          <a:lstStyle/>
          <a:p>
            <a:pPr algn="l"/>
            <a:r>
              <a:rPr b="1" i="0" sz="750">
                <a:solidFill>
                  <a:srgbClr val="4F46E5"/>
                </a:solidFill>
              </a:rPr>
              <a:t>À dire à l'oral</a:t>
            </a:r>
          </a:p>
        </p:txBody>
      </p:sp>
      <p:sp>
        <p:nvSpPr>
          <p:cNvPr id="15" name="TextBox 14"/>
          <p:cNvSpPr txBox="1"/>
          <p:nvPr/>
        </p:nvSpPr>
        <p:spPr>
          <a:xfrm>
            <a:off x="640080" y="6007608"/>
            <a:ext cx="10908792" cy="411480"/>
          </a:xfrm>
          <a:prstGeom prst="rect">
            <a:avLst/>
          </a:prstGeom>
          <a:noFill/>
        </p:spPr>
        <p:txBody>
          <a:bodyPr wrap="square">
            <a:spAutoFit/>
          </a:bodyPr>
          <a:lstStyle/>
          <a:p>
            <a:pPr algn="l"/>
            <a:r>
              <a:rPr b="0" i="1" sz="900">
                <a:solidFill>
                  <a:srgbClr val="4B5563"/>
                </a:solidFill>
              </a:rPr>
              <a:t>"L'objectif était de construire un système réaliste, pas juste une maquette. Chaque fonctionnalité fonctionne vraiment : la réservation crée une entrée en base, le WiFi authentifie via RADIUS, les notifications arrivent sur Telegram."</a:t>
            </a:r>
          </a:p>
        </p:txBody>
      </p:sp>
      <p:sp>
        <p:nvSpPr>
          <p:cNvPr id="16" name="Rectangle 15"/>
          <p:cNvSpPr/>
          <p:nvPr/>
        </p:nvSpPr>
        <p:spPr>
          <a:xfrm>
            <a:off x="457200" y="6492240"/>
            <a:ext cx="11274552" cy="12700"/>
          </a:xfrm>
          <a:prstGeom prst="rect">
            <a:avLst/>
          </a:prstGeom>
          <a:solidFill>
            <a:srgbClr val="E0E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6537960"/>
            <a:ext cx="5486400" cy="228600"/>
          </a:xfrm>
          <a:prstGeom prst="rect">
            <a:avLst/>
          </a:prstGeom>
          <a:noFill/>
        </p:spPr>
        <p:txBody>
          <a:bodyPr wrap="square">
            <a:spAutoFit/>
          </a:bodyPr>
          <a:lstStyle/>
          <a:p>
            <a:pPr algn="l"/>
            <a:r>
              <a:rPr b="0" i="0" sz="800">
                <a:solidFill>
                  <a:srgbClr val="9CA3AF"/>
                </a:solidFill>
              </a:rPr>
              <a:t>Maison Saclay — Projet OP-1</a:t>
            </a:r>
          </a:p>
        </p:txBody>
      </p:sp>
      <p:sp>
        <p:nvSpPr>
          <p:cNvPr id="18" name="TextBox 17"/>
          <p:cNvSpPr txBox="1"/>
          <p:nvPr/>
        </p:nvSpPr>
        <p:spPr>
          <a:xfrm>
            <a:off x="6245352" y="6537960"/>
            <a:ext cx="5486400" cy="228600"/>
          </a:xfrm>
          <a:prstGeom prst="rect">
            <a:avLst/>
          </a:prstGeom>
          <a:noFill/>
        </p:spPr>
        <p:txBody>
          <a:bodyPr wrap="square">
            <a:spAutoFit/>
          </a:bodyPr>
          <a:lstStyle/>
          <a:p>
            <a:pPr algn="r"/>
            <a:r>
              <a:rPr b="0" i="0" sz="800">
                <a:solidFill>
                  <a:srgbClr val="9CA3AF"/>
                </a:solidFill>
              </a:rPr>
              <a:t>Slide 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3500"/>
          </a:xfrm>
          <a:prstGeom prst="rect">
            <a:avLst/>
          </a:prstGeom>
          <a:gradFill rotWithShape="1">
            <a:gsLst>
              <a:gs pos="0">
                <a:srgbClr val="4F46E5"/>
              </a:gs>
              <a:gs pos="100000">
                <a:srgbClr val="4338CA"/>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9144000" cy="177800"/>
          </a:xfrm>
          <a:prstGeom prst="rect">
            <a:avLst/>
          </a:prstGeom>
          <a:noFill/>
        </p:spPr>
        <p:txBody>
          <a:bodyPr wrap="square">
            <a:spAutoFit/>
          </a:bodyPr>
          <a:lstStyle/>
          <a:p>
            <a:pPr algn="l"/>
            <a:r>
              <a:rPr b="1" i="0" sz="800">
                <a:solidFill>
                  <a:srgbClr val="4F46E5"/>
                </a:solidFill>
              </a:rPr>
              <a:t>INFRASTRUCTURE</a:t>
            </a:r>
          </a:p>
        </p:txBody>
      </p:sp>
      <p:sp>
        <p:nvSpPr>
          <p:cNvPr id="4" name="TextBox 3"/>
          <p:cNvSpPr txBox="1"/>
          <p:nvPr/>
        </p:nvSpPr>
        <p:spPr>
          <a:xfrm>
            <a:off x="457200" y="329184"/>
            <a:ext cx="11274552" cy="731520"/>
          </a:xfrm>
          <a:prstGeom prst="rect">
            <a:avLst/>
          </a:prstGeom>
          <a:noFill/>
        </p:spPr>
        <p:txBody>
          <a:bodyPr wrap="square">
            <a:spAutoFit/>
          </a:bodyPr>
          <a:lstStyle/>
          <a:p>
            <a:pPr algn="l"/>
            <a:r>
              <a:rPr b="1" i="0" sz="2600">
                <a:solidFill>
                  <a:srgbClr val="1A1A2E"/>
                </a:solidFill>
              </a:rPr>
              <a:t>Architecture Docker</a:t>
            </a:r>
          </a:p>
        </p:txBody>
      </p:sp>
      <p:sp>
        <p:nvSpPr>
          <p:cNvPr id="5" name="TextBox 4"/>
          <p:cNvSpPr txBox="1"/>
          <p:nvPr/>
        </p:nvSpPr>
        <p:spPr>
          <a:xfrm>
            <a:off x="457200" y="914400"/>
            <a:ext cx="11274552" cy="279400"/>
          </a:xfrm>
          <a:prstGeom prst="rect">
            <a:avLst/>
          </a:prstGeom>
          <a:noFill/>
        </p:spPr>
        <p:txBody>
          <a:bodyPr wrap="square">
            <a:spAutoFit/>
          </a:bodyPr>
          <a:lstStyle/>
          <a:p>
            <a:pPr algn="l"/>
            <a:r>
              <a:rPr b="0" i="0" sz="1100">
                <a:solidFill>
                  <a:srgbClr val="6B7280"/>
                </a:solidFill>
              </a:rPr>
              <a:t>8 services orchestrés — 1 seule commande : docker compose up -d</a:t>
            </a:r>
          </a:p>
        </p:txBody>
      </p:sp>
      <p:sp>
        <p:nvSpPr>
          <p:cNvPr id="6" name="Rectangle 5"/>
          <p:cNvSpPr/>
          <p:nvPr/>
        </p:nvSpPr>
        <p:spPr>
          <a:xfrm>
            <a:off x="457200" y="1463040"/>
            <a:ext cx="2679192" cy="1261872"/>
          </a:xfrm>
          <a:prstGeom prst="rect">
            <a:avLst/>
          </a:prstGeom>
          <a:solidFill>
            <a:srgbClr val="F8FAFF"/>
          </a:solidFill>
          <a:ln w="6350">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536192"/>
            <a:ext cx="2459736" cy="177800"/>
          </a:xfrm>
          <a:prstGeom prst="rect">
            <a:avLst/>
          </a:prstGeom>
          <a:noFill/>
        </p:spPr>
        <p:txBody>
          <a:bodyPr wrap="square">
            <a:spAutoFit/>
          </a:bodyPr>
          <a:lstStyle/>
          <a:p>
            <a:pPr algn="l"/>
            <a:r>
              <a:rPr b="1" i="0" sz="750">
                <a:solidFill>
                  <a:srgbClr val="4F46E5"/>
                </a:solidFill>
              </a:rPr>
              <a:t>nginx</a:t>
            </a:r>
          </a:p>
        </p:txBody>
      </p:sp>
      <p:sp>
        <p:nvSpPr>
          <p:cNvPr id="8" name="TextBox 7"/>
          <p:cNvSpPr txBox="1"/>
          <p:nvPr/>
        </p:nvSpPr>
        <p:spPr>
          <a:xfrm>
            <a:off x="566928" y="1709928"/>
            <a:ext cx="2459736" cy="941832"/>
          </a:xfrm>
          <a:prstGeom prst="rect">
            <a:avLst/>
          </a:prstGeom>
          <a:noFill/>
        </p:spPr>
        <p:txBody>
          <a:bodyPr wrap="square">
            <a:spAutoFit/>
          </a:bodyPr>
          <a:lstStyle/>
          <a:p>
            <a:pPr algn="l"/>
            <a:r>
              <a:rPr b="0" i="0" sz="850">
                <a:solidFill>
                  <a:srgbClr val="374151"/>
                </a:solidFill>
              </a:rPr>
              <a:t>Sert le frontend React · Redirige /api/* vers PHP-FPM</a:t>
            </a:r>
          </a:p>
        </p:txBody>
      </p:sp>
      <p:sp>
        <p:nvSpPr>
          <p:cNvPr id="9" name="Rectangle 8"/>
          <p:cNvSpPr/>
          <p:nvPr/>
        </p:nvSpPr>
        <p:spPr>
          <a:xfrm>
            <a:off x="3273552" y="1463040"/>
            <a:ext cx="2679192" cy="1261872"/>
          </a:xfrm>
          <a:prstGeom prst="rect">
            <a:avLst/>
          </a:prstGeom>
          <a:solidFill>
            <a:srgbClr val="F8FAFF"/>
          </a:solidFill>
          <a:ln w="6350">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83280" y="1536192"/>
            <a:ext cx="2459736" cy="177800"/>
          </a:xfrm>
          <a:prstGeom prst="rect">
            <a:avLst/>
          </a:prstGeom>
          <a:noFill/>
        </p:spPr>
        <p:txBody>
          <a:bodyPr wrap="square">
            <a:spAutoFit/>
          </a:bodyPr>
          <a:lstStyle/>
          <a:p>
            <a:pPr algn="l"/>
            <a:r>
              <a:rPr b="1" i="0" sz="750">
                <a:solidFill>
                  <a:srgbClr val="4F46E5"/>
                </a:solidFill>
              </a:rPr>
              <a:t>php 8.2-fpm</a:t>
            </a:r>
          </a:p>
        </p:txBody>
      </p:sp>
      <p:sp>
        <p:nvSpPr>
          <p:cNvPr id="11" name="TextBox 10"/>
          <p:cNvSpPr txBox="1"/>
          <p:nvPr/>
        </p:nvSpPr>
        <p:spPr>
          <a:xfrm>
            <a:off x="3383280" y="1709928"/>
            <a:ext cx="2459736" cy="941832"/>
          </a:xfrm>
          <a:prstGeom prst="rect">
            <a:avLst/>
          </a:prstGeom>
          <a:noFill/>
        </p:spPr>
        <p:txBody>
          <a:bodyPr wrap="square">
            <a:spAutoFit/>
          </a:bodyPr>
          <a:lstStyle/>
          <a:p>
            <a:pPr algn="l"/>
            <a:r>
              <a:rPr b="0" i="0" sz="850">
                <a:solidFill>
                  <a:srgbClr val="374151"/>
                </a:solidFill>
              </a:rPr>
              <a:t>API REST complète — toute la logique métier</a:t>
            </a:r>
          </a:p>
        </p:txBody>
      </p:sp>
      <p:sp>
        <p:nvSpPr>
          <p:cNvPr id="12" name="Rectangle 11"/>
          <p:cNvSpPr/>
          <p:nvPr/>
        </p:nvSpPr>
        <p:spPr>
          <a:xfrm>
            <a:off x="6089904" y="1463040"/>
            <a:ext cx="2679192" cy="1261872"/>
          </a:xfrm>
          <a:prstGeom prst="rect">
            <a:avLst/>
          </a:prstGeom>
          <a:solidFill>
            <a:srgbClr val="F8FAFF"/>
          </a:solidFill>
          <a:ln w="6350">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99632" y="1536192"/>
            <a:ext cx="2459736" cy="177800"/>
          </a:xfrm>
          <a:prstGeom prst="rect">
            <a:avLst/>
          </a:prstGeom>
          <a:noFill/>
        </p:spPr>
        <p:txBody>
          <a:bodyPr wrap="square">
            <a:spAutoFit/>
          </a:bodyPr>
          <a:lstStyle/>
          <a:p>
            <a:pPr algn="l"/>
            <a:r>
              <a:rPr b="1" i="0" sz="750">
                <a:solidFill>
                  <a:srgbClr val="4F46E5"/>
                </a:solidFill>
              </a:rPr>
              <a:t>mysql 8.0</a:t>
            </a:r>
          </a:p>
        </p:txBody>
      </p:sp>
      <p:sp>
        <p:nvSpPr>
          <p:cNvPr id="14" name="TextBox 13"/>
          <p:cNvSpPr txBox="1"/>
          <p:nvPr/>
        </p:nvSpPr>
        <p:spPr>
          <a:xfrm>
            <a:off x="6199632" y="1709928"/>
            <a:ext cx="2459736" cy="941832"/>
          </a:xfrm>
          <a:prstGeom prst="rect">
            <a:avLst/>
          </a:prstGeom>
          <a:noFill/>
        </p:spPr>
        <p:txBody>
          <a:bodyPr wrap="square">
            <a:spAutoFit/>
          </a:bodyPr>
          <a:lstStyle/>
          <a:p>
            <a:pPr algn="l"/>
            <a:r>
              <a:rPr b="0" i="0" sz="850">
                <a:solidFill>
                  <a:srgbClr val="374151"/>
                </a:solidFill>
              </a:rPr>
              <a:t>Base de données · Volume persistant (données survivent aux redémarrages)</a:t>
            </a:r>
          </a:p>
        </p:txBody>
      </p:sp>
      <p:sp>
        <p:nvSpPr>
          <p:cNvPr id="15" name="Rectangle 14"/>
          <p:cNvSpPr/>
          <p:nvPr/>
        </p:nvSpPr>
        <p:spPr>
          <a:xfrm>
            <a:off x="8906256" y="1463040"/>
            <a:ext cx="2679192" cy="1261872"/>
          </a:xfrm>
          <a:prstGeom prst="rect">
            <a:avLst/>
          </a:prstGeom>
          <a:solidFill>
            <a:srgbClr val="F8FAFF"/>
          </a:solidFill>
          <a:ln w="6350">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15984" y="1536192"/>
            <a:ext cx="2459736" cy="177800"/>
          </a:xfrm>
          <a:prstGeom prst="rect">
            <a:avLst/>
          </a:prstGeom>
          <a:noFill/>
        </p:spPr>
        <p:txBody>
          <a:bodyPr wrap="square">
            <a:spAutoFit/>
          </a:bodyPr>
          <a:lstStyle/>
          <a:p>
            <a:pPr algn="l"/>
            <a:r>
              <a:rPr b="1" i="0" sz="750">
                <a:solidFill>
                  <a:srgbClr val="4F46E5"/>
                </a:solidFill>
              </a:rPr>
              <a:t>phpmyadmin</a:t>
            </a:r>
          </a:p>
        </p:txBody>
      </p:sp>
      <p:sp>
        <p:nvSpPr>
          <p:cNvPr id="17" name="TextBox 16"/>
          <p:cNvSpPr txBox="1"/>
          <p:nvPr/>
        </p:nvSpPr>
        <p:spPr>
          <a:xfrm>
            <a:off x="9015984" y="1709928"/>
            <a:ext cx="2459736" cy="941832"/>
          </a:xfrm>
          <a:prstGeom prst="rect">
            <a:avLst/>
          </a:prstGeom>
          <a:noFill/>
        </p:spPr>
        <p:txBody>
          <a:bodyPr wrap="square">
            <a:spAutoFit/>
          </a:bodyPr>
          <a:lstStyle/>
          <a:p>
            <a:pPr algn="l"/>
            <a:r>
              <a:rPr b="0" i="0" sz="850">
                <a:solidFill>
                  <a:srgbClr val="374151"/>
                </a:solidFill>
              </a:rPr>
              <a:t>Interface web DB · Accessible uniquement depuis localhost (sécurisé)</a:t>
            </a:r>
          </a:p>
        </p:txBody>
      </p:sp>
      <p:sp>
        <p:nvSpPr>
          <p:cNvPr id="18" name="Rectangle 17"/>
          <p:cNvSpPr/>
          <p:nvPr/>
        </p:nvSpPr>
        <p:spPr>
          <a:xfrm>
            <a:off x="457200" y="2834640"/>
            <a:ext cx="2679192" cy="1261872"/>
          </a:xfrm>
          <a:prstGeom prst="rect">
            <a:avLst/>
          </a:prstGeom>
          <a:solidFill>
            <a:srgbClr val="F8FAFF"/>
          </a:solidFill>
          <a:ln w="6350">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2907792"/>
            <a:ext cx="2459736" cy="177800"/>
          </a:xfrm>
          <a:prstGeom prst="rect">
            <a:avLst/>
          </a:prstGeom>
          <a:noFill/>
        </p:spPr>
        <p:txBody>
          <a:bodyPr wrap="square">
            <a:spAutoFit/>
          </a:bodyPr>
          <a:lstStyle/>
          <a:p>
            <a:pPr algn="l"/>
            <a:r>
              <a:rPr b="1" i="0" sz="750">
                <a:solidFill>
                  <a:srgbClr val="4F46E5"/>
                </a:solidFill>
              </a:rPr>
              <a:t>freeradius</a:t>
            </a:r>
          </a:p>
        </p:txBody>
      </p:sp>
      <p:sp>
        <p:nvSpPr>
          <p:cNvPr id="20" name="TextBox 19"/>
          <p:cNvSpPr txBox="1"/>
          <p:nvPr/>
        </p:nvSpPr>
        <p:spPr>
          <a:xfrm>
            <a:off x="566928" y="3081528"/>
            <a:ext cx="2459736" cy="941832"/>
          </a:xfrm>
          <a:prstGeom prst="rect">
            <a:avLst/>
          </a:prstGeom>
          <a:noFill/>
        </p:spPr>
        <p:txBody>
          <a:bodyPr wrap="square">
            <a:spAutoFit/>
          </a:bodyPr>
          <a:lstStyle/>
          <a:p>
            <a:pPr algn="l"/>
            <a:r>
              <a:rPr b="0" i="0" sz="850">
                <a:solidFill>
                  <a:srgbClr val="374151"/>
                </a:solidFill>
              </a:rPr>
              <a:t>Authentification WiFi RADIUS · Chambres 101–603 configurées</a:t>
            </a:r>
          </a:p>
        </p:txBody>
      </p:sp>
      <p:sp>
        <p:nvSpPr>
          <p:cNvPr id="21" name="Rectangle 20"/>
          <p:cNvSpPr/>
          <p:nvPr/>
        </p:nvSpPr>
        <p:spPr>
          <a:xfrm>
            <a:off x="3273552" y="2834640"/>
            <a:ext cx="2679192" cy="1261872"/>
          </a:xfrm>
          <a:prstGeom prst="rect">
            <a:avLst/>
          </a:prstGeom>
          <a:solidFill>
            <a:srgbClr val="F8FAFF"/>
          </a:solidFill>
          <a:ln w="6350">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383280" y="2907792"/>
            <a:ext cx="2459736" cy="177800"/>
          </a:xfrm>
          <a:prstGeom prst="rect">
            <a:avLst/>
          </a:prstGeom>
          <a:noFill/>
        </p:spPr>
        <p:txBody>
          <a:bodyPr wrap="square">
            <a:spAutoFit/>
          </a:bodyPr>
          <a:lstStyle/>
          <a:p>
            <a:pPr algn="l"/>
            <a:r>
              <a:rPr b="1" i="0" sz="750">
                <a:solidFill>
                  <a:srgbClr val="4F46E5"/>
                </a:solidFill>
              </a:rPr>
              <a:t>asterisk 16</a:t>
            </a:r>
          </a:p>
        </p:txBody>
      </p:sp>
      <p:sp>
        <p:nvSpPr>
          <p:cNvPr id="23" name="TextBox 22"/>
          <p:cNvSpPr txBox="1"/>
          <p:nvPr/>
        </p:nvSpPr>
        <p:spPr>
          <a:xfrm>
            <a:off x="3383280" y="3081528"/>
            <a:ext cx="2459736" cy="941832"/>
          </a:xfrm>
          <a:prstGeom prst="rect">
            <a:avLst/>
          </a:prstGeom>
          <a:noFill/>
        </p:spPr>
        <p:txBody>
          <a:bodyPr wrap="square">
            <a:spAutoFit/>
          </a:bodyPr>
          <a:lstStyle/>
          <a:p>
            <a:pPr algn="l"/>
            <a:r>
              <a:rPr b="0" i="0" sz="850">
                <a:solidFill>
                  <a:srgbClr val="374151"/>
                </a:solidFill>
              </a:rPr>
              <a:t>Téléphonie IP · 10 extensions SIP (1001-1009 + réception 1099)</a:t>
            </a:r>
          </a:p>
        </p:txBody>
      </p:sp>
      <p:sp>
        <p:nvSpPr>
          <p:cNvPr id="24" name="Rectangle 23"/>
          <p:cNvSpPr/>
          <p:nvPr/>
        </p:nvSpPr>
        <p:spPr>
          <a:xfrm>
            <a:off x="6089904" y="2834640"/>
            <a:ext cx="2679192" cy="1261872"/>
          </a:xfrm>
          <a:prstGeom prst="rect">
            <a:avLst/>
          </a:prstGeom>
          <a:solidFill>
            <a:srgbClr val="F8FAFF"/>
          </a:solidFill>
          <a:ln w="6350">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99632" y="2907792"/>
            <a:ext cx="2459736" cy="177800"/>
          </a:xfrm>
          <a:prstGeom prst="rect">
            <a:avLst/>
          </a:prstGeom>
          <a:noFill/>
        </p:spPr>
        <p:txBody>
          <a:bodyPr wrap="square">
            <a:spAutoFit/>
          </a:bodyPr>
          <a:lstStyle/>
          <a:p>
            <a:pPr algn="l"/>
            <a:r>
              <a:rPr b="1" i="0" sz="750">
                <a:solidFill>
                  <a:srgbClr val="4F46E5"/>
                </a:solidFill>
              </a:rPr>
              <a:t>worker</a:t>
            </a:r>
          </a:p>
        </p:txBody>
      </p:sp>
      <p:sp>
        <p:nvSpPr>
          <p:cNvPr id="26" name="TextBox 25"/>
          <p:cNvSpPr txBox="1"/>
          <p:nvPr/>
        </p:nvSpPr>
        <p:spPr>
          <a:xfrm>
            <a:off x="6199632" y="3081528"/>
            <a:ext cx="2459736" cy="941832"/>
          </a:xfrm>
          <a:prstGeom prst="rect">
            <a:avLst/>
          </a:prstGeom>
          <a:noFill/>
        </p:spPr>
        <p:txBody>
          <a:bodyPr wrap="square">
            <a:spAutoFit/>
          </a:bodyPr>
          <a:lstStyle/>
          <a:p>
            <a:pPr algn="l"/>
            <a:r>
              <a:rPr b="0" i="0" sz="850">
                <a:solidFill>
                  <a:srgbClr val="374151"/>
                </a:solidFill>
              </a:rPr>
              <a:t>Worker Telegram · Répond aux clics sur les boutons de notification</a:t>
            </a:r>
          </a:p>
        </p:txBody>
      </p:sp>
      <p:sp>
        <p:nvSpPr>
          <p:cNvPr id="27" name="Rectangle 26"/>
          <p:cNvSpPr/>
          <p:nvPr/>
        </p:nvSpPr>
        <p:spPr>
          <a:xfrm>
            <a:off x="8906256" y="2834640"/>
            <a:ext cx="2679192" cy="1261872"/>
          </a:xfrm>
          <a:prstGeom prst="rect">
            <a:avLst/>
          </a:prstGeom>
          <a:solidFill>
            <a:srgbClr val="F8FAFF"/>
          </a:solidFill>
          <a:ln w="6350">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15984" y="2907792"/>
            <a:ext cx="2459736" cy="177800"/>
          </a:xfrm>
          <a:prstGeom prst="rect">
            <a:avLst/>
          </a:prstGeom>
          <a:noFill/>
        </p:spPr>
        <p:txBody>
          <a:bodyPr wrap="square">
            <a:spAutoFit/>
          </a:bodyPr>
          <a:lstStyle/>
          <a:p>
            <a:pPr algn="l"/>
            <a:r>
              <a:rPr b="1" i="0" sz="750">
                <a:solidFill>
                  <a:srgbClr val="4F46E5"/>
                </a:solidFill>
              </a:rPr>
              <a:t>hotel-net</a:t>
            </a:r>
          </a:p>
        </p:txBody>
      </p:sp>
      <p:sp>
        <p:nvSpPr>
          <p:cNvPr id="29" name="TextBox 28"/>
          <p:cNvSpPr txBox="1"/>
          <p:nvPr/>
        </p:nvSpPr>
        <p:spPr>
          <a:xfrm>
            <a:off x="9015984" y="3081528"/>
            <a:ext cx="2459736" cy="941832"/>
          </a:xfrm>
          <a:prstGeom prst="rect">
            <a:avLst/>
          </a:prstGeom>
          <a:noFill/>
        </p:spPr>
        <p:txBody>
          <a:bodyPr wrap="square">
            <a:spAutoFit/>
          </a:bodyPr>
          <a:lstStyle/>
          <a:p>
            <a:pPr algn="l"/>
            <a:r>
              <a:rPr b="0" i="0" sz="850">
                <a:solidFill>
                  <a:srgbClr val="374151"/>
                </a:solidFill>
              </a:rPr>
              <a:t>Réseau Docker interne · Services communiquent par nom de container</a:t>
            </a:r>
          </a:p>
        </p:txBody>
      </p:sp>
      <p:sp>
        <p:nvSpPr>
          <p:cNvPr id="30" name="Rectangle 29"/>
          <p:cNvSpPr/>
          <p:nvPr/>
        </p:nvSpPr>
        <p:spPr>
          <a:xfrm>
            <a:off x="457200" y="5806440"/>
            <a:ext cx="11274552" cy="658368"/>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5806440"/>
            <a:ext cx="50800" cy="65836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5843016"/>
            <a:ext cx="2743200" cy="152400"/>
          </a:xfrm>
          <a:prstGeom prst="rect">
            <a:avLst/>
          </a:prstGeom>
          <a:noFill/>
        </p:spPr>
        <p:txBody>
          <a:bodyPr wrap="square">
            <a:spAutoFit/>
          </a:bodyPr>
          <a:lstStyle/>
          <a:p>
            <a:pPr algn="l"/>
            <a:r>
              <a:rPr b="1" i="0" sz="750">
                <a:solidFill>
                  <a:srgbClr val="4F46E5"/>
                </a:solidFill>
              </a:rPr>
              <a:t>À dire à l'oral</a:t>
            </a:r>
          </a:p>
        </p:txBody>
      </p:sp>
      <p:sp>
        <p:nvSpPr>
          <p:cNvPr id="33" name="TextBox 32"/>
          <p:cNvSpPr txBox="1"/>
          <p:nvPr/>
        </p:nvSpPr>
        <p:spPr>
          <a:xfrm>
            <a:off x="640080" y="6007608"/>
            <a:ext cx="10908792" cy="411480"/>
          </a:xfrm>
          <a:prstGeom prst="rect">
            <a:avLst/>
          </a:prstGeom>
          <a:noFill/>
        </p:spPr>
        <p:txBody>
          <a:bodyPr wrap="square">
            <a:spAutoFit/>
          </a:bodyPr>
          <a:lstStyle/>
          <a:p>
            <a:pPr algn="l"/>
            <a:r>
              <a:rPr b="0" i="1" sz="900">
                <a:solidFill>
                  <a:srgbClr val="4B5563"/>
                </a:solidFill>
              </a:rPr>
              <a:t>"Docker permet de déployer l'ensemble du projet en une seule commande. Chaque service est isolé dans son container. Les données MySQL sont dans un volume persistant — elles survivent aux redémarrages et aux mises à jour."</a:t>
            </a:r>
          </a:p>
        </p:txBody>
      </p:sp>
      <p:sp>
        <p:nvSpPr>
          <p:cNvPr id="34" name="Rectangle 33"/>
          <p:cNvSpPr/>
          <p:nvPr/>
        </p:nvSpPr>
        <p:spPr>
          <a:xfrm>
            <a:off x="457200" y="6492240"/>
            <a:ext cx="11274552" cy="12700"/>
          </a:xfrm>
          <a:prstGeom prst="rect">
            <a:avLst/>
          </a:prstGeom>
          <a:solidFill>
            <a:srgbClr val="E0E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6537960"/>
            <a:ext cx="5486400" cy="228600"/>
          </a:xfrm>
          <a:prstGeom prst="rect">
            <a:avLst/>
          </a:prstGeom>
          <a:noFill/>
        </p:spPr>
        <p:txBody>
          <a:bodyPr wrap="square">
            <a:spAutoFit/>
          </a:bodyPr>
          <a:lstStyle/>
          <a:p>
            <a:pPr algn="l"/>
            <a:r>
              <a:rPr b="0" i="0" sz="800">
                <a:solidFill>
                  <a:srgbClr val="9CA3AF"/>
                </a:solidFill>
              </a:rPr>
              <a:t>Maison Saclay — Projet OP-1</a:t>
            </a:r>
          </a:p>
        </p:txBody>
      </p:sp>
      <p:sp>
        <p:nvSpPr>
          <p:cNvPr id="36" name="TextBox 35"/>
          <p:cNvSpPr txBox="1"/>
          <p:nvPr/>
        </p:nvSpPr>
        <p:spPr>
          <a:xfrm>
            <a:off x="6245352" y="6537960"/>
            <a:ext cx="5486400" cy="228600"/>
          </a:xfrm>
          <a:prstGeom prst="rect">
            <a:avLst/>
          </a:prstGeom>
          <a:noFill/>
        </p:spPr>
        <p:txBody>
          <a:bodyPr wrap="square">
            <a:spAutoFit/>
          </a:bodyPr>
          <a:lstStyle/>
          <a:p>
            <a:pPr algn="r"/>
            <a:r>
              <a:rPr b="0" i="0" sz="800">
                <a:solidFill>
                  <a:srgbClr val="9CA3AF"/>
                </a:solidFill>
              </a:rPr>
              <a:t>Slide 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3500"/>
          </a:xfrm>
          <a:prstGeom prst="rect">
            <a:avLst/>
          </a:prstGeom>
          <a:gradFill rotWithShape="1">
            <a:gsLst>
              <a:gs pos="0">
                <a:srgbClr val="4F46E5"/>
              </a:gs>
              <a:gs pos="100000">
                <a:srgbClr val="4338CA"/>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9144000" cy="177800"/>
          </a:xfrm>
          <a:prstGeom prst="rect">
            <a:avLst/>
          </a:prstGeom>
          <a:noFill/>
        </p:spPr>
        <p:txBody>
          <a:bodyPr wrap="square">
            <a:spAutoFit/>
          </a:bodyPr>
          <a:lstStyle/>
          <a:p>
            <a:pPr algn="l"/>
            <a:r>
              <a:rPr b="1" i="0" sz="800">
                <a:solidFill>
                  <a:srgbClr val="4F46E5"/>
                </a:solidFill>
              </a:rPr>
              <a:t>FRONTEND</a:t>
            </a:r>
          </a:p>
        </p:txBody>
      </p:sp>
      <p:sp>
        <p:nvSpPr>
          <p:cNvPr id="4" name="TextBox 3"/>
          <p:cNvSpPr txBox="1"/>
          <p:nvPr/>
        </p:nvSpPr>
        <p:spPr>
          <a:xfrm>
            <a:off x="457200" y="329184"/>
            <a:ext cx="11274552" cy="731520"/>
          </a:xfrm>
          <a:prstGeom prst="rect">
            <a:avLst/>
          </a:prstGeom>
          <a:noFill/>
        </p:spPr>
        <p:txBody>
          <a:bodyPr wrap="square">
            <a:spAutoFit/>
          </a:bodyPr>
          <a:lstStyle/>
          <a:p>
            <a:pPr algn="l"/>
            <a:r>
              <a:rPr b="1" i="0" sz="2600">
                <a:solidFill>
                  <a:srgbClr val="1A1A2E"/>
                </a:solidFill>
              </a:rPr>
              <a:t>Site public hôtel</a:t>
            </a:r>
          </a:p>
        </p:txBody>
      </p:sp>
      <p:sp>
        <p:nvSpPr>
          <p:cNvPr id="5" name="TextBox 4"/>
          <p:cNvSpPr txBox="1"/>
          <p:nvPr/>
        </p:nvSpPr>
        <p:spPr>
          <a:xfrm>
            <a:off x="457200" y="914400"/>
            <a:ext cx="11274552" cy="279400"/>
          </a:xfrm>
          <a:prstGeom prst="rect">
            <a:avLst/>
          </a:prstGeom>
          <a:noFill/>
        </p:spPr>
        <p:txBody>
          <a:bodyPr wrap="square">
            <a:spAutoFit/>
          </a:bodyPr>
          <a:lstStyle/>
          <a:p>
            <a:pPr algn="l"/>
            <a:r>
              <a:rPr b="0" i="0" sz="1100">
                <a:solidFill>
                  <a:srgbClr val="6B7280"/>
                </a:solidFill>
              </a:rPr>
              <a:t>SPA React — Single Page Application</a:t>
            </a:r>
          </a:p>
        </p:txBody>
      </p:sp>
      <p:sp>
        <p:nvSpPr>
          <p:cNvPr id="6" name="TextBox 5"/>
          <p:cNvSpPr txBox="1"/>
          <p:nvPr/>
        </p:nvSpPr>
        <p:spPr>
          <a:xfrm>
            <a:off x="457200" y="1234440"/>
            <a:ext cx="11274552" cy="1828800"/>
          </a:xfrm>
          <a:prstGeom prst="rect">
            <a:avLst/>
          </a:prstGeom>
          <a:noFill/>
        </p:spPr>
        <p:txBody>
          <a:bodyPr wrap="square">
            <a:spAutoFit/>
          </a:bodyPr>
          <a:lstStyle/>
          <a:p>
            <a:pPr>
              <a:spcBef>
                <a:spcPts val="300"/>
              </a:spcBef>
            </a:pPr>
            <a:r>
              <a:rPr sz="600" b="1">
                <a:solidFill>
                  <a:srgbClr val="4F46E5"/>
                </a:solidFill>
              </a:rPr>
              <a:t>●  </a:t>
            </a:r>
            <a:r>
              <a:rPr b="1" sz="1100">
                <a:solidFill>
                  <a:srgbClr val="1A1A2E"/>
                </a:solidFill>
              </a:rPr>
              <a:t>Page d'accueil : </a:t>
            </a:r>
            <a:r>
              <a:rPr b="0" sz="1100">
                <a:solidFill>
                  <a:srgbClr val="1A1A2E"/>
                </a:solidFill>
              </a:rPr>
              <a:t>présentation de l'hôtel, navigation vers les sections</a:t>
            </a:r>
          </a:p>
          <a:p>
            <a:pPr>
              <a:spcBef>
                <a:spcPts val="300"/>
              </a:spcBef>
            </a:pPr>
            <a:r>
              <a:rPr sz="600" b="1">
                <a:solidFill>
                  <a:srgbClr val="4F46E5"/>
                </a:solidFill>
              </a:rPr>
              <a:t>●  </a:t>
            </a:r>
            <a:r>
              <a:rPr b="1" sz="1100">
                <a:solidFill>
                  <a:srgbClr val="1A1A2E"/>
                </a:solidFill>
              </a:rPr>
              <a:t>Catalogue des chambres : </a:t>
            </a:r>
            <a:r>
              <a:rPr b="0" sz="1100">
                <a:solidFill>
                  <a:srgbClr val="1A1A2E"/>
                </a:solidFill>
              </a:rPr>
              <a:t>3 types — Deluxe (38 m²), Suite (72 m²), Penthouse (210 m²)</a:t>
            </a:r>
          </a:p>
          <a:p>
            <a:pPr>
              <a:spcBef>
                <a:spcPts val="300"/>
              </a:spcBef>
            </a:pPr>
            <a:r>
              <a:rPr sz="600" b="1">
                <a:solidFill>
                  <a:srgbClr val="4F46E5"/>
                </a:solidFill>
              </a:rPr>
              <a:t>●  </a:t>
            </a:r>
            <a:r>
              <a:rPr b="1" sz="1100">
                <a:solidFill>
                  <a:srgbClr val="1A1A2E"/>
                </a:solidFill>
              </a:rPr>
              <a:t>Formulaire de réservation : </a:t>
            </a:r>
            <a:r>
              <a:rPr b="0" sz="1100">
                <a:solidFill>
                  <a:srgbClr val="1A1A2E"/>
                </a:solidFill>
              </a:rPr>
              <a:t>choix des dates, nombre de voyageurs, calcul automatique du prix</a:t>
            </a:r>
          </a:p>
          <a:p>
            <a:pPr>
              <a:spcBef>
                <a:spcPts val="300"/>
              </a:spcBef>
            </a:pPr>
            <a:r>
              <a:rPr sz="600" b="1">
                <a:solidFill>
                  <a:srgbClr val="4F46E5"/>
                </a:solidFill>
              </a:rPr>
              <a:t>●  </a:t>
            </a:r>
            <a:r>
              <a:rPr b="1" sz="1100">
                <a:solidFill>
                  <a:srgbClr val="1A1A2E"/>
                </a:solidFill>
              </a:rPr>
              <a:t>Page de confirmation : </a:t>
            </a:r>
            <a:r>
              <a:rPr b="0" sz="1100">
                <a:solidFill>
                  <a:srgbClr val="1A1A2E"/>
                </a:solidFill>
              </a:rPr>
              <a:t>numéro de chambre physique attribuée + extension téléphonique</a:t>
            </a:r>
          </a:p>
          <a:p>
            <a:pPr>
              <a:spcBef>
                <a:spcPts val="300"/>
              </a:spcBef>
            </a:pPr>
            <a:r>
              <a:rPr sz="600" b="1">
                <a:solidFill>
                  <a:srgbClr val="4F46E5"/>
                </a:solidFill>
              </a:rPr>
              <a:t>●  </a:t>
            </a:r>
            <a:r>
              <a:rPr b="1" sz="1100">
                <a:solidFill>
                  <a:srgbClr val="1A1A2E"/>
                </a:solidFill>
              </a:rPr>
              <a:t>Room service : </a:t>
            </a:r>
            <a:r>
              <a:rPr b="0" sz="1100">
                <a:solidFill>
                  <a:srgbClr val="1A1A2E"/>
                </a:solidFill>
              </a:rPr>
              <a:t>commander un repas depuis sa chambre, livraison suivie en temps réel</a:t>
            </a:r>
          </a:p>
        </p:txBody>
      </p:sp>
      <p:sp>
        <p:nvSpPr>
          <p:cNvPr id="7" name="Rectangle 6"/>
          <p:cNvSpPr/>
          <p:nvPr/>
        </p:nvSpPr>
        <p:spPr>
          <a:xfrm>
            <a:off x="457200" y="3291840"/>
            <a:ext cx="1417320" cy="292608"/>
          </a:xfrm>
          <a:prstGeom prst="rect">
            <a:avLst/>
          </a:prstGeom>
          <a:solidFill>
            <a:srgbClr val="EDE9FE"/>
          </a:solidFill>
          <a:ln w="5080">
            <a:solidFill>
              <a:srgbClr val="C4B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8000" y="3310128"/>
            <a:ext cx="1344168" cy="256032"/>
          </a:xfrm>
          <a:prstGeom prst="rect">
            <a:avLst/>
          </a:prstGeom>
          <a:noFill/>
        </p:spPr>
        <p:txBody>
          <a:bodyPr wrap="square">
            <a:spAutoFit/>
          </a:bodyPr>
          <a:lstStyle/>
          <a:p>
            <a:pPr algn="l"/>
            <a:r>
              <a:rPr b="1" i="0" sz="800">
                <a:solidFill>
                  <a:srgbClr val="4338CA"/>
                </a:solidFill>
              </a:rPr>
              <a:t>React 18</a:t>
            </a:r>
          </a:p>
        </p:txBody>
      </p:sp>
      <p:sp>
        <p:nvSpPr>
          <p:cNvPr id="9" name="Rectangle 8"/>
          <p:cNvSpPr/>
          <p:nvPr/>
        </p:nvSpPr>
        <p:spPr>
          <a:xfrm>
            <a:off x="1965960" y="3291840"/>
            <a:ext cx="1417320" cy="292608"/>
          </a:xfrm>
          <a:prstGeom prst="rect">
            <a:avLst/>
          </a:prstGeom>
          <a:solidFill>
            <a:srgbClr val="EDE9FE"/>
          </a:solidFill>
          <a:ln w="5080">
            <a:solidFill>
              <a:srgbClr val="C4B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6760" y="3310128"/>
            <a:ext cx="1344168" cy="256032"/>
          </a:xfrm>
          <a:prstGeom prst="rect">
            <a:avLst/>
          </a:prstGeom>
          <a:noFill/>
        </p:spPr>
        <p:txBody>
          <a:bodyPr wrap="square">
            <a:spAutoFit/>
          </a:bodyPr>
          <a:lstStyle/>
          <a:p>
            <a:pPr algn="l"/>
            <a:r>
              <a:rPr b="1" i="0" sz="800">
                <a:solidFill>
                  <a:srgbClr val="4338CA"/>
                </a:solidFill>
              </a:rPr>
              <a:t>TypeScript</a:t>
            </a:r>
          </a:p>
        </p:txBody>
      </p:sp>
      <p:sp>
        <p:nvSpPr>
          <p:cNvPr id="11" name="Rectangle 10"/>
          <p:cNvSpPr/>
          <p:nvPr/>
        </p:nvSpPr>
        <p:spPr>
          <a:xfrm>
            <a:off x="3474720" y="3291840"/>
            <a:ext cx="1417320" cy="292608"/>
          </a:xfrm>
          <a:prstGeom prst="rect">
            <a:avLst/>
          </a:prstGeom>
          <a:solidFill>
            <a:srgbClr val="EDE9FE"/>
          </a:solidFill>
          <a:ln w="5080">
            <a:solidFill>
              <a:srgbClr val="C4B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25520" y="3310128"/>
            <a:ext cx="1344168" cy="256032"/>
          </a:xfrm>
          <a:prstGeom prst="rect">
            <a:avLst/>
          </a:prstGeom>
          <a:noFill/>
        </p:spPr>
        <p:txBody>
          <a:bodyPr wrap="square">
            <a:spAutoFit/>
          </a:bodyPr>
          <a:lstStyle/>
          <a:p>
            <a:pPr algn="l"/>
            <a:r>
              <a:rPr b="1" i="0" sz="800">
                <a:solidFill>
                  <a:srgbClr val="4338CA"/>
                </a:solidFill>
              </a:rPr>
              <a:t>Tailwind CSS</a:t>
            </a:r>
          </a:p>
        </p:txBody>
      </p:sp>
      <p:sp>
        <p:nvSpPr>
          <p:cNvPr id="13" name="Rectangle 12"/>
          <p:cNvSpPr/>
          <p:nvPr/>
        </p:nvSpPr>
        <p:spPr>
          <a:xfrm>
            <a:off x="4983480" y="3291840"/>
            <a:ext cx="1417320" cy="292608"/>
          </a:xfrm>
          <a:prstGeom prst="rect">
            <a:avLst/>
          </a:prstGeom>
          <a:solidFill>
            <a:srgbClr val="EDE9FE"/>
          </a:solidFill>
          <a:ln w="5080">
            <a:solidFill>
              <a:srgbClr val="C4B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34280" y="3310128"/>
            <a:ext cx="1344168" cy="256032"/>
          </a:xfrm>
          <a:prstGeom prst="rect">
            <a:avLst/>
          </a:prstGeom>
          <a:noFill/>
        </p:spPr>
        <p:txBody>
          <a:bodyPr wrap="square">
            <a:spAutoFit/>
          </a:bodyPr>
          <a:lstStyle/>
          <a:p>
            <a:pPr algn="l"/>
            <a:r>
              <a:rPr b="1" i="0" sz="800">
                <a:solidFill>
                  <a:srgbClr val="4338CA"/>
                </a:solidFill>
              </a:rPr>
              <a:t>React Router</a:t>
            </a:r>
          </a:p>
        </p:txBody>
      </p:sp>
      <p:sp>
        <p:nvSpPr>
          <p:cNvPr id="15" name="Rectangle 14"/>
          <p:cNvSpPr/>
          <p:nvPr/>
        </p:nvSpPr>
        <p:spPr>
          <a:xfrm>
            <a:off x="6492240" y="3291840"/>
            <a:ext cx="1417320" cy="292608"/>
          </a:xfrm>
          <a:prstGeom prst="rect">
            <a:avLst/>
          </a:prstGeom>
          <a:solidFill>
            <a:srgbClr val="EDE9FE"/>
          </a:solidFill>
          <a:ln w="5080">
            <a:solidFill>
              <a:srgbClr val="C4B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43040" y="3310128"/>
            <a:ext cx="1344168" cy="256032"/>
          </a:xfrm>
          <a:prstGeom prst="rect">
            <a:avLst/>
          </a:prstGeom>
          <a:noFill/>
        </p:spPr>
        <p:txBody>
          <a:bodyPr wrap="square">
            <a:spAutoFit/>
          </a:bodyPr>
          <a:lstStyle/>
          <a:p>
            <a:pPr algn="l"/>
            <a:r>
              <a:rPr b="1" i="0" sz="800">
                <a:solidFill>
                  <a:srgbClr val="4338CA"/>
                </a:solidFill>
              </a:rPr>
              <a:t>Vite (build)</a:t>
            </a:r>
          </a:p>
        </p:txBody>
      </p:sp>
      <p:sp>
        <p:nvSpPr>
          <p:cNvPr id="17" name="Rectangle 16"/>
          <p:cNvSpPr/>
          <p:nvPr/>
        </p:nvSpPr>
        <p:spPr>
          <a:xfrm>
            <a:off x="8001000" y="3291840"/>
            <a:ext cx="1417320" cy="292608"/>
          </a:xfrm>
          <a:prstGeom prst="rect">
            <a:avLst/>
          </a:prstGeom>
          <a:solidFill>
            <a:srgbClr val="EDE9FE"/>
          </a:solidFill>
          <a:ln w="5080">
            <a:solidFill>
              <a:srgbClr val="C4B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51800" y="3310128"/>
            <a:ext cx="1344168" cy="256032"/>
          </a:xfrm>
          <a:prstGeom prst="rect">
            <a:avLst/>
          </a:prstGeom>
          <a:noFill/>
        </p:spPr>
        <p:txBody>
          <a:bodyPr wrap="square">
            <a:spAutoFit/>
          </a:bodyPr>
          <a:lstStyle/>
          <a:p>
            <a:pPr algn="l"/>
            <a:r>
              <a:rPr b="1" i="0" sz="800">
                <a:solidFill>
                  <a:srgbClr val="4338CA"/>
                </a:solidFill>
              </a:rPr>
              <a:t>Framer Motion</a:t>
            </a:r>
          </a:p>
        </p:txBody>
      </p:sp>
      <p:sp>
        <p:nvSpPr>
          <p:cNvPr id="19" name="Rectangle 18"/>
          <p:cNvSpPr/>
          <p:nvPr/>
        </p:nvSpPr>
        <p:spPr>
          <a:xfrm>
            <a:off x="457200" y="3794760"/>
            <a:ext cx="11274552" cy="1005840"/>
          </a:xfrm>
          <a:prstGeom prst="rect">
            <a:avLst/>
          </a:prstGeom>
          <a:solidFill>
            <a:srgbClr val="F8FAFF"/>
          </a:solidFill>
          <a:ln w="6350">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867912"/>
            <a:ext cx="11055096" cy="177800"/>
          </a:xfrm>
          <a:prstGeom prst="rect">
            <a:avLst/>
          </a:prstGeom>
          <a:noFill/>
        </p:spPr>
        <p:txBody>
          <a:bodyPr wrap="square">
            <a:spAutoFit/>
          </a:bodyPr>
          <a:lstStyle/>
          <a:p>
            <a:pPr algn="l"/>
            <a:r>
              <a:rPr b="1" i="0" sz="750">
                <a:solidFill>
                  <a:srgbClr val="4F46E5"/>
                </a:solidFill>
              </a:rPr>
              <a:t>COMMUNICATION FRONTEND → BACKEND</a:t>
            </a:r>
          </a:p>
        </p:txBody>
      </p:sp>
      <p:sp>
        <p:nvSpPr>
          <p:cNvPr id="21" name="TextBox 20"/>
          <p:cNvSpPr txBox="1"/>
          <p:nvPr/>
        </p:nvSpPr>
        <p:spPr>
          <a:xfrm>
            <a:off x="566928" y="4041648"/>
            <a:ext cx="11055096" cy="685800"/>
          </a:xfrm>
          <a:prstGeom prst="rect">
            <a:avLst/>
          </a:prstGeom>
          <a:noFill/>
        </p:spPr>
        <p:txBody>
          <a:bodyPr wrap="square">
            <a:spAutoFit/>
          </a:bodyPr>
          <a:lstStyle/>
          <a:p>
            <a:pPr algn="l"/>
            <a:r>
              <a:rPr b="0" i="0" sz="850">
                <a:solidFill>
                  <a:srgbClr val="374151"/>
                </a:solidFill>
              </a:rPr>
              <a:t>Centralisée dans api.ts — ajoute automatiquement le token JWT dans chaque requête HTTP. Le backend répond toujours en JSON avec success: true/false.</a:t>
            </a:r>
          </a:p>
        </p:txBody>
      </p:sp>
      <p:sp>
        <p:nvSpPr>
          <p:cNvPr id="22" name="Rectangle 21"/>
          <p:cNvSpPr/>
          <p:nvPr/>
        </p:nvSpPr>
        <p:spPr>
          <a:xfrm>
            <a:off x="457200" y="5806440"/>
            <a:ext cx="11274552" cy="658368"/>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5806440"/>
            <a:ext cx="50800" cy="65836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5843016"/>
            <a:ext cx="2743200" cy="152400"/>
          </a:xfrm>
          <a:prstGeom prst="rect">
            <a:avLst/>
          </a:prstGeom>
          <a:noFill/>
        </p:spPr>
        <p:txBody>
          <a:bodyPr wrap="square">
            <a:spAutoFit/>
          </a:bodyPr>
          <a:lstStyle/>
          <a:p>
            <a:pPr algn="l"/>
            <a:r>
              <a:rPr b="1" i="0" sz="750">
                <a:solidFill>
                  <a:srgbClr val="4F46E5"/>
                </a:solidFill>
              </a:rPr>
              <a:t>À dire à l'oral</a:t>
            </a:r>
          </a:p>
        </p:txBody>
      </p:sp>
      <p:sp>
        <p:nvSpPr>
          <p:cNvPr id="25" name="TextBox 24"/>
          <p:cNvSpPr txBox="1"/>
          <p:nvPr/>
        </p:nvSpPr>
        <p:spPr>
          <a:xfrm>
            <a:off x="640080" y="6007608"/>
            <a:ext cx="10908792" cy="411480"/>
          </a:xfrm>
          <a:prstGeom prst="rect">
            <a:avLst/>
          </a:prstGeom>
          <a:noFill/>
        </p:spPr>
        <p:txBody>
          <a:bodyPr wrap="square">
            <a:spAutoFit/>
          </a:bodyPr>
          <a:lstStyle/>
          <a:p>
            <a:pPr algn="l"/>
            <a:r>
              <a:rPr b="0" i="1" sz="900">
                <a:solidFill>
                  <a:srgbClr val="4B5563"/>
                </a:solidFill>
              </a:rPr>
              <a:t>"Le frontend est une SPA React compilée avec Vite. Il communique avec le backend PHP uniquement via des appels API JSON. Nginx sert les fichiers statiques du build et redirige les requêtes /api vers PHP."</a:t>
            </a:r>
          </a:p>
        </p:txBody>
      </p:sp>
      <p:sp>
        <p:nvSpPr>
          <p:cNvPr id="26" name="Rectangle 25"/>
          <p:cNvSpPr/>
          <p:nvPr/>
        </p:nvSpPr>
        <p:spPr>
          <a:xfrm>
            <a:off x="457200" y="6492240"/>
            <a:ext cx="11274552" cy="12700"/>
          </a:xfrm>
          <a:prstGeom prst="rect">
            <a:avLst/>
          </a:prstGeom>
          <a:solidFill>
            <a:srgbClr val="E0E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6537960"/>
            <a:ext cx="5486400" cy="228600"/>
          </a:xfrm>
          <a:prstGeom prst="rect">
            <a:avLst/>
          </a:prstGeom>
          <a:noFill/>
        </p:spPr>
        <p:txBody>
          <a:bodyPr wrap="square">
            <a:spAutoFit/>
          </a:bodyPr>
          <a:lstStyle/>
          <a:p>
            <a:pPr algn="l"/>
            <a:r>
              <a:rPr b="0" i="0" sz="800">
                <a:solidFill>
                  <a:srgbClr val="9CA3AF"/>
                </a:solidFill>
              </a:rPr>
              <a:t>Maison Saclay — Projet OP-1</a:t>
            </a:r>
          </a:p>
        </p:txBody>
      </p:sp>
      <p:sp>
        <p:nvSpPr>
          <p:cNvPr id="28" name="TextBox 27"/>
          <p:cNvSpPr txBox="1"/>
          <p:nvPr/>
        </p:nvSpPr>
        <p:spPr>
          <a:xfrm>
            <a:off x="6245352" y="6537960"/>
            <a:ext cx="5486400" cy="228600"/>
          </a:xfrm>
          <a:prstGeom prst="rect">
            <a:avLst/>
          </a:prstGeom>
          <a:noFill/>
        </p:spPr>
        <p:txBody>
          <a:bodyPr wrap="square">
            <a:spAutoFit/>
          </a:bodyPr>
          <a:lstStyle/>
          <a:p>
            <a:pPr algn="r"/>
            <a:r>
              <a:rPr b="0" i="0" sz="800">
                <a:solidFill>
                  <a:srgbClr val="9CA3AF"/>
                </a:solidFill>
              </a:rPr>
              <a:t>Slide 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3500"/>
          </a:xfrm>
          <a:prstGeom prst="rect">
            <a:avLst/>
          </a:prstGeom>
          <a:gradFill rotWithShape="1">
            <a:gsLst>
              <a:gs pos="0">
                <a:srgbClr val="4F46E5"/>
              </a:gs>
              <a:gs pos="100000">
                <a:srgbClr val="4338CA"/>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9144000" cy="177800"/>
          </a:xfrm>
          <a:prstGeom prst="rect">
            <a:avLst/>
          </a:prstGeom>
          <a:noFill/>
        </p:spPr>
        <p:txBody>
          <a:bodyPr wrap="square">
            <a:spAutoFit/>
          </a:bodyPr>
          <a:lstStyle/>
          <a:p>
            <a:pPr algn="l"/>
            <a:r>
              <a:rPr b="1" i="0" sz="800">
                <a:solidFill>
                  <a:srgbClr val="4F46E5"/>
                </a:solidFill>
              </a:rPr>
              <a:t>BACKEND + MYSQL</a:t>
            </a:r>
          </a:p>
        </p:txBody>
      </p:sp>
      <p:sp>
        <p:nvSpPr>
          <p:cNvPr id="4" name="TextBox 3"/>
          <p:cNvSpPr txBox="1"/>
          <p:nvPr/>
        </p:nvSpPr>
        <p:spPr>
          <a:xfrm>
            <a:off x="457200" y="329184"/>
            <a:ext cx="11274552" cy="731520"/>
          </a:xfrm>
          <a:prstGeom prst="rect">
            <a:avLst/>
          </a:prstGeom>
          <a:noFill/>
        </p:spPr>
        <p:txBody>
          <a:bodyPr wrap="square">
            <a:spAutoFit/>
          </a:bodyPr>
          <a:lstStyle/>
          <a:p>
            <a:pPr algn="l"/>
            <a:r>
              <a:rPr b="1" i="0" sz="2600">
                <a:solidFill>
                  <a:srgbClr val="1A1A2E"/>
                </a:solidFill>
              </a:rPr>
              <a:t>Réservation et base de données</a:t>
            </a:r>
          </a:p>
        </p:txBody>
      </p:sp>
      <p:sp>
        <p:nvSpPr>
          <p:cNvPr id="5" name="Rectangle 4"/>
          <p:cNvSpPr/>
          <p:nvPr/>
        </p:nvSpPr>
        <p:spPr>
          <a:xfrm>
            <a:off x="457200" y="1234440"/>
            <a:ext cx="11274552" cy="548640"/>
          </a:xfrm>
          <a:prstGeom prst="rect">
            <a:avLst/>
          </a:prstGeom>
          <a:solidFill>
            <a:srgbClr val="F8FAFF"/>
          </a:solidFill>
          <a:ln w="6350">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280160"/>
            <a:ext cx="1719072" cy="457200"/>
          </a:xfrm>
          <a:prstGeom prst="rect">
            <a:avLst/>
          </a:prstGeom>
          <a:solidFill>
            <a:srgbClr val="FFFFFF"/>
          </a:solidFill>
          <a:ln w="508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1719072" cy="411480"/>
          </a:xfrm>
          <a:prstGeom prst="rect">
            <a:avLst/>
          </a:prstGeom>
          <a:noFill/>
        </p:spPr>
        <p:txBody>
          <a:bodyPr wrap="square">
            <a:spAutoFit/>
          </a:bodyPr>
          <a:lstStyle/>
          <a:p>
            <a:pPr algn="ctr"/>
            <a:r>
              <a:rPr b="0" i="0" sz="750">
                <a:solidFill>
                  <a:srgbClr val="1A1A2E"/>
                </a:solidFill>
              </a:rPr>
              <a:t>1. Client choisit les dates</a:t>
            </a:r>
          </a:p>
        </p:txBody>
      </p:sp>
      <p:sp>
        <p:nvSpPr>
          <p:cNvPr id="8" name="TextBox 7"/>
          <p:cNvSpPr txBox="1"/>
          <p:nvPr/>
        </p:nvSpPr>
        <p:spPr>
          <a:xfrm>
            <a:off x="2318512" y="1325880"/>
            <a:ext cx="228600" cy="411480"/>
          </a:xfrm>
          <a:prstGeom prst="rect">
            <a:avLst/>
          </a:prstGeom>
          <a:noFill/>
        </p:spPr>
        <p:txBody>
          <a:bodyPr wrap="square">
            <a:spAutoFit/>
          </a:bodyPr>
          <a:lstStyle/>
          <a:p>
            <a:pPr algn="ctr"/>
            <a:r>
              <a:rPr b="1" i="0" sz="1600">
                <a:solidFill>
                  <a:srgbClr val="4F46E5"/>
                </a:solidFill>
              </a:rPr>
              <a:t>→</a:t>
            </a:r>
          </a:p>
        </p:txBody>
      </p:sp>
      <p:sp>
        <p:nvSpPr>
          <p:cNvPr id="9" name="Rectangle 8"/>
          <p:cNvSpPr/>
          <p:nvPr/>
        </p:nvSpPr>
        <p:spPr>
          <a:xfrm>
            <a:off x="2597912" y="1280160"/>
            <a:ext cx="1719072" cy="457200"/>
          </a:xfrm>
          <a:prstGeom prst="rect">
            <a:avLst/>
          </a:prstGeom>
          <a:solidFill>
            <a:srgbClr val="FFFFFF"/>
          </a:solidFill>
          <a:ln w="508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97912" y="1325880"/>
            <a:ext cx="1719072" cy="411480"/>
          </a:xfrm>
          <a:prstGeom prst="rect">
            <a:avLst/>
          </a:prstGeom>
          <a:noFill/>
        </p:spPr>
        <p:txBody>
          <a:bodyPr wrap="square">
            <a:spAutoFit/>
          </a:bodyPr>
          <a:lstStyle/>
          <a:p>
            <a:pPr algn="ctr"/>
            <a:r>
              <a:rPr b="0" i="0" sz="750">
                <a:solidFill>
                  <a:srgbClr val="1A1A2E"/>
                </a:solidFill>
              </a:rPr>
              <a:t>2. POST /api/bookings + JWT</a:t>
            </a:r>
          </a:p>
        </p:txBody>
      </p:sp>
      <p:sp>
        <p:nvSpPr>
          <p:cNvPr id="11" name="TextBox 10"/>
          <p:cNvSpPr txBox="1"/>
          <p:nvPr/>
        </p:nvSpPr>
        <p:spPr>
          <a:xfrm>
            <a:off x="4367784" y="1325880"/>
            <a:ext cx="228600" cy="411480"/>
          </a:xfrm>
          <a:prstGeom prst="rect">
            <a:avLst/>
          </a:prstGeom>
          <a:noFill/>
        </p:spPr>
        <p:txBody>
          <a:bodyPr wrap="square">
            <a:spAutoFit/>
          </a:bodyPr>
          <a:lstStyle/>
          <a:p>
            <a:pPr algn="ctr"/>
            <a:r>
              <a:rPr b="1" i="0" sz="1600">
                <a:solidFill>
                  <a:srgbClr val="4F46E5"/>
                </a:solidFill>
              </a:rPr>
              <a:t>→</a:t>
            </a:r>
          </a:p>
        </p:txBody>
      </p:sp>
      <p:sp>
        <p:nvSpPr>
          <p:cNvPr id="12" name="Rectangle 11"/>
          <p:cNvSpPr/>
          <p:nvPr/>
        </p:nvSpPr>
        <p:spPr>
          <a:xfrm>
            <a:off x="4647184" y="1280160"/>
            <a:ext cx="1719072" cy="457200"/>
          </a:xfrm>
          <a:prstGeom prst="rect">
            <a:avLst/>
          </a:prstGeom>
          <a:solidFill>
            <a:srgbClr val="FFFFFF"/>
          </a:solidFill>
          <a:ln w="508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47184" y="1325880"/>
            <a:ext cx="1719072" cy="411480"/>
          </a:xfrm>
          <a:prstGeom prst="rect">
            <a:avLst/>
          </a:prstGeom>
          <a:noFill/>
        </p:spPr>
        <p:txBody>
          <a:bodyPr wrap="square">
            <a:spAutoFit/>
          </a:bodyPr>
          <a:lstStyle/>
          <a:p>
            <a:pPr algn="ctr"/>
            <a:r>
              <a:rPr b="0" i="0" sz="750">
                <a:solidFill>
                  <a:srgbClr val="1A1A2E"/>
                </a:solidFill>
              </a:rPr>
              <a:t>3. Dispo SQL</a:t>
            </a:r>
          </a:p>
        </p:txBody>
      </p:sp>
      <p:sp>
        <p:nvSpPr>
          <p:cNvPr id="14" name="TextBox 13"/>
          <p:cNvSpPr txBox="1"/>
          <p:nvPr/>
        </p:nvSpPr>
        <p:spPr>
          <a:xfrm>
            <a:off x="6417056" y="1325880"/>
            <a:ext cx="228600" cy="411480"/>
          </a:xfrm>
          <a:prstGeom prst="rect">
            <a:avLst/>
          </a:prstGeom>
          <a:noFill/>
        </p:spPr>
        <p:txBody>
          <a:bodyPr wrap="square">
            <a:spAutoFit/>
          </a:bodyPr>
          <a:lstStyle/>
          <a:p>
            <a:pPr algn="ctr"/>
            <a:r>
              <a:rPr b="1" i="0" sz="1600">
                <a:solidFill>
                  <a:srgbClr val="4F46E5"/>
                </a:solidFill>
              </a:rPr>
              <a:t>→</a:t>
            </a:r>
          </a:p>
        </p:txBody>
      </p:sp>
      <p:sp>
        <p:nvSpPr>
          <p:cNvPr id="15" name="Rectangle 14"/>
          <p:cNvSpPr/>
          <p:nvPr/>
        </p:nvSpPr>
        <p:spPr>
          <a:xfrm>
            <a:off x="6696456" y="1280160"/>
            <a:ext cx="1719072" cy="457200"/>
          </a:xfrm>
          <a:prstGeom prst="rect">
            <a:avLst/>
          </a:prstGeom>
          <a:solidFill>
            <a:srgbClr val="FFFFFF"/>
          </a:solidFill>
          <a:ln w="508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96456" y="1325880"/>
            <a:ext cx="1719072" cy="411480"/>
          </a:xfrm>
          <a:prstGeom prst="rect">
            <a:avLst/>
          </a:prstGeom>
          <a:noFill/>
        </p:spPr>
        <p:txBody>
          <a:bodyPr wrap="square">
            <a:spAutoFit/>
          </a:bodyPr>
          <a:lstStyle/>
          <a:p>
            <a:pPr algn="ctr"/>
            <a:r>
              <a:rPr b="0" i="0" sz="750">
                <a:solidFill>
                  <a:srgbClr val="1A1A2E"/>
                </a:solidFill>
              </a:rPr>
              <a:t>4. Chambre physique attribuée</a:t>
            </a:r>
          </a:p>
        </p:txBody>
      </p:sp>
      <p:sp>
        <p:nvSpPr>
          <p:cNvPr id="17" name="TextBox 16"/>
          <p:cNvSpPr txBox="1"/>
          <p:nvPr/>
        </p:nvSpPr>
        <p:spPr>
          <a:xfrm>
            <a:off x="8466328" y="1325880"/>
            <a:ext cx="228600" cy="411480"/>
          </a:xfrm>
          <a:prstGeom prst="rect">
            <a:avLst/>
          </a:prstGeom>
          <a:noFill/>
        </p:spPr>
        <p:txBody>
          <a:bodyPr wrap="square">
            <a:spAutoFit/>
          </a:bodyPr>
          <a:lstStyle/>
          <a:p>
            <a:pPr algn="ctr"/>
            <a:r>
              <a:rPr b="1" i="0" sz="1600">
                <a:solidFill>
                  <a:srgbClr val="4F46E5"/>
                </a:solidFill>
              </a:rPr>
              <a:t>→</a:t>
            </a:r>
          </a:p>
        </p:txBody>
      </p:sp>
      <p:sp>
        <p:nvSpPr>
          <p:cNvPr id="18" name="Rectangle 17"/>
          <p:cNvSpPr/>
          <p:nvPr/>
        </p:nvSpPr>
        <p:spPr>
          <a:xfrm>
            <a:off x="8745728" y="1280160"/>
            <a:ext cx="1719072" cy="457200"/>
          </a:xfrm>
          <a:prstGeom prst="rect">
            <a:avLst/>
          </a:prstGeom>
          <a:solidFill>
            <a:srgbClr val="FFFFFF"/>
          </a:solidFill>
          <a:ln w="508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45728" y="1325880"/>
            <a:ext cx="1719072" cy="411480"/>
          </a:xfrm>
          <a:prstGeom prst="rect">
            <a:avLst/>
          </a:prstGeom>
          <a:noFill/>
        </p:spPr>
        <p:txBody>
          <a:bodyPr wrap="square">
            <a:spAutoFit/>
          </a:bodyPr>
          <a:lstStyle/>
          <a:p>
            <a:pPr algn="ctr"/>
            <a:r>
              <a:rPr b="0" i="0" sz="750">
                <a:solidFill>
                  <a:srgbClr val="1A1A2E"/>
                </a:solidFill>
              </a:rPr>
              <a:t>5. INSERT MySQL</a:t>
            </a:r>
          </a:p>
        </p:txBody>
      </p:sp>
      <p:sp>
        <p:nvSpPr>
          <p:cNvPr id="20" name="TextBox 19"/>
          <p:cNvSpPr txBox="1"/>
          <p:nvPr/>
        </p:nvSpPr>
        <p:spPr>
          <a:xfrm>
            <a:off x="10515600" y="1325880"/>
            <a:ext cx="228600" cy="411480"/>
          </a:xfrm>
          <a:prstGeom prst="rect">
            <a:avLst/>
          </a:prstGeom>
          <a:noFill/>
        </p:spPr>
        <p:txBody>
          <a:bodyPr wrap="square">
            <a:spAutoFit/>
          </a:bodyPr>
          <a:lstStyle/>
          <a:p>
            <a:pPr algn="ctr"/>
            <a:r>
              <a:rPr b="1" i="0" sz="1600">
                <a:solidFill>
                  <a:srgbClr val="4F46E5"/>
                </a:solidFill>
              </a:rPr>
              <a:t>→</a:t>
            </a:r>
          </a:p>
        </p:txBody>
      </p:sp>
      <p:sp>
        <p:nvSpPr>
          <p:cNvPr id="21" name="Rectangle 20"/>
          <p:cNvSpPr/>
          <p:nvPr/>
        </p:nvSpPr>
        <p:spPr>
          <a:xfrm>
            <a:off x="10795000" y="1280160"/>
            <a:ext cx="1719072" cy="457200"/>
          </a:xfrm>
          <a:prstGeom prst="rect">
            <a:avLst/>
          </a:prstGeom>
          <a:solidFill>
            <a:srgbClr val="FFFFFF"/>
          </a:solidFill>
          <a:ln w="508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95000" y="1325880"/>
            <a:ext cx="1719072" cy="411480"/>
          </a:xfrm>
          <a:prstGeom prst="rect">
            <a:avLst/>
          </a:prstGeom>
          <a:noFill/>
        </p:spPr>
        <p:txBody>
          <a:bodyPr wrap="square">
            <a:spAutoFit/>
          </a:bodyPr>
          <a:lstStyle/>
          <a:p>
            <a:pPr algn="ctr"/>
            <a:r>
              <a:rPr b="0" i="0" sz="750">
                <a:solidFill>
                  <a:srgbClr val="1A1A2E"/>
                </a:solidFill>
              </a:rPr>
              <a:t>6. Telegram</a:t>
            </a:r>
          </a:p>
        </p:txBody>
      </p:sp>
      <p:sp>
        <p:nvSpPr>
          <p:cNvPr id="23" name="TextBox 22"/>
          <p:cNvSpPr txBox="1"/>
          <p:nvPr/>
        </p:nvSpPr>
        <p:spPr>
          <a:xfrm>
            <a:off x="457200" y="1920240"/>
            <a:ext cx="11274552" cy="1645920"/>
          </a:xfrm>
          <a:prstGeom prst="rect">
            <a:avLst/>
          </a:prstGeom>
          <a:noFill/>
        </p:spPr>
        <p:txBody>
          <a:bodyPr wrap="square">
            <a:spAutoFit/>
          </a:bodyPr>
          <a:lstStyle/>
          <a:p>
            <a:pPr>
              <a:spcBef>
                <a:spcPts val="300"/>
              </a:spcBef>
            </a:pPr>
            <a:r>
              <a:rPr sz="600" b="1">
                <a:solidFill>
                  <a:srgbClr val="4F46E5"/>
                </a:solidFill>
              </a:rPr>
              <a:t>●  </a:t>
            </a:r>
            <a:r>
              <a:rPr b="1" sz="1050">
                <a:solidFill>
                  <a:srgbClr val="1A1A2E"/>
                </a:solidFill>
              </a:rPr>
              <a:t>Attribution automatique : </a:t>
            </a:r>
            <a:r>
              <a:rPr b="0" sz="1050">
                <a:solidFill>
                  <a:srgbClr val="1A1A2E"/>
                </a:solidFill>
              </a:rPr>
              <a:t>requête SQL avec détection de chevauchement de dates — aucune double-réservation possible</a:t>
            </a:r>
          </a:p>
          <a:p>
            <a:pPr>
              <a:spcBef>
                <a:spcPts val="300"/>
              </a:spcBef>
            </a:pPr>
            <a:r>
              <a:rPr sz="600" b="1">
                <a:solidFill>
                  <a:srgbClr val="4F46E5"/>
                </a:solidFill>
              </a:rPr>
              <a:t>●  </a:t>
            </a:r>
            <a:r>
              <a:rPr b="1" sz="1050">
                <a:solidFill>
                  <a:srgbClr val="1A1A2E"/>
                </a:solidFill>
              </a:rPr>
              <a:t>Prix calculé : </a:t>
            </a:r>
            <a:r>
              <a:rPr b="0" sz="1050">
                <a:solidFill>
                  <a:srgbClr val="1A1A2E"/>
                </a:solidFill>
              </a:rPr>
              <a:t>nombre de nuits × tarif du type de chambre</a:t>
            </a:r>
          </a:p>
          <a:p>
            <a:pPr>
              <a:spcBef>
                <a:spcPts val="300"/>
              </a:spcBef>
            </a:pPr>
            <a:r>
              <a:rPr sz="600" b="1">
                <a:solidFill>
                  <a:srgbClr val="4F46E5"/>
                </a:solidFill>
              </a:rPr>
              <a:t>●  </a:t>
            </a:r>
            <a:r>
              <a:rPr b="1" sz="1050">
                <a:solidFill>
                  <a:srgbClr val="1A1A2E"/>
                </a:solidFill>
              </a:rPr>
              <a:t>Notification Telegram : </a:t>
            </a:r>
            <a:r>
              <a:rPr b="0" sz="1050">
                <a:solidFill>
                  <a:srgbClr val="1A1A2E"/>
                </a:solidFill>
              </a:rPr>
              <a:t>l'admin reçoit un message avec boutons Confirmer / Annuler interactifs</a:t>
            </a:r>
          </a:p>
          <a:p>
            <a:pPr>
              <a:spcBef>
                <a:spcPts val="300"/>
              </a:spcBef>
            </a:pPr>
            <a:r>
              <a:rPr sz="600" b="1">
                <a:solidFill>
                  <a:srgbClr val="4F46E5"/>
                </a:solidFill>
              </a:rPr>
              <a:t>●  </a:t>
            </a:r>
            <a:r>
              <a:rPr b="1" sz="1050">
                <a:solidFill>
                  <a:srgbClr val="1A1A2E"/>
                </a:solidFill>
              </a:rPr>
              <a:t>Chambre physique : </a:t>
            </a:r>
            <a:r>
              <a:rPr b="0" sz="1050">
                <a:solidFill>
                  <a:srgbClr val="1A1A2E"/>
                </a:solidFill>
              </a:rPr>
              <a:t>distinction entre le type (catalogue) et la chambre réelle attribuée (101, 201, 601…)</a:t>
            </a:r>
          </a:p>
        </p:txBody>
      </p:sp>
      <p:sp>
        <p:nvSpPr>
          <p:cNvPr id="24" name="Rectangle 23"/>
          <p:cNvSpPr/>
          <p:nvPr/>
        </p:nvSpPr>
        <p:spPr>
          <a:xfrm>
            <a:off x="457200" y="3703320"/>
            <a:ext cx="2084831" cy="914400"/>
          </a:xfrm>
          <a:prstGeom prst="rect">
            <a:avLst/>
          </a:prstGeom>
          <a:solidFill>
            <a:srgbClr val="F8FAFF"/>
          </a:solidFill>
          <a:ln w="6350">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3767328"/>
            <a:ext cx="2084831" cy="457200"/>
          </a:xfrm>
          <a:prstGeom prst="rect">
            <a:avLst/>
          </a:prstGeom>
          <a:noFill/>
        </p:spPr>
        <p:txBody>
          <a:bodyPr wrap="square">
            <a:spAutoFit/>
          </a:bodyPr>
          <a:lstStyle/>
          <a:p>
            <a:pPr algn="ctr"/>
            <a:r>
              <a:rPr b="1" i="0" sz="2600">
                <a:solidFill>
                  <a:srgbClr val="4F46E5"/>
                </a:solidFill>
              </a:rPr>
              <a:t>3</a:t>
            </a:r>
          </a:p>
        </p:txBody>
      </p:sp>
      <p:sp>
        <p:nvSpPr>
          <p:cNvPr id="26" name="TextBox 25"/>
          <p:cNvSpPr txBox="1"/>
          <p:nvPr/>
        </p:nvSpPr>
        <p:spPr>
          <a:xfrm>
            <a:off x="457200" y="4206240"/>
            <a:ext cx="2084831" cy="228600"/>
          </a:xfrm>
          <a:prstGeom prst="rect">
            <a:avLst/>
          </a:prstGeom>
          <a:noFill/>
        </p:spPr>
        <p:txBody>
          <a:bodyPr wrap="square">
            <a:spAutoFit/>
          </a:bodyPr>
          <a:lstStyle/>
          <a:p>
            <a:pPr algn="ctr"/>
            <a:r>
              <a:rPr b="0" i="0" sz="850">
                <a:solidFill>
                  <a:srgbClr val="6B7280"/>
                </a:solidFill>
              </a:rPr>
              <a:t>Types</a:t>
            </a:r>
          </a:p>
        </p:txBody>
      </p:sp>
      <p:sp>
        <p:nvSpPr>
          <p:cNvPr id="27" name="Rectangle 26"/>
          <p:cNvSpPr/>
          <p:nvPr/>
        </p:nvSpPr>
        <p:spPr>
          <a:xfrm>
            <a:off x="2670048" y="3703320"/>
            <a:ext cx="2084831" cy="914400"/>
          </a:xfrm>
          <a:prstGeom prst="rect">
            <a:avLst/>
          </a:prstGeom>
          <a:solidFill>
            <a:srgbClr val="F8FAFF"/>
          </a:solidFill>
          <a:ln w="6350">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670048" y="3767328"/>
            <a:ext cx="2084831" cy="457200"/>
          </a:xfrm>
          <a:prstGeom prst="rect">
            <a:avLst/>
          </a:prstGeom>
          <a:noFill/>
        </p:spPr>
        <p:txBody>
          <a:bodyPr wrap="square">
            <a:spAutoFit/>
          </a:bodyPr>
          <a:lstStyle/>
          <a:p>
            <a:pPr algn="ctr"/>
            <a:r>
              <a:rPr b="1" i="0" sz="2600">
                <a:solidFill>
                  <a:srgbClr val="4F46E5"/>
                </a:solidFill>
              </a:rPr>
              <a:t>9</a:t>
            </a:r>
          </a:p>
        </p:txBody>
      </p:sp>
      <p:sp>
        <p:nvSpPr>
          <p:cNvPr id="29" name="TextBox 28"/>
          <p:cNvSpPr txBox="1"/>
          <p:nvPr/>
        </p:nvSpPr>
        <p:spPr>
          <a:xfrm>
            <a:off x="2670048" y="4206240"/>
            <a:ext cx="2084831" cy="228600"/>
          </a:xfrm>
          <a:prstGeom prst="rect">
            <a:avLst/>
          </a:prstGeom>
          <a:noFill/>
        </p:spPr>
        <p:txBody>
          <a:bodyPr wrap="square">
            <a:spAutoFit/>
          </a:bodyPr>
          <a:lstStyle/>
          <a:p>
            <a:pPr algn="ctr"/>
            <a:r>
              <a:rPr b="0" i="0" sz="850">
                <a:solidFill>
                  <a:srgbClr val="6B7280"/>
                </a:solidFill>
              </a:rPr>
              <a:t>Chambres physiques</a:t>
            </a:r>
          </a:p>
        </p:txBody>
      </p:sp>
      <p:sp>
        <p:nvSpPr>
          <p:cNvPr id="30" name="Rectangle 29"/>
          <p:cNvSpPr/>
          <p:nvPr/>
        </p:nvSpPr>
        <p:spPr>
          <a:xfrm>
            <a:off x="4882896" y="3703320"/>
            <a:ext cx="2084831" cy="914400"/>
          </a:xfrm>
          <a:prstGeom prst="rect">
            <a:avLst/>
          </a:prstGeom>
          <a:solidFill>
            <a:srgbClr val="F8FAFF"/>
          </a:solidFill>
          <a:ln w="6350">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82896" y="3767328"/>
            <a:ext cx="2084831" cy="457200"/>
          </a:xfrm>
          <a:prstGeom prst="rect">
            <a:avLst/>
          </a:prstGeom>
          <a:noFill/>
        </p:spPr>
        <p:txBody>
          <a:bodyPr wrap="square">
            <a:spAutoFit/>
          </a:bodyPr>
          <a:lstStyle/>
          <a:p>
            <a:pPr algn="ctr"/>
            <a:r>
              <a:rPr b="1" i="0" sz="2600">
                <a:solidFill>
                  <a:srgbClr val="4F46E5"/>
                </a:solidFill>
              </a:rPr>
              <a:t>16</a:t>
            </a:r>
          </a:p>
        </p:txBody>
      </p:sp>
      <p:sp>
        <p:nvSpPr>
          <p:cNvPr id="32" name="TextBox 31"/>
          <p:cNvSpPr txBox="1"/>
          <p:nvPr/>
        </p:nvSpPr>
        <p:spPr>
          <a:xfrm>
            <a:off x="4882896" y="4206240"/>
            <a:ext cx="2084831" cy="228600"/>
          </a:xfrm>
          <a:prstGeom prst="rect">
            <a:avLst/>
          </a:prstGeom>
          <a:noFill/>
        </p:spPr>
        <p:txBody>
          <a:bodyPr wrap="square">
            <a:spAutoFit/>
          </a:bodyPr>
          <a:lstStyle/>
          <a:p>
            <a:pPr algn="ctr"/>
            <a:r>
              <a:rPr b="0" i="0" sz="850">
                <a:solidFill>
                  <a:srgbClr val="6B7280"/>
                </a:solidFill>
              </a:rPr>
              <a:t>Réservations</a:t>
            </a:r>
          </a:p>
        </p:txBody>
      </p:sp>
      <p:sp>
        <p:nvSpPr>
          <p:cNvPr id="33" name="Rectangle 32"/>
          <p:cNvSpPr/>
          <p:nvPr/>
        </p:nvSpPr>
        <p:spPr>
          <a:xfrm>
            <a:off x="7095744" y="3703320"/>
            <a:ext cx="2084831" cy="914400"/>
          </a:xfrm>
          <a:prstGeom prst="rect">
            <a:avLst/>
          </a:prstGeom>
          <a:solidFill>
            <a:srgbClr val="F8FAFF"/>
          </a:solidFill>
          <a:ln w="6350">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95744" y="3767328"/>
            <a:ext cx="2084831" cy="457200"/>
          </a:xfrm>
          <a:prstGeom prst="rect">
            <a:avLst/>
          </a:prstGeom>
          <a:noFill/>
        </p:spPr>
        <p:txBody>
          <a:bodyPr wrap="square">
            <a:spAutoFit/>
          </a:bodyPr>
          <a:lstStyle/>
          <a:p>
            <a:pPr algn="ctr"/>
            <a:r>
              <a:rPr b="1" i="0" sz="2600">
                <a:solidFill>
                  <a:srgbClr val="4F46E5"/>
                </a:solidFill>
              </a:rPr>
              <a:t>11</a:t>
            </a:r>
          </a:p>
        </p:txBody>
      </p:sp>
      <p:sp>
        <p:nvSpPr>
          <p:cNvPr id="35" name="TextBox 34"/>
          <p:cNvSpPr txBox="1"/>
          <p:nvPr/>
        </p:nvSpPr>
        <p:spPr>
          <a:xfrm>
            <a:off x="7095744" y="4206240"/>
            <a:ext cx="2084831" cy="228600"/>
          </a:xfrm>
          <a:prstGeom prst="rect">
            <a:avLst/>
          </a:prstGeom>
          <a:noFill/>
        </p:spPr>
        <p:txBody>
          <a:bodyPr wrap="square">
            <a:spAutoFit/>
          </a:bodyPr>
          <a:lstStyle/>
          <a:p>
            <a:pPr algn="ctr"/>
            <a:r>
              <a:rPr b="0" i="0" sz="850">
                <a:solidFill>
                  <a:srgbClr val="6B7280"/>
                </a:solidFill>
              </a:rPr>
              <a:t>Commandes</a:t>
            </a:r>
          </a:p>
        </p:txBody>
      </p:sp>
      <p:sp>
        <p:nvSpPr>
          <p:cNvPr id="36" name="Rectangle 35"/>
          <p:cNvSpPr/>
          <p:nvPr/>
        </p:nvSpPr>
        <p:spPr>
          <a:xfrm>
            <a:off x="9308592" y="3703320"/>
            <a:ext cx="2084831" cy="914400"/>
          </a:xfrm>
          <a:prstGeom prst="rect">
            <a:avLst/>
          </a:prstGeom>
          <a:solidFill>
            <a:srgbClr val="F8FAFF"/>
          </a:solidFill>
          <a:ln w="6350">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308592" y="3767328"/>
            <a:ext cx="2084831" cy="457200"/>
          </a:xfrm>
          <a:prstGeom prst="rect">
            <a:avLst/>
          </a:prstGeom>
          <a:noFill/>
        </p:spPr>
        <p:txBody>
          <a:bodyPr wrap="square">
            <a:spAutoFit/>
          </a:bodyPr>
          <a:lstStyle/>
          <a:p>
            <a:pPr algn="ctr"/>
            <a:r>
              <a:rPr b="1" i="0" sz="2600">
                <a:solidFill>
                  <a:srgbClr val="4F46E5"/>
                </a:solidFill>
              </a:rPr>
              <a:t>10</a:t>
            </a:r>
          </a:p>
        </p:txBody>
      </p:sp>
      <p:sp>
        <p:nvSpPr>
          <p:cNvPr id="38" name="TextBox 37"/>
          <p:cNvSpPr txBox="1"/>
          <p:nvPr/>
        </p:nvSpPr>
        <p:spPr>
          <a:xfrm>
            <a:off x="9308592" y="4206240"/>
            <a:ext cx="2084831" cy="228600"/>
          </a:xfrm>
          <a:prstGeom prst="rect">
            <a:avLst/>
          </a:prstGeom>
          <a:noFill/>
        </p:spPr>
        <p:txBody>
          <a:bodyPr wrap="square">
            <a:spAutoFit/>
          </a:bodyPr>
          <a:lstStyle/>
          <a:p>
            <a:pPr algn="ctr"/>
            <a:r>
              <a:rPr b="0" i="0" sz="850">
                <a:solidFill>
                  <a:srgbClr val="6B7280"/>
                </a:solidFill>
              </a:rPr>
              <a:t>Tables MySQL</a:t>
            </a:r>
          </a:p>
        </p:txBody>
      </p:sp>
      <p:sp>
        <p:nvSpPr>
          <p:cNvPr id="39" name="Rectangle 38"/>
          <p:cNvSpPr/>
          <p:nvPr/>
        </p:nvSpPr>
        <p:spPr>
          <a:xfrm>
            <a:off x="457200" y="5806440"/>
            <a:ext cx="11274552" cy="658368"/>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57200" y="5806440"/>
            <a:ext cx="50800" cy="65836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0080" y="5843016"/>
            <a:ext cx="2743200" cy="152400"/>
          </a:xfrm>
          <a:prstGeom prst="rect">
            <a:avLst/>
          </a:prstGeom>
          <a:noFill/>
        </p:spPr>
        <p:txBody>
          <a:bodyPr wrap="square">
            <a:spAutoFit/>
          </a:bodyPr>
          <a:lstStyle/>
          <a:p>
            <a:pPr algn="l"/>
            <a:r>
              <a:rPr b="1" i="0" sz="750">
                <a:solidFill>
                  <a:srgbClr val="4F46E5"/>
                </a:solidFill>
              </a:rPr>
              <a:t>À dire à l'oral</a:t>
            </a:r>
          </a:p>
        </p:txBody>
      </p:sp>
      <p:sp>
        <p:nvSpPr>
          <p:cNvPr id="42" name="TextBox 41"/>
          <p:cNvSpPr txBox="1"/>
          <p:nvPr/>
        </p:nvSpPr>
        <p:spPr>
          <a:xfrm>
            <a:off x="640080" y="6007608"/>
            <a:ext cx="10908792" cy="411480"/>
          </a:xfrm>
          <a:prstGeom prst="rect">
            <a:avLst/>
          </a:prstGeom>
          <a:noFill/>
        </p:spPr>
        <p:txBody>
          <a:bodyPr wrap="square">
            <a:spAutoFit/>
          </a:bodyPr>
          <a:lstStyle/>
          <a:p>
            <a:pPr algn="l"/>
            <a:r>
              <a:rPr b="0" i="1" sz="900">
                <a:solidFill>
                  <a:srgbClr val="4B5563"/>
                </a:solidFill>
              </a:rPr>
              <a:t>"La réservation déclenche une série d'opérations : vérification SQL avec chevauchement de dates, attribution automatique de chambre physique, calcul du prix et notification Telegram avec boutons interactifs pour l'admin."</a:t>
            </a:r>
          </a:p>
        </p:txBody>
      </p:sp>
      <p:sp>
        <p:nvSpPr>
          <p:cNvPr id="43" name="Rectangle 42"/>
          <p:cNvSpPr/>
          <p:nvPr/>
        </p:nvSpPr>
        <p:spPr>
          <a:xfrm>
            <a:off x="457200" y="6492240"/>
            <a:ext cx="11274552" cy="12700"/>
          </a:xfrm>
          <a:prstGeom prst="rect">
            <a:avLst/>
          </a:prstGeom>
          <a:solidFill>
            <a:srgbClr val="E0E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7200" y="6537960"/>
            <a:ext cx="5486400" cy="228600"/>
          </a:xfrm>
          <a:prstGeom prst="rect">
            <a:avLst/>
          </a:prstGeom>
          <a:noFill/>
        </p:spPr>
        <p:txBody>
          <a:bodyPr wrap="square">
            <a:spAutoFit/>
          </a:bodyPr>
          <a:lstStyle/>
          <a:p>
            <a:pPr algn="l"/>
            <a:r>
              <a:rPr b="0" i="0" sz="800">
                <a:solidFill>
                  <a:srgbClr val="9CA3AF"/>
                </a:solidFill>
              </a:rPr>
              <a:t>Maison Saclay — Projet OP-1</a:t>
            </a:r>
          </a:p>
        </p:txBody>
      </p:sp>
      <p:sp>
        <p:nvSpPr>
          <p:cNvPr id="45" name="TextBox 44"/>
          <p:cNvSpPr txBox="1"/>
          <p:nvPr/>
        </p:nvSpPr>
        <p:spPr>
          <a:xfrm>
            <a:off x="6245352" y="6537960"/>
            <a:ext cx="5486400" cy="228600"/>
          </a:xfrm>
          <a:prstGeom prst="rect">
            <a:avLst/>
          </a:prstGeom>
          <a:noFill/>
        </p:spPr>
        <p:txBody>
          <a:bodyPr wrap="square">
            <a:spAutoFit/>
          </a:bodyPr>
          <a:lstStyle/>
          <a:p>
            <a:pPr algn="r"/>
            <a:r>
              <a:rPr b="0" i="0" sz="800">
                <a:solidFill>
                  <a:srgbClr val="9CA3AF"/>
                </a:solidFill>
              </a:rPr>
              <a:t>Slide 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3500"/>
          </a:xfrm>
          <a:prstGeom prst="rect">
            <a:avLst/>
          </a:prstGeom>
          <a:gradFill rotWithShape="1">
            <a:gsLst>
              <a:gs pos="0">
                <a:srgbClr val="4F46E5"/>
              </a:gs>
              <a:gs pos="100000">
                <a:srgbClr val="4338CA"/>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9144000" cy="177800"/>
          </a:xfrm>
          <a:prstGeom prst="rect">
            <a:avLst/>
          </a:prstGeom>
          <a:noFill/>
        </p:spPr>
        <p:txBody>
          <a:bodyPr wrap="square">
            <a:spAutoFit/>
          </a:bodyPr>
          <a:lstStyle/>
          <a:p>
            <a:pPr algn="l"/>
            <a:r>
              <a:rPr b="1" i="0" sz="800">
                <a:solidFill>
                  <a:srgbClr val="4F46E5"/>
                </a:solidFill>
              </a:rPr>
              <a:t>ADMIN REACT</a:t>
            </a:r>
          </a:p>
        </p:txBody>
      </p:sp>
      <p:sp>
        <p:nvSpPr>
          <p:cNvPr id="4" name="TextBox 3"/>
          <p:cNvSpPr txBox="1"/>
          <p:nvPr/>
        </p:nvSpPr>
        <p:spPr>
          <a:xfrm>
            <a:off x="457200" y="329184"/>
            <a:ext cx="11274552" cy="731520"/>
          </a:xfrm>
          <a:prstGeom prst="rect">
            <a:avLst/>
          </a:prstGeom>
          <a:noFill/>
        </p:spPr>
        <p:txBody>
          <a:bodyPr wrap="square">
            <a:spAutoFit/>
          </a:bodyPr>
          <a:lstStyle/>
          <a:p>
            <a:pPr algn="l"/>
            <a:r>
              <a:rPr b="1" i="0" sz="2600">
                <a:solidFill>
                  <a:srgbClr val="1A1A2E"/>
                </a:solidFill>
              </a:rPr>
              <a:t>Dashboard administrateur</a:t>
            </a:r>
          </a:p>
        </p:txBody>
      </p:sp>
      <p:sp>
        <p:nvSpPr>
          <p:cNvPr id="5" name="TextBox 4"/>
          <p:cNvSpPr txBox="1"/>
          <p:nvPr/>
        </p:nvSpPr>
        <p:spPr>
          <a:xfrm>
            <a:off x="457200" y="914400"/>
            <a:ext cx="11274552" cy="279400"/>
          </a:xfrm>
          <a:prstGeom prst="rect">
            <a:avLst/>
          </a:prstGeom>
          <a:noFill/>
        </p:spPr>
        <p:txBody>
          <a:bodyPr wrap="square">
            <a:spAutoFit/>
          </a:bodyPr>
          <a:lstStyle/>
          <a:p>
            <a:pPr algn="l"/>
            <a:r>
              <a:rPr b="0" i="0" sz="1100">
                <a:solidFill>
                  <a:srgbClr val="6B7280"/>
                </a:solidFill>
              </a:rPr>
              <a:t>Route /admin — protégée par mot de passe + token JWT</a:t>
            </a:r>
          </a:p>
        </p:txBody>
      </p:sp>
      <p:sp>
        <p:nvSpPr>
          <p:cNvPr id="6" name="Rectangle 5"/>
          <p:cNvSpPr/>
          <p:nvPr/>
        </p:nvSpPr>
        <p:spPr>
          <a:xfrm>
            <a:off x="457200" y="1417320"/>
            <a:ext cx="3657600" cy="1207008"/>
          </a:xfrm>
          <a:prstGeom prst="rect">
            <a:avLst/>
          </a:prstGeom>
          <a:solidFill>
            <a:srgbClr val="F8FAFF"/>
          </a:solidFill>
          <a:ln w="6350">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90472"/>
            <a:ext cx="3438144" cy="177800"/>
          </a:xfrm>
          <a:prstGeom prst="rect">
            <a:avLst/>
          </a:prstGeom>
          <a:noFill/>
        </p:spPr>
        <p:txBody>
          <a:bodyPr wrap="square">
            <a:spAutoFit/>
          </a:bodyPr>
          <a:lstStyle/>
          <a:p>
            <a:pPr algn="l"/>
            <a:r>
              <a:rPr b="1" i="0" sz="750">
                <a:solidFill>
                  <a:srgbClr val="4F46E5"/>
                </a:solidFill>
              </a:rPr>
              <a:t>RÉSERVATIONS</a:t>
            </a:r>
          </a:p>
        </p:txBody>
      </p:sp>
      <p:sp>
        <p:nvSpPr>
          <p:cNvPr id="8" name="TextBox 7"/>
          <p:cNvSpPr txBox="1"/>
          <p:nvPr/>
        </p:nvSpPr>
        <p:spPr>
          <a:xfrm>
            <a:off x="566928" y="1664208"/>
            <a:ext cx="3438144" cy="886968"/>
          </a:xfrm>
          <a:prstGeom prst="rect">
            <a:avLst/>
          </a:prstGeom>
          <a:noFill/>
        </p:spPr>
        <p:txBody>
          <a:bodyPr wrap="square">
            <a:spAutoFit/>
          </a:bodyPr>
          <a:lstStyle/>
          <a:p>
            <a:pPr algn="l"/>
            <a:r>
              <a:rPr b="0" i="0" sz="850">
                <a:solidFill>
                  <a:srgbClr val="374151"/>
                </a:solidFill>
              </a:rPr>
              <a:t>Liste complète · Numéro chambre attribué · Changer le statut</a:t>
            </a:r>
          </a:p>
        </p:txBody>
      </p:sp>
      <p:sp>
        <p:nvSpPr>
          <p:cNvPr id="9" name="Rectangle 8"/>
          <p:cNvSpPr/>
          <p:nvPr/>
        </p:nvSpPr>
        <p:spPr>
          <a:xfrm>
            <a:off x="4251960" y="1417320"/>
            <a:ext cx="3657600" cy="1207008"/>
          </a:xfrm>
          <a:prstGeom prst="rect">
            <a:avLst/>
          </a:prstGeom>
          <a:solidFill>
            <a:srgbClr val="F8FAFF"/>
          </a:solidFill>
          <a:ln w="6350">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61688" y="1490472"/>
            <a:ext cx="3438144" cy="177800"/>
          </a:xfrm>
          <a:prstGeom prst="rect">
            <a:avLst/>
          </a:prstGeom>
          <a:noFill/>
        </p:spPr>
        <p:txBody>
          <a:bodyPr wrap="square">
            <a:spAutoFit/>
          </a:bodyPr>
          <a:lstStyle/>
          <a:p>
            <a:pPr algn="l"/>
            <a:r>
              <a:rPr b="1" i="0" sz="750">
                <a:solidFill>
                  <a:srgbClr val="4F46E5"/>
                </a:solidFill>
              </a:rPr>
              <a:t>COMMANDES</a:t>
            </a:r>
          </a:p>
        </p:txBody>
      </p:sp>
      <p:sp>
        <p:nvSpPr>
          <p:cNvPr id="11" name="TextBox 10"/>
          <p:cNvSpPr txBox="1"/>
          <p:nvPr/>
        </p:nvSpPr>
        <p:spPr>
          <a:xfrm>
            <a:off x="4361688" y="1664208"/>
            <a:ext cx="3438144" cy="886968"/>
          </a:xfrm>
          <a:prstGeom prst="rect">
            <a:avLst/>
          </a:prstGeom>
          <a:noFill/>
        </p:spPr>
        <p:txBody>
          <a:bodyPr wrap="square">
            <a:spAutoFit/>
          </a:bodyPr>
          <a:lstStyle/>
          <a:p>
            <a:pPr algn="l"/>
            <a:r>
              <a:rPr b="0" i="0" sz="850">
                <a:solidFill>
                  <a:srgbClr val="374151"/>
                </a:solidFill>
              </a:rPr>
              <a:t>Room service · Articles · Statuts : en attente / préparation / livré</a:t>
            </a:r>
          </a:p>
        </p:txBody>
      </p:sp>
      <p:sp>
        <p:nvSpPr>
          <p:cNvPr id="12" name="Rectangle 11"/>
          <p:cNvSpPr/>
          <p:nvPr/>
        </p:nvSpPr>
        <p:spPr>
          <a:xfrm>
            <a:off x="8046720" y="1417320"/>
            <a:ext cx="3657600" cy="1207008"/>
          </a:xfrm>
          <a:prstGeom prst="rect">
            <a:avLst/>
          </a:prstGeom>
          <a:solidFill>
            <a:srgbClr val="F8FAFF"/>
          </a:solidFill>
          <a:ln w="6350">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56448" y="1490472"/>
            <a:ext cx="3438144" cy="177800"/>
          </a:xfrm>
          <a:prstGeom prst="rect">
            <a:avLst/>
          </a:prstGeom>
          <a:noFill/>
        </p:spPr>
        <p:txBody>
          <a:bodyPr wrap="square">
            <a:spAutoFit/>
          </a:bodyPr>
          <a:lstStyle/>
          <a:p>
            <a:pPr algn="l"/>
            <a:r>
              <a:rPr b="1" i="0" sz="750">
                <a:solidFill>
                  <a:srgbClr val="4F46E5"/>
                </a:solidFill>
              </a:rPr>
              <a:t>CHAMBRES</a:t>
            </a:r>
          </a:p>
        </p:txBody>
      </p:sp>
      <p:sp>
        <p:nvSpPr>
          <p:cNvPr id="14" name="TextBox 13"/>
          <p:cNvSpPr txBox="1"/>
          <p:nvPr/>
        </p:nvSpPr>
        <p:spPr>
          <a:xfrm>
            <a:off x="8156448" y="1664208"/>
            <a:ext cx="3438144" cy="886968"/>
          </a:xfrm>
          <a:prstGeom prst="rect">
            <a:avLst/>
          </a:prstGeom>
          <a:noFill/>
        </p:spPr>
        <p:txBody>
          <a:bodyPr wrap="square">
            <a:spAutoFit/>
          </a:bodyPr>
          <a:lstStyle/>
          <a:p>
            <a:pPr algn="l"/>
            <a:r>
              <a:rPr b="0" i="0" sz="850">
                <a:solidFill>
                  <a:srgbClr val="374151"/>
                </a:solidFill>
              </a:rPr>
              <a:t>Vue temps réel : libre, occupée, arrivée aujourd'hui, départ…</a:t>
            </a:r>
          </a:p>
        </p:txBody>
      </p:sp>
      <p:sp>
        <p:nvSpPr>
          <p:cNvPr id="15" name="Rectangle 14"/>
          <p:cNvSpPr/>
          <p:nvPr/>
        </p:nvSpPr>
        <p:spPr>
          <a:xfrm>
            <a:off x="457200" y="2743200"/>
            <a:ext cx="3657600" cy="1207008"/>
          </a:xfrm>
          <a:prstGeom prst="rect">
            <a:avLst/>
          </a:prstGeom>
          <a:solidFill>
            <a:srgbClr val="F8FAFF"/>
          </a:solidFill>
          <a:ln w="6350">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816352"/>
            <a:ext cx="3438144" cy="177800"/>
          </a:xfrm>
          <a:prstGeom prst="rect">
            <a:avLst/>
          </a:prstGeom>
          <a:noFill/>
        </p:spPr>
        <p:txBody>
          <a:bodyPr wrap="square">
            <a:spAutoFit/>
          </a:bodyPr>
          <a:lstStyle/>
          <a:p>
            <a:pPr algn="l"/>
            <a:r>
              <a:rPr b="1" i="0" sz="750">
                <a:solidFill>
                  <a:srgbClr val="4F46E5"/>
                </a:solidFill>
              </a:rPr>
              <a:t>WIFI</a:t>
            </a:r>
          </a:p>
        </p:txBody>
      </p:sp>
      <p:sp>
        <p:nvSpPr>
          <p:cNvPr id="17" name="TextBox 16"/>
          <p:cNvSpPr txBox="1"/>
          <p:nvPr/>
        </p:nvSpPr>
        <p:spPr>
          <a:xfrm>
            <a:off x="566928" y="2990088"/>
            <a:ext cx="3438144" cy="886968"/>
          </a:xfrm>
          <a:prstGeom prst="rect">
            <a:avLst/>
          </a:prstGeom>
          <a:noFill/>
        </p:spPr>
        <p:txBody>
          <a:bodyPr wrap="square">
            <a:spAutoFit/>
          </a:bodyPr>
          <a:lstStyle/>
          <a:p>
            <a:pPr algn="l"/>
            <a:r>
              <a:rPr b="0" i="0" sz="850">
                <a:solidFill>
                  <a:srgbClr val="374151"/>
                </a:solidFill>
              </a:rPr>
              <a:t>Sessions RADIUS réelles + activité réseau de démonstration</a:t>
            </a:r>
          </a:p>
        </p:txBody>
      </p:sp>
      <p:sp>
        <p:nvSpPr>
          <p:cNvPr id="18" name="Rectangle 17"/>
          <p:cNvSpPr/>
          <p:nvPr/>
        </p:nvSpPr>
        <p:spPr>
          <a:xfrm>
            <a:off x="4251960" y="2743200"/>
            <a:ext cx="3657600" cy="1207008"/>
          </a:xfrm>
          <a:prstGeom prst="rect">
            <a:avLst/>
          </a:prstGeom>
          <a:solidFill>
            <a:srgbClr val="F8FAFF"/>
          </a:solidFill>
          <a:ln w="6350">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61688" y="2816352"/>
            <a:ext cx="3438144" cy="177800"/>
          </a:xfrm>
          <a:prstGeom prst="rect">
            <a:avLst/>
          </a:prstGeom>
          <a:noFill/>
        </p:spPr>
        <p:txBody>
          <a:bodyPr wrap="square">
            <a:spAutoFit/>
          </a:bodyPr>
          <a:lstStyle/>
          <a:p>
            <a:pPr algn="l"/>
            <a:r>
              <a:rPr b="1" i="0" sz="750">
                <a:solidFill>
                  <a:srgbClr val="4F46E5"/>
                </a:solidFill>
              </a:rPr>
              <a:t>STATISTIQUES</a:t>
            </a:r>
          </a:p>
        </p:txBody>
      </p:sp>
      <p:sp>
        <p:nvSpPr>
          <p:cNvPr id="20" name="TextBox 19"/>
          <p:cNvSpPr txBox="1"/>
          <p:nvPr/>
        </p:nvSpPr>
        <p:spPr>
          <a:xfrm>
            <a:off x="4361688" y="2990088"/>
            <a:ext cx="3438144" cy="886968"/>
          </a:xfrm>
          <a:prstGeom prst="rect">
            <a:avLst/>
          </a:prstGeom>
          <a:noFill/>
        </p:spPr>
        <p:txBody>
          <a:bodyPr wrap="square">
            <a:spAutoFit/>
          </a:bodyPr>
          <a:lstStyle/>
          <a:p>
            <a:pPr algn="l"/>
            <a:r>
              <a:rPr b="0" i="0" sz="850">
                <a:solidFill>
                  <a:srgbClr val="374151"/>
                </a:solidFill>
              </a:rPr>
              <a:t>Revenus, taux d'occupation, activité du jour</a:t>
            </a:r>
          </a:p>
        </p:txBody>
      </p:sp>
      <p:sp>
        <p:nvSpPr>
          <p:cNvPr id="21" name="Rectangle 20"/>
          <p:cNvSpPr/>
          <p:nvPr/>
        </p:nvSpPr>
        <p:spPr>
          <a:xfrm>
            <a:off x="8046720" y="2743200"/>
            <a:ext cx="3657600" cy="1207008"/>
          </a:xfrm>
          <a:prstGeom prst="rect">
            <a:avLst/>
          </a:prstGeom>
          <a:solidFill>
            <a:srgbClr val="F8FAFF"/>
          </a:solidFill>
          <a:ln w="6350">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56448" y="2816352"/>
            <a:ext cx="3438144" cy="177800"/>
          </a:xfrm>
          <a:prstGeom prst="rect">
            <a:avLst/>
          </a:prstGeom>
          <a:noFill/>
        </p:spPr>
        <p:txBody>
          <a:bodyPr wrap="square">
            <a:spAutoFit/>
          </a:bodyPr>
          <a:lstStyle/>
          <a:p>
            <a:pPr algn="l"/>
            <a:r>
              <a:rPr b="1" i="0" sz="750">
                <a:solidFill>
                  <a:srgbClr val="4F46E5"/>
                </a:solidFill>
              </a:rPr>
              <a:t>CHARGEMENT</a:t>
            </a:r>
          </a:p>
        </p:txBody>
      </p:sp>
      <p:sp>
        <p:nvSpPr>
          <p:cNvPr id="23" name="TextBox 22"/>
          <p:cNvSpPr txBox="1"/>
          <p:nvPr/>
        </p:nvSpPr>
        <p:spPr>
          <a:xfrm>
            <a:off x="8156448" y="2990088"/>
            <a:ext cx="3438144" cy="886968"/>
          </a:xfrm>
          <a:prstGeom prst="rect">
            <a:avLst/>
          </a:prstGeom>
          <a:noFill/>
        </p:spPr>
        <p:txBody>
          <a:bodyPr wrap="square">
            <a:spAutoFit/>
          </a:bodyPr>
          <a:lstStyle/>
          <a:p>
            <a:pPr algn="l"/>
            <a:r>
              <a:rPr b="0" i="0" sz="850">
                <a:solidFill>
                  <a:srgbClr val="374151"/>
                </a:solidFill>
              </a:rPr>
              <a:t>Toutes les données en parallèle via Promise.all() au démarrage</a:t>
            </a:r>
          </a:p>
        </p:txBody>
      </p:sp>
      <p:sp>
        <p:nvSpPr>
          <p:cNvPr id="24" name="Rectangle 23"/>
          <p:cNvSpPr/>
          <p:nvPr/>
        </p:nvSpPr>
        <p:spPr>
          <a:xfrm>
            <a:off x="457200" y="4206240"/>
            <a:ext cx="5486400" cy="1051560"/>
          </a:xfrm>
          <a:prstGeom prst="rect">
            <a:avLst/>
          </a:prstGeom>
          <a:solidFill>
            <a:srgbClr val="F8FAFF"/>
          </a:solidFill>
          <a:ln w="6350">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4279392"/>
            <a:ext cx="5266944" cy="177800"/>
          </a:xfrm>
          <a:prstGeom prst="rect">
            <a:avLst/>
          </a:prstGeom>
          <a:noFill/>
        </p:spPr>
        <p:txBody>
          <a:bodyPr wrap="square">
            <a:spAutoFit/>
          </a:bodyPr>
          <a:lstStyle/>
          <a:p>
            <a:pPr algn="l"/>
            <a:r>
              <a:rPr b="1" i="0" sz="750">
                <a:solidFill>
                  <a:srgbClr val="4F46E5"/>
                </a:solidFill>
              </a:rPr>
              <a:t>AUTHENTIFICATION ADMIN</a:t>
            </a:r>
          </a:p>
        </p:txBody>
      </p:sp>
      <p:sp>
        <p:nvSpPr>
          <p:cNvPr id="26" name="TextBox 25"/>
          <p:cNvSpPr txBox="1"/>
          <p:nvPr/>
        </p:nvSpPr>
        <p:spPr>
          <a:xfrm>
            <a:off x="566928" y="4453128"/>
            <a:ext cx="5266944" cy="731520"/>
          </a:xfrm>
          <a:prstGeom prst="rect">
            <a:avLst/>
          </a:prstGeom>
          <a:noFill/>
        </p:spPr>
        <p:txBody>
          <a:bodyPr wrap="square">
            <a:spAutoFit/>
          </a:bodyPr>
          <a:lstStyle/>
          <a:p>
            <a:pPr algn="l"/>
            <a:r>
              <a:rPr b="0" i="0" sz="850">
                <a:solidFill>
                  <a:srgbClr val="374151"/>
                </a:solidFill>
              </a:rPr>
              <a:t>Mot de passe unique (.env) → JWT signé HS256 · Valable 7 jours · Stocké en sessionStorage</a:t>
            </a:r>
          </a:p>
        </p:txBody>
      </p:sp>
      <p:sp>
        <p:nvSpPr>
          <p:cNvPr id="27" name="Rectangle 26"/>
          <p:cNvSpPr/>
          <p:nvPr/>
        </p:nvSpPr>
        <p:spPr>
          <a:xfrm>
            <a:off x="6126480" y="4206240"/>
            <a:ext cx="5605272" cy="1051560"/>
          </a:xfrm>
          <a:prstGeom prst="rect">
            <a:avLst/>
          </a:prstGeom>
          <a:solidFill>
            <a:srgbClr val="F8FAFF"/>
          </a:solidFill>
          <a:ln w="6350">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36208" y="4279392"/>
            <a:ext cx="5385816" cy="177800"/>
          </a:xfrm>
          <a:prstGeom prst="rect">
            <a:avLst/>
          </a:prstGeom>
          <a:noFill/>
        </p:spPr>
        <p:txBody>
          <a:bodyPr wrap="square">
            <a:spAutoFit/>
          </a:bodyPr>
          <a:lstStyle/>
          <a:p>
            <a:pPr algn="l"/>
            <a:r>
              <a:rPr b="1" i="0" sz="750">
                <a:solidFill>
                  <a:srgbClr val="4F46E5"/>
                </a:solidFill>
              </a:rPr>
              <a:t>PROTECTION API</a:t>
            </a:r>
          </a:p>
        </p:txBody>
      </p:sp>
      <p:sp>
        <p:nvSpPr>
          <p:cNvPr id="29" name="TextBox 28"/>
          <p:cNvSpPr txBox="1"/>
          <p:nvPr/>
        </p:nvSpPr>
        <p:spPr>
          <a:xfrm>
            <a:off x="6236208" y="4453128"/>
            <a:ext cx="5385816" cy="731520"/>
          </a:xfrm>
          <a:prstGeom prst="rect">
            <a:avLst/>
          </a:prstGeom>
          <a:noFill/>
        </p:spPr>
        <p:txBody>
          <a:bodyPr wrap="square">
            <a:spAutoFit/>
          </a:bodyPr>
          <a:lstStyle/>
          <a:p>
            <a:pPr algn="l"/>
            <a:r>
              <a:rPr b="0" i="0" sz="850">
                <a:solidFill>
                  <a:srgbClr val="374151"/>
                </a:solidFill>
              </a:rPr>
              <a:t>AdminMiddleware vérifie le JWT à chaque requête → HTTP 401 si absent ou invalide</a:t>
            </a:r>
          </a:p>
        </p:txBody>
      </p:sp>
      <p:sp>
        <p:nvSpPr>
          <p:cNvPr id="30" name="Rectangle 29"/>
          <p:cNvSpPr/>
          <p:nvPr/>
        </p:nvSpPr>
        <p:spPr>
          <a:xfrm>
            <a:off x="457200" y="5806440"/>
            <a:ext cx="11274552" cy="658368"/>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5806440"/>
            <a:ext cx="50800" cy="65836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5843016"/>
            <a:ext cx="2743200" cy="152400"/>
          </a:xfrm>
          <a:prstGeom prst="rect">
            <a:avLst/>
          </a:prstGeom>
          <a:noFill/>
        </p:spPr>
        <p:txBody>
          <a:bodyPr wrap="square">
            <a:spAutoFit/>
          </a:bodyPr>
          <a:lstStyle/>
          <a:p>
            <a:pPr algn="l"/>
            <a:r>
              <a:rPr b="1" i="0" sz="750">
                <a:solidFill>
                  <a:srgbClr val="4F46E5"/>
                </a:solidFill>
              </a:rPr>
              <a:t>À dire à l'oral</a:t>
            </a:r>
          </a:p>
        </p:txBody>
      </p:sp>
      <p:sp>
        <p:nvSpPr>
          <p:cNvPr id="33" name="TextBox 32"/>
          <p:cNvSpPr txBox="1"/>
          <p:nvPr/>
        </p:nvSpPr>
        <p:spPr>
          <a:xfrm>
            <a:off x="640080" y="6007608"/>
            <a:ext cx="10908792" cy="411480"/>
          </a:xfrm>
          <a:prstGeom prst="rect">
            <a:avLst/>
          </a:prstGeom>
          <a:noFill/>
        </p:spPr>
        <p:txBody>
          <a:bodyPr wrap="square">
            <a:spAutoFit/>
          </a:bodyPr>
          <a:lstStyle/>
          <a:p>
            <a:pPr algn="l"/>
            <a:r>
              <a:rPr b="0" i="1" sz="900">
                <a:solidFill>
                  <a:srgbClr val="4B5563"/>
                </a:solidFill>
              </a:rPr>
              <a:t>"L'admin est une SPA React sécurisée par JWT. Toutes les données sont chargées en parallèle au démarrage. Chaque route API admin retourne HTTP 401 si le token est absent ou expiré — il n'y a aucun accès sans authentification."</a:t>
            </a:r>
          </a:p>
        </p:txBody>
      </p:sp>
      <p:sp>
        <p:nvSpPr>
          <p:cNvPr id="34" name="Rectangle 33"/>
          <p:cNvSpPr/>
          <p:nvPr/>
        </p:nvSpPr>
        <p:spPr>
          <a:xfrm>
            <a:off x="457200" y="6492240"/>
            <a:ext cx="11274552" cy="12700"/>
          </a:xfrm>
          <a:prstGeom prst="rect">
            <a:avLst/>
          </a:prstGeom>
          <a:solidFill>
            <a:srgbClr val="E0E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6537960"/>
            <a:ext cx="5486400" cy="228600"/>
          </a:xfrm>
          <a:prstGeom prst="rect">
            <a:avLst/>
          </a:prstGeom>
          <a:noFill/>
        </p:spPr>
        <p:txBody>
          <a:bodyPr wrap="square">
            <a:spAutoFit/>
          </a:bodyPr>
          <a:lstStyle/>
          <a:p>
            <a:pPr algn="l"/>
            <a:r>
              <a:rPr b="0" i="0" sz="800">
                <a:solidFill>
                  <a:srgbClr val="9CA3AF"/>
                </a:solidFill>
              </a:rPr>
              <a:t>Maison Saclay — Projet OP-1</a:t>
            </a:r>
          </a:p>
        </p:txBody>
      </p:sp>
      <p:sp>
        <p:nvSpPr>
          <p:cNvPr id="36" name="TextBox 35"/>
          <p:cNvSpPr txBox="1"/>
          <p:nvPr/>
        </p:nvSpPr>
        <p:spPr>
          <a:xfrm>
            <a:off x="6245352" y="6537960"/>
            <a:ext cx="5486400" cy="228600"/>
          </a:xfrm>
          <a:prstGeom prst="rect">
            <a:avLst/>
          </a:prstGeom>
          <a:noFill/>
        </p:spPr>
        <p:txBody>
          <a:bodyPr wrap="square">
            <a:spAutoFit/>
          </a:bodyPr>
          <a:lstStyle/>
          <a:p>
            <a:pPr algn="r"/>
            <a:r>
              <a:rPr b="0" i="0" sz="800">
                <a:solidFill>
                  <a:srgbClr val="9CA3AF"/>
                </a:solidFill>
              </a:rPr>
              <a:t>Slide 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3500"/>
          </a:xfrm>
          <a:prstGeom prst="rect">
            <a:avLst/>
          </a:prstGeom>
          <a:gradFill rotWithShape="1">
            <a:gsLst>
              <a:gs pos="0">
                <a:srgbClr val="4F46E5"/>
              </a:gs>
              <a:gs pos="100000">
                <a:srgbClr val="4338CA"/>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9144000" cy="177800"/>
          </a:xfrm>
          <a:prstGeom prst="rect">
            <a:avLst/>
          </a:prstGeom>
          <a:noFill/>
        </p:spPr>
        <p:txBody>
          <a:bodyPr wrap="square">
            <a:spAutoFit/>
          </a:bodyPr>
          <a:lstStyle/>
          <a:p>
            <a:pPr algn="l"/>
            <a:r>
              <a:rPr b="1" i="0" sz="800">
                <a:solidFill>
                  <a:srgbClr val="4F46E5"/>
                </a:solidFill>
              </a:rPr>
              <a:t>WIFI — TP-LINK EAP330</a:t>
            </a:r>
          </a:p>
        </p:txBody>
      </p:sp>
      <p:sp>
        <p:nvSpPr>
          <p:cNvPr id="4" name="TextBox 3"/>
          <p:cNvSpPr txBox="1"/>
          <p:nvPr/>
        </p:nvSpPr>
        <p:spPr>
          <a:xfrm>
            <a:off x="457200" y="329184"/>
            <a:ext cx="11274552" cy="731520"/>
          </a:xfrm>
          <a:prstGeom prst="rect">
            <a:avLst/>
          </a:prstGeom>
          <a:noFill/>
        </p:spPr>
        <p:txBody>
          <a:bodyPr wrap="square">
            <a:spAutoFit/>
          </a:bodyPr>
          <a:lstStyle/>
          <a:p>
            <a:pPr algn="l"/>
            <a:r>
              <a:rPr b="1" i="0" sz="2600">
                <a:solidFill>
                  <a:srgbClr val="1A1A2E"/>
                </a:solidFill>
              </a:rPr>
              <a:t>Portail captif WiFi</a:t>
            </a:r>
          </a:p>
        </p:txBody>
      </p:sp>
      <p:sp>
        <p:nvSpPr>
          <p:cNvPr id="5" name="TextBox 4"/>
          <p:cNvSpPr txBox="1"/>
          <p:nvPr/>
        </p:nvSpPr>
        <p:spPr>
          <a:xfrm>
            <a:off x="457200" y="914400"/>
            <a:ext cx="11274552" cy="279400"/>
          </a:xfrm>
          <a:prstGeom prst="rect">
            <a:avLst/>
          </a:prstGeom>
          <a:noFill/>
        </p:spPr>
        <p:txBody>
          <a:bodyPr wrap="square">
            <a:spAutoFit/>
          </a:bodyPr>
          <a:lstStyle/>
          <a:p>
            <a:pPr algn="l"/>
            <a:r>
              <a:rPr b="0" i="0" sz="1100">
                <a:solidFill>
                  <a:srgbClr val="6B7280"/>
                </a:solidFill>
              </a:rPr>
              <a:t>Authentification des clients par numéro de chambre</a:t>
            </a:r>
          </a:p>
        </p:txBody>
      </p:sp>
      <p:sp>
        <p:nvSpPr>
          <p:cNvPr id="6" name="Rectangle 5"/>
          <p:cNvSpPr/>
          <p:nvPr/>
        </p:nvSpPr>
        <p:spPr>
          <a:xfrm>
            <a:off x="457200" y="1325880"/>
            <a:ext cx="11274552" cy="594360"/>
          </a:xfrm>
          <a:prstGeom prst="rect">
            <a:avLst/>
          </a:prstGeom>
          <a:solidFill>
            <a:srgbClr val="F8FAFF"/>
          </a:solidFill>
          <a:ln w="6350">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71600"/>
            <a:ext cx="1572768" cy="475488"/>
          </a:xfrm>
          <a:prstGeom prst="rect">
            <a:avLst/>
          </a:prstGeom>
          <a:solidFill>
            <a:srgbClr val="FFFFFF"/>
          </a:solidFill>
          <a:ln w="508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417320"/>
            <a:ext cx="1572768" cy="411480"/>
          </a:xfrm>
          <a:prstGeom prst="rect">
            <a:avLst/>
          </a:prstGeom>
          <a:noFill/>
        </p:spPr>
        <p:txBody>
          <a:bodyPr wrap="square">
            <a:spAutoFit/>
          </a:bodyPr>
          <a:lstStyle/>
          <a:p>
            <a:pPr algn="ctr"/>
            <a:r>
              <a:rPr b="0" i="0" sz="750">
                <a:solidFill>
                  <a:srgbClr val="1A1A2E"/>
                </a:solidFill>
              </a:rPr>
              <a:t>Téléphone → OP1_Wifi</a:t>
            </a:r>
          </a:p>
        </p:txBody>
      </p:sp>
      <p:sp>
        <p:nvSpPr>
          <p:cNvPr id="9" name="TextBox 8"/>
          <p:cNvSpPr txBox="1"/>
          <p:nvPr/>
        </p:nvSpPr>
        <p:spPr>
          <a:xfrm>
            <a:off x="2177796" y="1417320"/>
            <a:ext cx="203200" cy="411480"/>
          </a:xfrm>
          <a:prstGeom prst="rect">
            <a:avLst/>
          </a:prstGeom>
          <a:noFill/>
        </p:spPr>
        <p:txBody>
          <a:bodyPr wrap="square">
            <a:spAutoFit/>
          </a:bodyPr>
          <a:lstStyle/>
          <a:p>
            <a:pPr algn="ctr"/>
            <a:r>
              <a:rPr b="1" i="0" sz="1400">
                <a:solidFill>
                  <a:srgbClr val="4F46E5"/>
                </a:solidFill>
              </a:rPr>
              <a:t>→</a:t>
            </a:r>
          </a:p>
        </p:txBody>
      </p:sp>
      <p:sp>
        <p:nvSpPr>
          <p:cNvPr id="10" name="Rectangle 9"/>
          <p:cNvSpPr/>
          <p:nvPr/>
        </p:nvSpPr>
        <p:spPr>
          <a:xfrm>
            <a:off x="2419096" y="1371600"/>
            <a:ext cx="1572768" cy="475488"/>
          </a:xfrm>
          <a:prstGeom prst="rect">
            <a:avLst/>
          </a:prstGeom>
          <a:solidFill>
            <a:srgbClr val="FFFFFF"/>
          </a:solidFill>
          <a:ln w="508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19096" y="1417320"/>
            <a:ext cx="1572768" cy="411480"/>
          </a:xfrm>
          <a:prstGeom prst="rect">
            <a:avLst/>
          </a:prstGeom>
          <a:noFill/>
        </p:spPr>
        <p:txBody>
          <a:bodyPr wrap="square">
            <a:spAutoFit/>
          </a:bodyPr>
          <a:lstStyle/>
          <a:p>
            <a:pPr algn="ctr"/>
            <a:r>
              <a:rPr b="0" i="0" sz="750">
                <a:solidFill>
                  <a:srgbClr val="1A1A2E"/>
                </a:solidFill>
              </a:rPr>
              <a:t>Portail EAP330</a:t>
            </a:r>
          </a:p>
        </p:txBody>
      </p:sp>
      <p:sp>
        <p:nvSpPr>
          <p:cNvPr id="12" name="TextBox 11"/>
          <p:cNvSpPr txBox="1"/>
          <p:nvPr/>
        </p:nvSpPr>
        <p:spPr>
          <a:xfrm>
            <a:off x="4029964" y="1417320"/>
            <a:ext cx="203200" cy="411480"/>
          </a:xfrm>
          <a:prstGeom prst="rect">
            <a:avLst/>
          </a:prstGeom>
          <a:noFill/>
        </p:spPr>
        <p:txBody>
          <a:bodyPr wrap="square">
            <a:spAutoFit/>
          </a:bodyPr>
          <a:lstStyle/>
          <a:p>
            <a:pPr algn="ctr"/>
            <a:r>
              <a:rPr b="1" i="0" sz="1400">
                <a:solidFill>
                  <a:srgbClr val="4F46E5"/>
                </a:solidFill>
              </a:rPr>
              <a:t>→</a:t>
            </a:r>
          </a:p>
        </p:txBody>
      </p:sp>
      <p:sp>
        <p:nvSpPr>
          <p:cNvPr id="13" name="Rectangle 12"/>
          <p:cNvSpPr/>
          <p:nvPr/>
        </p:nvSpPr>
        <p:spPr>
          <a:xfrm>
            <a:off x="4271264" y="1371600"/>
            <a:ext cx="1572768" cy="475488"/>
          </a:xfrm>
          <a:prstGeom prst="rect">
            <a:avLst/>
          </a:prstGeom>
          <a:solidFill>
            <a:srgbClr val="FFFFFF"/>
          </a:solidFill>
          <a:ln w="508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71264" y="1417320"/>
            <a:ext cx="1572768" cy="411480"/>
          </a:xfrm>
          <a:prstGeom prst="rect">
            <a:avLst/>
          </a:prstGeom>
          <a:noFill/>
        </p:spPr>
        <p:txBody>
          <a:bodyPr wrap="square">
            <a:spAutoFit/>
          </a:bodyPr>
          <a:lstStyle/>
          <a:p>
            <a:pPr algn="ctr"/>
            <a:r>
              <a:rPr b="0" i="0" sz="750">
                <a:solidFill>
                  <a:srgbClr val="1A1A2E"/>
                </a:solidFill>
              </a:rPr>
              <a:t>Login : 201 / 201</a:t>
            </a:r>
          </a:p>
        </p:txBody>
      </p:sp>
      <p:sp>
        <p:nvSpPr>
          <p:cNvPr id="15" name="TextBox 14"/>
          <p:cNvSpPr txBox="1"/>
          <p:nvPr/>
        </p:nvSpPr>
        <p:spPr>
          <a:xfrm>
            <a:off x="5882132" y="1417320"/>
            <a:ext cx="203200" cy="411480"/>
          </a:xfrm>
          <a:prstGeom prst="rect">
            <a:avLst/>
          </a:prstGeom>
          <a:noFill/>
        </p:spPr>
        <p:txBody>
          <a:bodyPr wrap="square">
            <a:spAutoFit/>
          </a:bodyPr>
          <a:lstStyle/>
          <a:p>
            <a:pPr algn="ctr"/>
            <a:r>
              <a:rPr b="1" i="0" sz="1400">
                <a:solidFill>
                  <a:srgbClr val="4F46E5"/>
                </a:solidFill>
              </a:rPr>
              <a:t>→</a:t>
            </a:r>
          </a:p>
        </p:txBody>
      </p:sp>
      <p:sp>
        <p:nvSpPr>
          <p:cNvPr id="16" name="Rectangle 15"/>
          <p:cNvSpPr/>
          <p:nvPr/>
        </p:nvSpPr>
        <p:spPr>
          <a:xfrm>
            <a:off x="6123432" y="1371600"/>
            <a:ext cx="1572768" cy="475488"/>
          </a:xfrm>
          <a:prstGeom prst="rect">
            <a:avLst/>
          </a:prstGeom>
          <a:solidFill>
            <a:srgbClr val="FFFFFF"/>
          </a:solidFill>
          <a:ln w="508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3432" y="1417320"/>
            <a:ext cx="1572768" cy="411480"/>
          </a:xfrm>
          <a:prstGeom prst="rect">
            <a:avLst/>
          </a:prstGeom>
          <a:noFill/>
        </p:spPr>
        <p:txBody>
          <a:bodyPr wrap="square">
            <a:spAutoFit/>
          </a:bodyPr>
          <a:lstStyle/>
          <a:p>
            <a:pPr algn="ctr"/>
            <a:r>
              <a:rPr b="0" i="0" sz="750">
                <a:solidFill>
                  <a:srgbClr val="1A1A2E"/>
                </a:solidFill>
              </a:rPr>
              <a:t>RADIUS :18120</a:t>
            </a:r>
          </a:p>
        </p:txBody>
      </p:sp>
      <p:sp>
        <p:nvSpPr>
          <p:cNvPr id="18" name="TextBox 17"/>
          <p:cNvSpPr txBox="1"/>
          <p:nvPr/>
        </p:nvSpPr>
        <p:spPr>
          <a:xfrm>
            <a:off x="7734300" y="1417320"/>
            <a:ext cx="203200" cy="411480"/>
          </a:xfrm>
          <a:prstGeom prst="rect">
            <a:avLst/>
          </a:prstGeom>
          <a:noFill/>
        </p:spPr>
        <p:txBody>
          <a:bodyPr wrap="square">
            <a:spAutoFit/>
          </a:bodyPr>
          <a:lstStyle/>
          <a:p>
            <a:pPr algn="ctr"/>
            <a:r>
              <a:rPr b="1" i="0" sz="1400">
                <a:solidFill>
                  <a:srgbClr val="4F46E5"/>
                </a:solidFill>
              </a:rPr>
              <a:t>→</a:t>
            </a:r>
          </a:p>
        </p:txBody>
      </p:sp>
      <p:sp>
        <p:nvSpPr>
          <p:cNvPr id="19" name="Rectangle 18"/>
          <p:cNvSpPr/>
          <p:nvPr/>
        </p:nvSpPr>
        <p:spPr>
          <a:xfrm>
            <a:off x="7975600" y="1371600"/>
            <a:ext cx="1572768" cy="475488"/>
          </a:xfrm>
          <a:prstGeom prst="rect">
            <a:avLst/>
          </a:prstGeom>
          <a:solidFill>
            <a:srgbClr val="FFFFFF"/>
          </a:solidFill>
          <a:ln w="508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75600" y="1417320"/>
            <a:ext cx="1572768" cy="411480"/>
          </a:xfrm>
          <a:prstGeom prst="rect">
            <a:avLst/>
          </a:prstGeom>
          <a:noFill/>
        </p:spPr>
        <p:txBody>
          <a:bodyPr wrap="square">
            <a:spAutoFit/>
          </a:bodyPr>
          <a:lstStyle/>
          <a:p>
            <a:pPr algn="ctr"/>
            <a:r>
              <a:rPr b="0" i="0" sz="750">
                <a:solidFill>
                  <a:srgbClr val="1A1A2E"/>
                </a:solidFill>
              </a:rPr>
              <a:t>FreeRADIUS Docker</a:t>
            </a:r>
          </a:p>
        </p:txBody>
      </p:sp>
      <p:sp>
        <p:nvSpPr>
          <p:cNvPr id="21" name="TextBox 20"/>
          <p:cNvSpPr txBox="1"/>
          <p:nvPr/>
        </p:nvSpPr>
        <p:spPr>
          <a:xfrm>
            <a:off x="9586468" y="1417320"/>
            <a:ext cx="203200" cy="411480"/>
          </a:xfrm>
          <a:prstGeom prst="rect">
            <a:avLst/>
          </a:prstGeom>
          <a:noFill/>
        </p:spPr>
        <p:txBody>
          <a:bodyPr wrap="square">
            <a:spAutoFit/>
          </a:bodyPr>
          <a:lstStyle/>
          <a:p>
            <a:pPr algn="ctr"/>
            <a:r>
              <a:rPr b="1" i="0" sz="1400">
                <a:solidFill>
                  <a:srgbClr val="4F46E5"/>
                </a:solidFill>
              </a:rPr>
              <a:t>→</a:t>
            </a:r>
          </a:p>
        </p:txBody>
      </p:sp>
      <p:sp>
        <p:nvSpPr>
          <p:cNvPr id="22" name="Rectangle 21"/>
          <p:cNvSpPr/>
          <p:nvPr/>
        </p:nvSpPr>
        <p:spPr>
          <a:xfrm>
            <a:off x="9827768" y="1371600"/>
            <a:ext cx="1572768" cy="475488"/>
          </a:xfrm>
          <a:prstGeom prst="rect">
            <a:avLst/>
          </a:prstGeom>
          <a:solidFill>
            <a:srgbClr val="FFFFFF"/>
          </a:solidFill>
          <a:ln w="508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27768" y="1417320"/>
            <a:ext cx="1572768" cy="411480"/>
          </a:xfrm>
          <a:prstGeom prst="rect">
            <a:avLst/>
          </a:prstGeom>
          <a:noFill/>
        </p:spPr>
        <p:txBody>
          <a:bodyPr wrap="square">
            <a:spAutoFit/>
          </a:bodyPr>
          <a:lstStyle/>
          <a:p>
            <a:pPr algn="ctr"/>
            <a:r>
              <a:rPr b="0" i="0" sz="750">
                <a:solidFill>
                  <a:srgbClr val="1A1A2E"/>
                </a:solidFill>
              </a:rPr>
              <a:t>Access-Accept → Internet OK</a:t>
            </a:r>
          </a:p>
        </p:txBody>
      </p:sp>
      <p:sp>
        <p:nvSpPr>
          <p:cNvPr id="24" name="TextBox 23"/>
          <p:cNvSpPr txBox="1"/>
          <p:nvPr/>
        </p:nvSpPr>
        <p:spPr>
          <a:xfrm>
            <a:off x="457200" y="2084831"/>
            <a:ext cx="11274552" cy="1828800"/>
          </a:xfrm>
          <a:prstGeom prst="rect">
            <a:avLst/>
          </a:prstGeom>
          <a:noFill/>
        </p:spPr>
        <p:txBody>
          <a:bodyPr wrap="square">
            <a:spAutoFit/>
          </a:bodyPr>
          <a:lstStyle/>
          <a:p>
            <a:pPr>
              <a:spcBef>
                <a:spcPts val="300"/>
              </a:spcBef>
            </a:pPr>
            <a:r>
              <a:rPr sz="600" b="1">
                <a:solidFill>
                  <a:srgbClr val="4F46E5"/>
                </a:solidFill>
              </a:rPr>
              <a:t>●  </a:t>
            </a:r>
            <a:r>
              <a:rPr sz="1100">
                <a:solidFill>
                  <a:srgbClr val="1A1A2E"/>
                </a:solidFill>
              </a:rPr>
              <a:t>Identifiant = Mot de passe = Numéro de chambre (101 à 603)</a:t>
            </a:r>
          </a:p>
          <a:p>
            <a:pPr>
              <a:spcBef>
                <a:spcPts val="300"/>
              </a:spcBef>
            </a:pPr>
            <a:r>
              <a:rPr sz="600" b="1">
                <a:solidFill>
                  <a:srgbClr val="4F46E5"/>
                </a:solidFill>
              </a:rPr>
              <a:t>●  </a:t>
            </a:r>
            <a:r>
              <a:rPr sz="1100">
                <a:solidFill>
                  <a:srgbClr val="1A1A2E"/>
                </a:solidFill>
              </a:rPr>
              <a:t>Borne EAP330 en mode "Local Web Portal" + RADIUS externe</a:t>
            </a:r>
          </a:p>
          <a:p>
            <a:pPr>
              <a:spcBef>
                <a:spcPts val="300"/>
              </a:spcBef>
            </a:pPr>
            <a:r>
              <a:rPr sz="600" b="1">
                <a:solidFill>
                  <a:srgbClr val="4F46E5"/>
                </a:solidFill>
              </a:rPr>
              <a:t>●  </a:t>
            </a:r>
            <a:r>
              <a:rPr sz="1100">
                <a:solidFill>
                  <a:srgbClr val="1A1A2E"/>
                </a:solidFill>
              </a:rPr>
              <a:t>Session autorisée 1 heure — puis re-authentification requise</a:t>
            </a:r>
          </a:p>
          <a:p>
            <a:pPr>
              <a:spcBef>
                <a:spcPts val="300"/>
              </a:spcBef>
            </a:pPr>
            <a:r>
              <a:rPr sz="600" b="1">
                <a:solidFill>
                  <a:srgbClr val="4F46E5"/>
                </a:solidFill>
              </a:rPr>
              <a:t>●  </a:t>
            </a:r>
            <a:r>
              <a:rPr sz="1100">
                <a:solidFill>
                  <a:srgbClr val="1A1A2E"/>
                </a:solidFill>
              </a:rPr>
              <a:t>FreeRADIUS répond Access-Accept (OK) ou Access-Reject (refusé)</a:t>
            </a:r>
          </a:p>
          <a:p>
            <a:pPr>
              <a:spcBef>
                <a:spcPts val="300"/>
              </a:spcBef>
            </a:pPr>
            <a:r>
              <a:rPr sz="600" b="1">
                <a:solidFill>
                  <a:srgbClr val="4F46E5"/>
                </a:solidFill>
              </a:rPr>
              <a:t>●  </a:t>
            </a:r>
            <a:r>
              <a:rPr sz="1100">
                <a:solidFill>
                  <a:srgbClr val="1A1A2E"/>
                </a:solidFill>
              </a:rPr>
              <a:t>RADIUS = protocole standard en hôtellerie, entreprises et universités</a:t>
            </a:r>
          </a:p>
        </p:txBody>
      </p:sp>
      <p:sp>
        <p:nvSpPr>
          <p:cNvPr id="25" name="Rectangle 24"/>
          <p:cNvSpPr/>
          <p:nvPr/>
        </p:nvSpPr>
        <p:spPr>
          <a:xfrm>
            <a:off x="457200" y="4114800"/>
            <a:ext cx="5303520" cy="347472"/>
          </a:xfrm>
          <a:prstGeom prst="rect">
            <a:avLst/>
          </a:prstGeom>
          <a:solidFill>
            <a:srgbClr val="ECFDF5"/>
          </a:solidFill>
          <a:ln w="6350">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 y="4151376"/>
            <a:ext cx="5120640" cy="292608"/>
          </a:xfrm>
          <a:prstGeom prst="rect">
            <a:avLst/>
          </a:prstGeom>
          <a:noFill/>
        </p:spPr>
        <p:txBody>
          <a:bodyPr wrap="square">
            <a:spAutoFit/>
          </a:bodyPr>
          <a:lstStyle/>
          <a:p>
            <a:pPr algn="l"/>
            <a:r>
              <a:rPr b="1" i="0" sz="900">
                <a:solidFill>
                  <a:srgbClr val="065F46"/>
                </a:solidFill>
              </a:rPr>
              <a:t>📱  Démo live : connexion WiFi depuis un téléphone — chambre 201</a:t>
            </a:r>
          </a:p>
        </p:txBody>
      </p:sp>
      <p:sp>
        <p:nvSpPr>
          <p:cNvPr id="27" name="Rectangle 26"/>
          <p:cNvSpPr/>
          <p:nvPr/>
        </p:nvSpPr>
        <p:spPr>
          <a:xfrm>
            <a:off x="457200" y="5806440"/>
            <a:ext cx="11274552" cy="658368"/>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5806440"/>
            <a:ext cx="50800" cy="65836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5843016"/>
            <a:ext cx="2743200" cy="152400"/>
          </a:xfrm>
          <a:prstGeom prst="rect">
            <a:avLst/>
          </a:prstGeom>
          <a:noFill/>
        </p:spPr>
        <p:txBody>
          <a:bodyPr wrap="square">
            <a:spAutoFit/>
          </a:bodyPr>
          <a:lstStyle/>
          <a:p>
            <a:pPr algn="l"/>
            <a:r>
              <a:rPr b="1" i="0" sz="750">
                <a:solidFill>
                  <a:srgbClr val="4F46E5"/>
                </a:solidFill>
              </a:rPr>
              <a:t>À dire à l'oral</a:t>
            </a:r>
          </a:p>
        </p:txBody>
      </p:sp>
      <p:sp>
        <p:nvSpPr>
          <p:cNvPr id="30" name="TextBox 29"/>
          <p:cNvSpPr txBox="1"/>
          <p:nvPr/>
        </p:nvSpPr>
        <p:spPr>
          <a:xfrm>
            <a:off x="640080" y="6007608"/>
            <a:ext cx="10908792" cy="411480"/>
          </a:xfrm>
          <a:prstGeom prst="rect">
            <a:avLst/>
          </a:prstGeom>
          <a:noFill/>
        </p:spPr>
        <p:txBody>
          <a:bodyPr wrap="square">
            <a:spAutoFit/>
          </a:bodyPr>
          <a:lstStyle/>
          <a:p>
            <a:pPr algn="l"/>
            <a:r>
              <a:rPr b="0" i="1" sz="900">
                <a:solidFill>
                  <a:srgbClr val="4B5563"/>
                </a:solidFill>
              </a:rPr>
              <a:t>"Le portail captif utilise le protocole RADIUS, standard dans les réseaux hôteliers. La borne TP-Link délègue l'authentification à FreeRADIUS dans Docker. Le client entre son numéro de chambre et accède à Internet."</a:t>
            </a:r>
          </a:p>
        </p:txBody>
      </p:sp>
      <p:sp>
        <p:nvSpPr>
          <p:cNvPr id="31" name="Rectangle 30"/>
          <p:cNvSpPr/>
          <p:nvPr/>
        </p:nvSpPr>
        <p:spPr>
          <a:xfrm>
            <a:off x="457200" y="6492240"/>
            <a:ext cx="11274552" cy="12700"/>
          </a:xfrm>
          <a:prstGeom prst="rect">
            <a:avLst/>
          </a:prstGeom>
          <a:solidFill>
            <a:srgbClr val="E0E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6537960"/>
            <a:ext cx="5486400" cy="228600"/>
          </a:xfrm>
          <a:prstGeom prst="rect">
            <a:avLst/>
          </a:prstGeom>
          <a:noFill/>
        </p:spPr>
        <p:txBody>
          <a:bodyPr wrap="square">
            <a:spAutoFit/>
          </a:bodyPr>
          <a:lstStyle/>
          <a:p>
            <a:pPr algn="l"/>
            <a:r>
              <a:rPr b="0" i="0" sz="800">
                <a:solidFill>
                  <a:srgbClr val="9CA3AF"/>
                </a:solidFill>
              </a:rPr>
              <a:t>Maison Saclay — Projet OP-1</a:t>
            </a:r>
          </a:p>
        </p:txBody>
      </p:sp>
      <p:sp>
        <p:nvSpPr>
          <p:cNvPr id="33" name="TextBox 32"/>
          <p:cNvSpPr txBox="1"/>
          <p:nvPr/>
        </p:nvSpPr>
        <p:spPr>
          <a:xfrm>
            <a:off x="6245352" y="6537960"/>
            <a:ext cx="5486400" cy="228600"/>
          </a:xfrm>
          <a:prstGeom prst="rect">
            <a:avLst/>
          </a:prstGeom>
          <a:noFill/>
        </p:spPr>
        <p:txBody>
          <a:bodyPr wrap="square">
            <a:spAutoFit/>
          </a:bodyPr>
          <a:lstStyle/>
          <a:p>
            <a:pPr algn="r"/>
            <a:r>
              <a:rPr b="0" i="0" sz="800">
                <a:solidFill>
                  <a:srgbClr val="9CA3AF"/>
                </a:solidFill>
              </a:rPr>
              <a:t>Slide 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3500"/>
          </a:xfrm>
          <a:prstGeom prst="rect">
            <a:avLst/>
          </a:prstGeom>
          <a:gradFill rotWithShape="1">
            <a:gsLst>
              <a:gs pos="0">
                <a:srgbClr val="4F46E5"/>
              </a:gs>
              <a:gs pos="100000">
                <a:srgbClr val="4338CA"/>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9144000" cy="177800"/>
          </a:xfrm>
          <a:prstGeom prst="rect">
            <a:avLst/>
          </a:prstGeom>
          <a:noFill/>
        </p:spPr>
        <p:txBody>
          <a:bodyPr wrap="square">
            <a:spAutoFit/>
          </a:bodyPr>
          <a:lstStyle/>
          <a:p>
            <a:pPr algn="l"/>
            <a:r>
              <a:rPr b="1" i="0" sz="800">
                <a:solidFill>
                  <a:srgbClr val="4F46E5"/>
                </a:solidFill>
              </a:rPr>
              <a:t>FREERADIUS + REMONTÉE ADMIN</a:t>
            </a:r>
          </a:p>
        </p:txBody>
      </p:sp>
      <p:sp>
        <p:nvSpPr>
          <p:cNvPr id="4" name="TextBox 3"/>
          <p:cNvSpPr txBox="1"/>
          <p:nvPr/>
        </p:nvSpPr>
        <p:spPr>
          <a:xfrm>
            <a:off x="457200" y="329184"/>
            <a:ext cx="11274552" cy="731520"/>
          </a:xfrm>
          <a:prstGeom prst="rect">
            <a:avLst/>
          </a:prstGeom>
          <a:noFill/>
        </p:spPr>
        <p:txBody>
          <a:bodyPr wrap="square">
            <a:spAutoFit/>
          </a:bodyPr>
          <a:lstStyle/>
          <a:p>
            <a:pPr algn="l"/>
            <a:r>
              <a:rPr b="1" i="0" sz="2600">
                <a:solidFill>
                  <a:srgbClr val="1A1A2E"/>
                </a:solidFill>
              </a:rPr>
              <a:t>Sessions WiFi dans l'admin</a:t>
            </a:r>
          </a:p>
        </p:txBody>
      </p:sp>
      <p:sp>
        <p:nvSpPr>
          <p:cNvPr id="5" name="TextBox 4"/>
          <p:cNvSpPr txBox="1"/>
          <p:nvPr/>
        </p:nvSpPr>
        <p:spPr>
          <a:xfrm>
            <a:off x="457200" y="1234440"/>
            <a:ext cx="11274552" cy="2011680"/>
          </a:xfrm>
          <a:prstGeom prst="rect">
            <a:avLst/>
          </a:prstGeom>
          <a:noFill/>
        </p:spPr>
        <p:txBody>
          <a:bodyPr wrap="square">
            <a:spAutoFit/>
          </a:bodyPr>
          <a:lstStyle/>
          <a:p>
            <a:pPr>
              <a:spcBef>
                <a:spcPts val="300"/>
              </a:spcBef>
            </a:pPr>
            <a:r>
              <a:rPr sz="600" b="1">
                <a:solidFill>
                  <a:srgbClr val="4F46E5"/>
                </a:solidFill>
              </a:rPr>
              <a:t>●  </a:t>
            </a:r>
            <a:r>
              <a:rPr b="1" sz="1100">
                <a:solidFill>
                  <a:srgbClr val="1A1A2E"/>
                </a:solidFill>
              </a:rPr>
              <a:t>FreeRADIUS dans Docker : </a:t>
            </a:r>
            <a:r>
              <a:rPr b="0" sz="1100">
                <a:solidFill>
                  <a:srgbClr val="1A1A2E"/>
                </a:solidFill>
              </a:rPr>
              <a:t>10 chambres (101–603) configurées, secret partagé avec la borne</a:t>
            </a:r>
          </a:p>
          <a:p>
            <a:pPr>
              <a:spcBef>
                <a:spcPts val="300"/>
              </a:spcBef>
            </a:pPr>
            <a:r>
              <a:rPr sz="600" b="1">
                <a:solidFill>
                  <a:srgbClr val="4F46E5"/>
                </a:solidFill>
              </a:rPr>
              <a:t>●  </a:t>
            </a:r>
            <a:r>
              <a:rPr b="1" sz="1100">
                <a:solidFill>
                  <a:srgbClr val="1A1A2E"/>
                </a:solidFill>
              </a:rPr>
              <a:t>Relay UDP PowerShell : </a:t>
            </a:r>
            <a:r>
              <a:rPr b="0" sz="1100">
                <a:solidFill>
                  <a:srgbClr val="1A1A2E"/>
                </a:solidFill>
              </a:rPr>
              <a:t>contourne la limitation Docker Desktop Windows — écoute :18120, retransmet vers FreeRADIUS :1812</a:t>
            </a:r>
          </a:p>
          <a:p>
            <a:pPr>
              <a:spcBef>
                <a:spcPts val="300"/>
              </a:spcBef>
            </a:pPr>
            <a:r>
              <a:rPr sz="600" b="1">
                <a:solidFill>
                  <a:srgbClr val="4F46E5"/>
                </a:solidFill>
              </a:rPr>
              <a:t>●  </a:t>
            </a:r>
            <a:r>
              <a:rPr b="1" sz="1100">
                <a:solidFill>
                  <a:srgbClr val="1A1A2E"/>
                </a:solidFill>
              </a:rPr>
              <a:t>Script sync_radius_sessions.sh : </a:t>
            </a:r>
            <a:r>
              <a:rPr b="0" sz="1100">
                <a:solidFill>
                  <a:srgbClr val="1A1A2E"/>
                </a:solidFill>
              </a:rPr>
              <a:t>parse les logs FreeRADIUS, insère/met à jour MySQL (idempotent — sans doublons)</a:t>
            </a:r>
          </a:p>
          <a:p>
            <a:pPr>
              <a:spcBef>
                <a:spcPts val="300"/>
              </a:spcBef>
            </a:pPr>
            <a:r>
              <a:rPr sz="600" b="1">
                <a:solidFill>
                  <a:srgbClr val="4F46E5"/>
                </a:solidFill>
              </a:rPr>
              <a:t>●  </a:t>
            </a:r>
            <a:r>
              <a:rPr b="1" sz="1100">
                <a:solidFill>
                  <a:srgbClr val="1A1A2E"/>
                </a:solidFill>
              </a:rPr>
              <a:t>Onglet WiFi de l'admin : </a:t>
            </a:r>
            <a:r>
              <a:rPr b="0" sz="1100">
                <a:solidFill>
                  <a:srgbClr val="1A1A2E"/>
                </a:solidFill>
              </a:rPr>
              <a:t>appareils connectés, chambres, adresses MAC, Access-Accept/Reject</a:t>
            </a:r>
          </a:p>
          <a:p>
            <a:pPr>
              <a:spcBef>
                <a:spcPts val="300"/>
              </a:spcBef>
            </a:pPr>
            <a:r>
              <a:rPr sz="600" b="1">
                <a:solidFill>
                  <a:srgbClr val="4F46E5"/>
                </a:solidFill>
              </a:rPr>
              <a:t>●  </a:t>
            </a:r>
            <a:r>
              <a:rPr b="1" sz="1100">
                <a:solidFill>
                  <a:srgbClr val="1A1A2E"/>
                </a:solidFill>
              </a:rPr>
              <a:t>Activité réseau : </a:t>
            </a:r>
            <a:r>
              <a:rPr b="0" sz="1100">
                <a:solidFill>
                  <a:srgbClr val="1A1A2E"/>
                </a:solidFill>
              </a:rPr>
              <a:t>section de démonstration honnêtement labelisée (domaines DNS consultés)</a:t>
            </a:r>
          </a:p>
        </p:txBody>
      </p:sp>
      <p:sp>
        <p:nvSpPr>
          <p:cNvPr id="6" name="Rectangle 5"/>
          <p:cNvSpPr/>
          <p:nvPr/>
        </p:nvSpPr>
        <p:spPr>
          <a:xfrm>
            <a:off x="457200" y="3429000"/>
            <a:ext cx="5486400" cy="1051560"/>
          </a:xfrm>
          <a:prstGeom prst="rect">
            <a:avLst/>
          </a:prstGeom>
          <a:solidFill>
            <a:srgbClr val="F8FAFF"/>
          </a:solidFill>
          <a:ln w="6350">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3502152"/>
            <a:ext cx="5266944" cy="177800"/>
          </a:xfrm>
          <a:prstGeom prst="rect">
            <a:avLst/>
          </a:prstGeom>
          <a:noFill/>
        </p:spPr>
        <p:txBody>
          <a:bodyPr wrap="square">
            <a:spAutoFit/>
          </a:bodyPr>
          <a:lstStyle/>
          <a:p>
            <a:pPr algn="l"/>
            <a:r>
              <a:rPr b="1" i="0" sz="750">
                <a:solidFill>
                  <a:srgbClr val="4F46E5"/>
                </a:solidFill>
              </a:rPr>
              <a:t>DONNÉES WIFI EN BASE (RÉELLES)</a:t>
            </a:r>
          </a:p>
        </p:txBody>
      </p:sp>
      <p:sp>
        <p:nvSpPr>
          <p:cNvPr id="8" name="TextBox 7"/>
          <p:cNvSpPr txBox="1"/>
          <p:nvPr/>
        </p:nvSpPr>
        <p:spPr>
          <a:xfrm>
            <a:off x="566928" y="3675888"/>
            <a:ext cx="5266944" cy="731520"/>
          </a:xfrm>
          <a:prstGeom prst="rect">
            <a:avLst/>
          </a:prstGeom>
          <a:noFill/>
        </p:spPr>
        <p:txBody>
          <a:bodyPr wrap="square">
            <a:spAutoFit/>
          </a:bodyPr>
          <a:lstStyle/>
          <a:p>
            <a:pPr algn="l"/>
            <a:r>
              <a:rPr b="0" i="0" sz="850">
                <a:solidFill>
                  <a:srgbClr val="374151"/>
                </a:solidFill>
              </a:rPr>
              <a:t>4 sessions · 3 Access-Accept · 1 Reject · Adresses MAC réelles d'appareils testés</a:t>
            </a:r>
          </a:p>
        </p:txBody>
      </p:sp>
      <p:sp>
        <p:nvSpPr>
          <p:cNvPr id="9" name="Rectangle 8"/>
          <p:cNvSpPr/>
          <p:nvPr/>
        </p:nvSpPr>
        <p:spPr>
          <a:xfrm>
            <a:off x="6126480" y="3429000"/>
            <a:ext cx="5605272" cy="1051560"/>
          </a:xfrm>
          <a:prstGeom prst="rect">
            <a:avLst/>
          </a:prstGeom>
          <a:solidFill>
            <a:srgbClr val="F8FAFF"/>
          </a:solidFill>
          <a:ln w="6350">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36208" y="3502152"/>
            <a:ext cx="5385816" cy="177800"/>
          </a:xfrm>
          <a:prstGeom prst="rect">
            <a:avLst/>
          </a:prstGeom>
          <a:noFill/>
        </p:spPr>
        <p:txBody>
          <a:bodyPr wrap="square">
            <a:spAutoFit/>
          </a:bodyPr>
          <a:lstStyle/>
          <a:p>
            <a:pPr algn="l"/>
            <a:r>
              <a:rPr b="1" i="0" sz="750">
                <a:solidFill>
                  <a:srgbClr val="4F46E5"/>
                </a:solidFill>
              </a:rPr>
              <a:t>ACTIVITÉ RÉSEAU (DÉMO)</a:t>
            </a:r>
          </a:p>
        </p:txBody>
      </p:sp>
      <p:sp>
        <p:nvSpPr>
          <p:cNvPr id="11" name="TextBox 10"/>
          <p:cNvSpPr txBox="1"/>
          <p:nvPr/>
        </p:nvSpPr>
        <p:spPr>
          <a:xfrm>
            <a:off x="6236208" y="3675888"/>
            <a:ext cx="5385816" cy="731520"/>
          </a:xfrm>
          <a:prstGeom prst="rect">
            <a:avLst/>
          </a:prstGeom>
          <a:noFill/>
        </p:spPr>
        <p:txBody>
          <a:bodyPr wrap="square">
            <a:spAutoFit/>
          </a:bodyPr>
          <a:lstStyle/>
          <a:p>
            <a:pPr algn="l"/>
            <a:r>
              <a:rPr b="0" i="0" sz="850">
                <a:solidFill>
                  <a:srgbClr val="374151"/>
                </a:solidFill>
              </a:rPr>
              <a:t>10 lignes DNS · Chambres 101 et 201 · Clairement marquées « démonstration » dans l'interface</a:t>
            </a:r>
          </a:p>
        </p:txBody>
      </p:sp>
      <p:sp>
        <p:nvSpPr>
          <p:cNvPr id="12" name="Rectangle 11"/>
          <p:cNvSpPr/>
          <p:nvPr/>
        </p:nvSpPr>
        <p:spPr>
          <a:xfrm>
            <a:off x="457200" y="4663440"/>
            <a:ext cx="6858000" cy="347472"/>
          </a:xfrm>
          <a:prstGeom prst="rect">
            <a:avLst/>
          </a:prstGeom>
          <a:solidFill>
            <a:srgbClr val="ECFDF5"/>
          </a:solidFill>
          <a:ln w="6350">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4700016"/>
            <a:ext cx="6675120" cy="292608"/>
          </a:xfrm>
          <a:prstGeom prst="rect">
            <a:avLst/>
          </a:prstGeom>
          <a:noFill/>
        </p:spPr>
        <p:txBody>
          <a:bodyPr wrap="square">
            <a:spAutoFit/>
          </a:bodyPr>
          <a:lstStyle/>
          <a:p>
            <a:pPr algn="l"/>
            <a:r>
              <a:rPr b="1" i="0" sz="900">
                <a:solidFill>
                  <a:srgbClr val="065F46"/>
                </a:solidFill>
              </a:rPr>
              <a:t>💻  Démo : bash sync_radius_sessions.sh → admin WiFi mis à jour</a:t>
            </a:r>
          </a:p>
        </p:txBody>
      </p:sp>
      <p:sp>
        <p:nvSpPr>
          <p:cNvPr id="14" name="Rectangle 13"/>
          <p:cNvSpPr/>
          <p:nvPr/>
        </p:nvSpPr>
        <p:spPr>
          <a:xfrm>
            <a:off x="457200" y="5806440"/>
            <a:ext cx="11274552" cy="658368"/>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5806440"/>
            <a:ext cx="50800" cy="65836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5843016"/>
            <a:ext cx="2743200" cy="152400"/>
          </a:xfrm>
          <a:prstGeom prst="rect">
            <a:avLst/>
          </a:prstGeom>
          <a:noFill/>
        </p:spPr>
        <p:txBody>
          <a:bodyPr wrap="square">
            <a:spAutoFit/>
          </a:bodyPr>
          <a:lstStyle/>
          <a:p>
            <a:pPr algn="l"/>
            <a:r>
              <a:rPr b="1" i="0" sz="750">
                <a:solidFill>
                  <a:srgbClr val="4F46E5"/>
                </a:solidFill>
              </a:rPr>
              <a:t>À dire à l'oral</a:t>
            </a:r>
          </a:p>
        </p:txBody>
      </p:sp>
      <p:sp>
        <p:nvSpPr>
          <p:cNvPr id="17" name="TextBox 16"/>
          <p:cNvSpPr txBox="1"/>
          <p:nvPr/>
        </p:nvSpPr>
        <p:spPr>
          <a:xfrm>
            <a:off x="640080" y="6007608"/>
            <a:ext cx="10908792" cy="411480"/>
          </a:xfrm>
          <a:prstGeom prst="rect">
            <a:avLst/>
          </a:prstGeom>
          <a:noFill/>
        </p:spPr>
        <p:txBody>
          <a:bodyPr wrap="square">
            <a:spAutoFit/>
          </a:bodyPr>
          <a:lstStyle/>
          <a:p>
            <a:pPr algn="l"/>
            <a:r>
              <a:rPr b="0" i="1" sz="900">
                <a:solidFill>
                  <a:srgbClr val="4B5563"/>
                </a:solidFill>
              </a:rPr>
              <a:t>"Un script bash lit les logs FreeRADIUS et les transforme en données SQL. L'admin voit en temps réel quels appareils sont connectés, depuis quelle chambre. Le script peut être relancé sans créer de doublons grâce à ON DUPLICATE KEY UPDATE."</a:t>
            </a:r>
          </a:p>
        </p:txBody>
      </p:sp>
      <p:sp>
        <p:nvSpPr>
          <p:cNvPr id="18" name="Rectangle 17"/>
          <p:cNvSpPr/>
          <p:nvPr/>
        </p:nvSpPr>
        <p:spPr>
          <a:xfrm>
            <a:off x="457200" y="6492240"/>
            <a:ext cx="11274552" cy="12700"/>
          </a:xfrm>
          <a:prstGeom prst="rect">
            <a:avLst/>
          </a:prstGeom>
          <a:solidFill>
            <a:srgbClr val="E0E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537960"/>
            <a:ext cx="5486400" cy="228600"/>
          </a:xfrm>
          <a:prstGeom prst="rect">
            <a:avLst/>
          </a:prstGeom>
          <a:noFill/>
        </p:spPr>
        <p:txBody>
          <a:bodyPr wrap="square">
            <a:spAutoFit/>
          </a:bodyPr>
          <a:lstStyle/>
          <a:p>
            <a:pPr algn="l"/>
            <a:r>
              <a:rPr b="0" i="0" sz="800">
                <a:solidFill>
                  <a:srgbClr val="9CA3AF"/>
                </a:solidFill>
              </a:rPr>
              <a:t>Maison Saclay — Projet OP-1</a:t>
            </a:r>
          </a:p>
        </p:txBody>
      </p:sp>
      <p:sp>
        <p:nvSpPr>
          <p:cNvPr id="20" name="TextBox 19"/>
          <p:cNvSpPr txBox="1"/>
          <p:nvPr/>
        </p:nvSpPr>
        <p:spPr>
          <a:xfrm>
            <a:off x="6245352" y="6537960"/>
            <a:ext cx="5486400" cy="228600"/>
          </a:xfrm>
          <a:prstGeom prst="rect">
            <a:avLst/>
          </a:prstGeom>
          <a:noFill/>
        </p:spPr>
        <p:txBody>
          <a:bodyPr wrap="square">
            <a:spAutoFit/>
          </a:bodyPr>
          <a:lstStyle/>
          <a:p>
            <a:pPr algn="r"/>
            <a:r>
              <a:rPr b="0" i="0" sz="800">
                <a:solidFill>
                  <a:srgbClr val="9CA3AF"/>
                </a:solidFill>
              </a:rPr>
              <a:t>Slide 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3500"/>
          </a:xfrm>
          <a:prstGeom prst="rect">
            <a:avLst/>
          </a:prstGeom>
          <a:gradFill rotWithShape="1">
            <a:gsLst>
              <a:gs pos="0">
                <a:srgbClr val="4F46E5"/>
              </a:gs>
              <a:gs pos="100000">
                <a:srgbClr val="4338CA"/>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9144000" cy="177800"/>
          </a:xfrm>
          <a:prstGeom prst="rect">
            <a:avLst/>
          </a:prstGeom>
          <a:noFill/>
        </p:spPr>
        <p:txBody>
          <a:bodyPr wrap="square">
            <a:spAutoFit/>
          </a:bodyPr>
          <a:lstStyle/>
          <a:p>
            <a:pPr algn="l"/>
            <a:r>
              <a:rPr b="1" i="0" sz="800">
                <a:solidFill>
                  <a:srgbClr val="4F46E5"/>
                </a:solidFill>
              </a:rPr>
              <a:t>SÉCURITÉ &amp; PROBLÈMES RÉSOLUS</a:t>
            </a:r>
          </a:p>
        </p:txBody>
      </p:sp>
      <p:sp>
        <p:nvSpPr>
          <p:cNvPr id="4" name="TextBox 3"/>
          <p:cNvSpPr txBox="1"/>
          <p:nvPr/>
        </p:nvSpPr>
        <p:spPr>
          <a:xfrm>
            <a:off x="457200" y="329184"/>
            <a:ext cx="11274552" cy="731520"/>
          </a:xfrm>
          <a:prstGeom prst="rect">
            <a:avLst/>
          </a:prstGeom>
          <a:noFill/>
        </p:spPr>
        <p:txBody>
          <a:bodyPr wrap="square">
            <a:spAutoFit/>
          </a:bodyPr>
          <a:lstStyle/>
          <a:p>
            <a:pPr algn="l"/>
            <a:r>
              <a:rPr b="1" i="0" sz="2600">
                <a:solidFill>
                  <a:srgbClr val="1A1A2E"/>
                </a:solidFill>
              </a:rPr>
              <a:t>Difficultés et solutions</a:t>
            </a:r>
          </a:p>
        </p:txBody>
      </p:sp>
      <p:sp>
        <p:nvSpPr>
          <p:cNvPr id="5" name="Rectangle 4"/>
          <p:cNvSpPr/>
          <p:nvPr/>
        </p:nvSpPr>
        <p:spPr>
          <a:xfrm>
            <a:off x="457200" y="1417320"/>
            <a:ext cx="5559552" cy="914400"/>
          </a:xfrm>
          <a:prstGeom prst="rect">
            <a:avLst/>
          </a:prstGeom>
          <a:solidFill>
            <a:srgbClr val="F8FAFF"/>
          </a:solidFill>
          <a:ln w="6350">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90472"/>
            <a:ext cx="5340096" cy="177800"/>
          </a:xfrm>
          <a:prstGeom prst="rect">
            <a:avLst/>
          </a:prstGeom>
          <a:noFill/>
        </p:spPr>
        <p:txBody>
          <a:bodyPr wrap="square">
            <a:spAutoFit/>
          </a:bodyPr>
          <a:lstStyle/>
          <a:p>
            <a:pPr algn="l"/>
            <a:r>
              <a:rPr b="1" i="0" sz="750">
                <a:solidFill>
                  <a:srgbClr val="4F46E5"/>
                </a:solidFill>
              </a:rPr>
              <a:t>JWT HS256</a:t>
            </a:r>
          </a:p>
        </p:txBody>
      </p:sp>
      <p:sp>
        <p:nvSpPr>
          <p:cNvPr id="7" name="TextBox 6"/>
          <p:cNvSpPr txBox="1"/>
          <p:nvPr/>
        </p:nvSpPr>
        <p:spPr>
          <a:xfrm>
            <a:off x="566928" y="1664208"/>
            <a:ext cx="5340096" cy="594360"/>
          </a:xfrm>
          <a:prstGeom prst="rect">
            <a:avLst/>
          </a:prstGeom>
          <a:noFill/>
        </p:spPr>
        <p:txBody>
          <a:bodyPr wrap="square">
            <a:spAutoFit/>
          </a:bodyPr>
          <a:lstStyle/>
          <a:p>
            <a:pPr algn="l"/>
            <a:r>
              <a:rPr b="0" i="0" sz="850">
                <a:solidFill>
                  <a:srgbClr val="374151"/>
                </a:solidFill>
              </a:rPr>
              <a:t>Tokens signés et vérifiés à chaque requête — impossible à forger sans le secret</a:t>
            </a:r>
          </a:p>
        </p:txBody>
      </p:sp>
      <p:sp>
        <p:nvSpPr>
          <p:cNvPr id="8" name="Rectangle 7"/>
          <p:cNvSpPr/>
          <p:nvPr/>
        </p:nvSpPr>
        <p:spPr>
          <a:xfrm>
            <a:off x="6144768" y="1417320"/>
            <a:ext cx="5559552" cy="914400"/>
          </a:xfrm>
          <a:prstGeom prst="rect">
            <a:avLst/>
          </a:prstGeom>
          <a:solidFill>
            <a:srgbClr val="F8FAFF"/>
          </a:solidFill>
          <a:ln w="6350">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54496" y="1490472"/>
            <a:ext cx="5340096" cy="177800"/>
          </a:xfrm>
          <a:prstGeom prst="rect">
            <a:avLst/>
          </a:prstGeom>
          <a:noFill/>
        </p:spPr>
        <p:txBody>
          <a:bodyPr wrap="square">
            <a:spAutoFit/>
          </a:bodyPr>
          <a:lstStyle/>
          <a:p>
            <a:pPr algn="l"/>
            <a:r>
              <a:rPr b="1" i="0" sz="750">
                <a:solidFill>
                  <a:srgbClr val="4F46E5"/>
                </a:solidFill>
              </a:rPr>
              <a:t>Mots de passe bcrypt</a:t>
            </a:r>
          </a:p>
        </p:txBody>
      </p:sp>
      <p:sp>
        <p:nvSpPr>
          <p:cNvPr id="10" name="TextBox 9"/>
          <p:cNvSpPr txBox="1"/>
          <p:nvPr/>
        </p:nvSpPr>
        <p:spPr>
          <a:xfrm>
            <a:off x="6254496" y="1664208"/>
            <a:ext cx="5340096" cy="594360"/>
          </a:xfrm>
          <a:prstGeom prst="rect">
            <a:avLst/>
          </a:prstGeom>
          <a:noFill/>
        </p:spPr>
        <p:txBody>
          <a:bodyPr wrap="square">
            <a:spAutoFit/>
          </a:bodyPr>
          <a:lstStyle/>
          <a:p>
            <a:pPr algn="l"/>
            <a:r>
              <a:rPr b="0" i="0" sz="850">
                <a:solidFill>
                  <a:srgbClr val="374151"/>
                </a:solidFill>
              </a:rPr>
              <a:t>Jamais stockés en clair — hash bcrypt irréversible en base MySQL</a:t>
            </a:r>
          </a:p>
        </p:txBody>
      </p:sp>
      <p:sp>
        <p:nvSpPr>
          <p:cNvPr id="11" name="Rectangle 10"/>
          <p:cNvSpPr/>
          <p:nvPr/>
        </p:nvSpPr>
        <p:spPr>
          <a:xfrm>
            <a:off x="457200" y="2423160"/>
            <a:ext cx="5559552" cy="914400"/>
          </a:xfrm>
          <a:prstGeom prst="rect">
            <a:avLst/>
          </a:prstGeom>
          <a:solidFill>
            <a:srgbClr val="F8FAFF"/>
          </a:solidFill>
          <a:ln w="6350">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2496312"/>
            <a:ext cx="5340096" cy="177800"/>
          </a:xfrm>
          <a:prstGeom prst="rect">
            <a:avLst/>
          </a:prstGeom>
          <a:noFill/>
        </p:spPr>
        <p:txBody>
          <a:bodyPr wrap="square">
            <a:spAutoFit/>
          </a:bodyPr>
          <a:lstStyle/>
          <a:p>
            <a:pPr algn="l"/>
            <a:r>
              <a:rPr b="1" i="0" sz="750">
                <a:solidFill>
                  <a:srgbClr val="4F46E5"/>
                </a:solidFill>
              </a:rPr>
              <a:t>Requêtes PDO préparées</a:t>
            </a:r>
          </a:p>
        </p:txBody>
      </p:sp>
      <p:sp>
        <p:nvSpPr>
          <p:cNvPr id="13" name="TextBox 12"/>
          <p:cNvSpPr txBox="1"/>
          <p:nvPr/>
        </p:nvSpPr>
        <p:spPr>
          <a:xfrm>
            <a:off x="566928" y="2670048"/>
            <a:ext cx="5340096" cy="594360"/>
          </a:xfrm>
          <a:prstGeom prst="rect">
            <a:avLst/>
          </a:prstGeom>
          <a:noFill/>
        </p:spPr>
        <p:txBody>
          <a:bodyPr wrap="square">
            <a:spAutoFit/>
          </a:bodyPr>
          <a:lstStyle/>
          <a:p>
            <a:pPr algn="l"/>
            <a:r>
              <a:rPr b="0" i="0" sz="850">
                <a:solidFill>
                  <a:srgbClr val="374151"/>
                </a:solidFill>
              </a:rPr>
              <a:t>Paramètres bindés — protection totale contre les injections SQL</a:t>
            </a:r>
          </a:p>
        </p:txBody>
      </p:sp>
      <p:sp>
        <p:nvSpPr>
          <p:cNvPr id="14" name="Rectangle 13"/>
          <p:cNvSpPr/>
          <p:nvPr/>
        </p:nvSpPr>
        <p:spPr>
          <a:xfrm>
            <a:off x="6144768" y="2423160"/>
            <a:ext cx="5559552" cy="914400"/>
          </a:xfrm>
          <a:prstGeom prst="rect">
            <a:avLst/>
          </a:prstGeom>
          <a:solidFill>
            <a:srgbClr val="F8FAFF"/>
          </a:solidFill>
          <a:ln w="6350">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54496" y="2496312"/>
            <a:ext cx="5340096" cy="177800"/>
          </a:xfrm>
          <a:prstGeom prst="rect">
            <a:avLst/>
          </a:prstGeom>
          <a:noFill/>
        </p:spPr>
        <p:txBody>
          <a:bodyPr wrap="square">
            <a:spAutoFit/>
          </a:bodyPr>
          <a:lstStyle/>
          <a:p>
            <a:pPr algn="l"/>
            <a:r>
              <a:rPr b="1" i="0" sz="750">
                <a:solidFill>
                  <a:srgbClr val="4F46E5"/>
                </a:solidFill>
              </a:rPr>
              <a:t>Ports restreints</a:t>
            </a:r>
          </a:p>
        </p:txBody>
      </p:sp>
      <p:sp>
        <p:nvSpPr>
          <p:cNvPr id="16" name="TextBox 15"/>
          <p:cNvSpPr txBox="1"/>
          <p:nvPr/>
        </p:nvSpPr>
        <p:spPr>
          <a:xfrm>
            <a:off x="6254496" y="2670048"/>
            <a:ext cx="5340096" cy="594360"/>
          </a:xfrm>
          <a:prstGeom prst="rect">
            <a:avLst/>
          </a:prstGeom>
          <a:noFill/>
        </p:spPr>
        <p:txBody>
          <a:bodyPr wrap="square">
            <a:spAutoFit/>
          </a:bodyPr>
          <a:lstStyle/>
          <a:p>
            <a:pPr algn="l"/>
            <a:r>
              <a:rPr b="0" i="0" sz="850">
                <a:solidFill>
                  <a:srgbClr val="374151"/>
                </a:solidFill>
              </a:rPr>
              <a:t>phpMyAdmin + MySQL limités à 127.0.0.1 — inaccessibles depuis le réseau WiFi</a:t>
            </a:r>
          </a:p>
        </p:txBody>
      </p:sp>
      <p:sp>
        <p:nvSpPr>
          <p:cNvPr id="17" name="Rectangle 16"/>
          <p:cNvSpPr/>
          <p:nvPr/>
        </p:nvSpPr>
        <p:spPr>
          <a:xfrm>
            <a:off x="457200" y="3520440"/>
            <a:ext cx="11274552" cy="12700"/>
          </a:xfrm>
          <a:prstGeom prst="rect">
            <a:avLst/>
          </a:prstGeom>
          <a:solidFill>
            <a:srgbClr val="E0E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611880"/>
            <a:ext cx="11274552" cy="177800"/>
          </a:xfrm>
          <a:prstGeom prst="rect">
            <a:avLst/>
          </a:prstGeom>
          <a:noFill/>
        </p:spPr>
        <p:txBody>
          <a:bodyPr wrap="square">
            <a:spAutoFit/>
          </a:bodyPr>
          <a:lstStyle/>
          <a:p>
            <a:pPr algn="l"/>
            <a:r>
              <a:rPr b="1" i="0" sz="750">
                <a:solidFill>
                  <a:srgbClr val="9CA3AF"/>
                </a:solidFill>
              </a:rPr>
              <a:t>PROBLÈMES RENCONTRÉS ET SOLUTIONS</a:t>
            </a:r>
          </a:p>
        </p:txBody>
      </p:sp>
      <p:sp>
        <p:nvSpPr>
          <p:cNvPr id="19" name="Rectangle 18"/>
          <p:cNvSpPr/>
          <p:nvPr/>
        </p:nvSpPr>
        <p:spPr>
          <a:xfrm>
            <a:off x="457200" y="3840480"/>
            <a:ext cx="5394960" cy="896112"/>
          </a:xfrm>
          <a:prstGeom prst="rect">
            <a:avLst/>
          </a:prstGeom>
          <a:solidFill>
            <a:srgbClr val="F8FAFF"/>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877056"/>
            <a:ext cx="5212080" cy="165100"/>
          </a:xfrm>
          <a:prstGeom prst="rect">
            <a:avLst/>
          </a:prstGeom>
          <a:noFill/>
        </p:spPr>
        <p:txBody>
          <a:bodyPr wrap="square">
            <a:spAutoFit/>
          </a:bodyPr>
          <a:lstStyle/>
          <a:p>
            <a:pPr algn="l"/>
            <a:r>
              <a:rPr b="1" i="0" sz="750">
                <a:solidFill>
                  <a:srgbClr val="EF4444"/>
                </a:solidFill>
              </a:rPr>
              <a:t>PROBLÈME 1 — Docker + UDP</a:t>
            </a:r>
          </a:p>
        </p:txBody>
      </p:sp>
      <p:sp>
        <p:nvSpPr>
          <p:cNvPr id="21" name="TextBox 20"/>
          <p:cNvSpPr txBox="1"/>
          <p:nvPr/>
        </p:nvSpPr>
        <p:spPr>
          <a:xfrm>
            <a:off x="566928" y="4041648"/>
            <a:ext cx="5212080" cy="640080"/>
          </a:xfrm>
          <a:prstGeom prst="rect">
            <a:avLst/>
          </a:prstGeom>
          <a:noFill/>
        </p:spPr>
        <p:txBody>
          <a:bodyPr wrap="square">
            <a:spAutoFit/>
          </a:bodyPr>
          <a:lstStyle/>
          <a:p>
            <a:pPr algn="l"/>
            <a:r>
              <a:rPr b="0" i="0" sz="900">
                <a:solidFill>
                  <a:srgbClr val="1A1A2E"/>
                </a:solidFill>
              </a:rPr>
              <a:t>Docker Desktop Windows ne peut pas recevoir de paquets UDP depuis le réseau local (NAT Docker)</a:t>
            </a:r>
          </a:p>
        </p:txBody>
      </p:sp>
      <p:sp>
        <p:nvSpPr>
          <p:cNvPr id="22" name="Rectangle 21"/>
          <p:cNvSpPr/>
          <p:nvPr/>
        </p:nvSpPr>
        <p:spPr>
          <a:xfrm>
            <a:off x="6035040" y="3840480"/>
            <a:ext cx="5605272" cy="896112"/>
          </a:xfrm>
          <a:prstGeom prst="rect">
            <a:avLst/>
          </a:prstGeom>
          <a:solidFill>
            <a:srgbClr val="F8FA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44768" y="3877056"/>
            <a:ext cx="5394960" cy="165100"/>
          </a:xfrm>
          <a:prstGeom prst="rect">
            <a:avLst/>
          </a:prstGeom>
          <a:noFill/>
        </p:spPr>
        <p:txBody>
          <a:bodyPr wrap="square">
            <a:spAutoFit/>
          </a:bodyPr>
          <a:lstStyle/>
          <a:p>
            <a:pPr algn="l"/>
            <a:r>
              <a:rPr b="1" i="0" sz="750">
                <a:solidFill>
                  <a:srgbClr val="10B981"/>
                </a:solidFill>
              </a:rPr>
              <a:t>SOLUTION</a:t>
            </a:r>
          </a:p>
        </p:txBody>
      </p:sp>
      <p:sp>
        <p:nvSpPr>
          <p:cNvPr id="24" name="TextBox 23"/>
          <p:cNvSpPr txBox="1"/>
          <p:nvPr/>
        </p:nvSpPr>
        <p:spPr>
          <a:xfrm>
            <a:off x="6144768" y="4041648"/>
            <a:ext cx="5394960" cy="640080"/>
          </a:xfrm>
          <a:prstGeom prst="rect">
            <a:avLst/>
          </a:prstGeom>
          <a:noFill/>
        </p:spPr>
        <p:txBody>
          <a:bodyPr wrap="square">
            <a:spAutoFit/>
          </a:bodyPr>
          <a:lstStyle/>
          <a:p>
            <a:pPr algn="l"/>
            <a:r>
              <a:rPr b="0" i="0" sz="900">
                <a:solidFill>
                  <a:srgbClr val="1A1A2E"/>
                </a:solidFill>
              </a:rPr>
              <a:t>Relay UDP PowerShell : écoute sur 192.168.30.104:18120 et retransmet vers FreeRADIUS sur 127.0.0.1:1812</a:t>
            </a:r>
          </a:p>
        </p:txBody>
      </p:sp>
      <p:sp>
        <p:nvSpPr>
          <p:cNvPr id="25" name="Rectangle 24"/>
          <p:cNvSpPr/>
          <p:nvPr/>
        </p:nvSpPr>
        <p:spPr>
          <a:xfrm>
            <a:off x="457200" y="4846320"/>
            <a:ext cx="5394960" cy="804672"/>
          </a:xfrm>
          <a:prstGeom prst="rect">
            <a:avLst/>
          </a:prstGeom>
          <a:solidFill>
            <a:srgbClr val="F8FAFF"/>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4882896"/>
            <a:ext cx="5212080" cy="165100"/>
          </a:xfrm>
          <a:prstGeom prst="rect">
            <a:avLst/>
          </a:prstGeom>
          <a:noFill/>
        </p:spPr>
        <p:txBody>
          <a:bodyPr wrap="square">
            <a:spAutoFit/>
          </a:bodyPr>
          <a:lstStyle/>
          <a:p>
            <a:pPr algn="l"/>
            <a:r>
              <a:rPr b="1" i="0" sz="750">
                <a:solidFill>
                  <a:srgbClr val="EF4444"/>
                </a:solidFill>
              </a:rPr>
              <a:t>PROBLÈME 2 — Double réservation</a:t>
            </a:r>
          </a:p>
        </p:txBody>
      </p:sp>
      <p:sp>
        <p:nvSpPr>
          <p:cNvPr id="27" name="TextBox 26"/>
          <p:cNvSpPr txBox="1"/>
          <p:nvPr/>
        </p:nvSpPr>
        <p:spPr>
          <a:xfrm>
            <a:off x="566928" y="5047488"/>
            <a:ext cx="5212080" cy="566928"/>
          </a:xfrm>
          <a:prstGeom prst="rect">
            <a:avLst/>
          </a:prstGeom>
          <a:noFill/>
        </p:spPr>
        <p:txBody>
          <a:bodyPr wrap="square">
            <a:spAutoFit/>
          </a:bodyPr>
          <a:lstStyle/>
          <a:p>
            <a:pPr algn="l"/>
            <a:r>
              <a:rPr b="0" i="0" sz="900">
                <a:solidFill>
                  <a:srgbClr val="1A1A2E"/>
                </a:solidFill>
              </a:rPr>
              <a:t>Deux clients pouvaient réserver la même chambre aux mêmes dates</a:t>
            </a:r>
          </a:p>
        </p:txBody>
      </p:sp>
      <p:sp>
        <p:nvSpPr>
          <p:cNvPr id="28" name="Rectangle 27"/>
          <p:cNvSpPr/>
          <p:nvPr/>
        </p:nvSpPr>
        <p:spPr>
          <a:xfrm>
            <a:off x="6035040" y="4846320"/>
            <a:ext cx="5605272" cy="804672"/>
          </a:xfrm>
          <a:prstGeom prst="rect">
            <a:avLst/>
          </a:prstGeom>
          <a:solidFill>
            <a:srgbClr val="F8FA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44768" y="4882896"/>
            <a:ext cx="5394960" cy="165100"/>
          </a:xfrm>
          <a:prstGeom prst="rect">
            <a:avLst/>
          </a:prstGeom>
          <a:noFill/>
        </p:spPr>
        <p:txBody>
          <a:bodyPr wrap="square">
            <a:spAutoFit/>
          </a:bodyPr>
          <a:lstStyle/>
          <a:p>
            <a:pPr algn="l"/>
            <a:r>
              <a:rPr b="1" i="0" sz="750">
                <a:solidFill>
                  <a:srgbClr val="10B981"/>
                </a:solidFill>
              </a:rPr>
              <a:t>SOLUTION</a:t>
            </a:r>
          </a:p>
        </p:txBody>
      </p:sp>
      <p:sp>
        <p:nvSpPr>
          <p:cNvPr id="30" name="TextBox 29"/>
          <p:cNvSpPr txBox="1"/>
          <p:nvPr/>
        </p:nvSpPr>
        <p:spPr>
          <a:xfrm>
            <a:off x="6144768" y="5047488"/>
            <a:ext cx="5394960" cy="566928"/>
          </a:xfrm>
          <a:prstGeom prst="rect">
            <a:avLst/>
          </a:prstGeom>
          <a:noFill/>
        </p:spPr>
        <p:txBody>
          <a:bodyPr wrap="square">
            <a:spAutoFit/>
          </a:bodyPr>
          <a:lstStyle/>
          <a:p>
            <a:pPr algn="l"/>
            <a:r>
              <a:rPr b="0" i="0" sz="900">
                <a:solidFill>
                  <a:srgbClr val="1A1A2E"/>
                </a:solidFill>
              </a:rPr>
              <a:t>Requête SQL avec condition de chevauchement (check_in &lt; sortie AND check_out &gt; arrivée) + attribution auto</a:t>
            </a:r>
          </a:p>
        </p:txBody>
      </p:sp>
      <p:sp>
        <p:nvSpPr>
          <p:cNvPr id="31" name="Rectangle 30"/>
          <p:cNvSpPr/>
          <p:nvPr/>
        </p:nvSpPr>
        <p:spPr>
          <a:xfrm>
            <a:off x="457200" y="5779008"/>
            <a:ext cx="11274552" cy="658368"/>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57200" y="5779008"/>
            <a:ext cx="50800" cy="65836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 y="5815584"/>
            <a:ext cx="2743200" cy="152400"/>
          </a:xfrm>
          <a:prstGeom prst="rect">
            <a:avLst/>
          </a:prstGeom>
          <a:noFill/>
        </p:spPr>
        <p:txBody>
          <a:bodyPr wrap="square">
            <a:spAutoFit/>
          </a:bodyPr>
          <a:lstStyle/>
          <a:p>
            <a:pPr algn="l"/>
            <a:r>
              <a:rPr b="1" i="0" sz="750">
                <a:solidFill>
                  <a:srgbClr val="4F46E5"/>
                </a:solidFill>
              </a:rPr>
              <a:t>À dire à l'oral</a:t>
            </a:r>
          </a:p>
        </p:txBody>
      </p:sp>
      <p:sp>
        <p:nvSpPr>
          <p:cNvPr id="34" name="TextBox 33"/>
          <p:cNvSpPr txBox="1"/>
          <p:nvPr/>
        </p:nvSpPr>
        <p:spPr>
          <a:xfrm>
            <a:off x="640080" y="5980176"/>
            <a:ext cx="10908792" cy="411480"/>
          </a:xfrm>
          <a:prstGeom prst="rect">
            <a:avLst/>
          </a:prstGeom>
          <a:noFill/>
        </p:spPr>
        <p:txBody>
          <a:bodyPr wrap="square">
            <a:spAutoFit/>
          </a:bodyPr>
          <a:lstStyle/>
          <a:p>
            <a:pPr algn="l"/>
            <a:r>
              <a:rPr b="0" i="1" sz="900">
                <a:solidFill>
                  <a:srgbClr val="4B5563"/>
                </a:solidFill>
              </a:rPr>
              <a:t>"La principale difficulté était Docker + RADIUS sur Windows. On a résolu ça avec un relay UDP maison en PowerShell. C'est une solution non standard, mais stable et documentée."</a:t>
            </a:r>
          </a:p>
        </p:txBody>
      </p:sp>
      <p:sp>
        <p:nvSpPr>
          <p:cNvPr id="35" name="Rectangle 34"/>
          <p:cNvSpPr/>
          <p:nvPr/>
        </p:nvSpPr>
        <p:spPr>
          <a:xfrm>
            <a:off x="457200" y="6492240"/>
            <a:ext cx="11274552" cy="12700"/>
          </a:xfrm>
          <a:prstGeom prst="rect">
            <a:avLst/>
          </a:prstGeom>
          <a:solidFill>
            <a:srgbClr val="E0E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6537960"/>
            <a:ext cx="5486400" cy="228600"/>
          </a:xfrm>
          <a:prstGeom prst="rect">
            <a:avLst/>
          </a:prstGeom>
          <a:noFill/>
        </p:spPr>
        <p:txBody>
          <a:bodyPr wrap="square">
            <a:spAutoFit/>
          </a:bodyPr>
          <a:lstStyle/>
          <a:p>
            <a:pPr algn="l"/>
            <a:r>
              <a:rPr b="0" i="0" sz="800">
                <a:solidFill>
                  <a:srgbClr val="9CA3AF"/>
                </a:solidFill>
              </a:rPr>
              <a:t>Maison Saclay — Projet OP-1</a:t>
            </a:r>
          </a:p>
        </p:txBody>
      </p:sp>
      <p:sp>
        <p:nvSpPr>
          <p:cNvPr id="37" name="TextBox 36"/>
          <p:cNvSpPr txBox="1"/>
          <p:nvPr/>
        </p:nvSpPr>
        <p:spPr>
          <a:xfrm>
            <a:off x="6245352" y="6537960"/>
            <a:ext cx="5486400" cy="228600"/>
          </a:xfrm>
          <a:prstGeom prst="rect">
            <a:avLst/>
          </a:prstGeom>
          <a:noFill/>
        </p:spPr>
        <p:txBody>
          <a:bodyPr wrap="square">
            <a:spAutoFit/>
          </a:bodyPr>
          <a:lstStyle/>
          <a:p>
            <a:pPr algn="r"/>
            <a:r>
              <a:rPr b="0" i="0" sz="800">
                <a:solidFill>
                  <a:srgbClr val="9CA3AF"/>
                </a:solidFill>
              </a:rPr>
              <a:t>Slide 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3500"/>
          </a:xfrm>
          <a:prstGeom prst="rect">
            <a:avLst/>
          </a:prstGeom>
          <a:gradFill rotWithShape="1">
            <a:gsLst>
              <a:gs pos="0">
                <a:srgbClr val="4F46E5"/>
              </a:gs>
              <a:gs pos="100000">
                <a:srgbClr val="4338CA"/>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9144000" cy="177800"/>
          </a:xfrm>
          <a:prstGeom prst="rect">
            <a:avLst/>
          </a:prstGeom>
          <a:noFill/>
        </p:spPr>
        <p:txBody>
          <a:bodyPr wrap="square">
            <a:spAutoFit/>
          </a:bodyPr>
          <a:lstStyle/>
          <a:p>
            <a:pPr algn="l"/>
            <a:r>
              <a:rPr b="1" i="0" sz="800">
                <a:solidFill>
                  <a:srgbClr val="4F46E5"/>
                </a:solidFill>
              </a:rPr>
              <a:t>BILAN</a:t>
            </a:r>
          </a:p>
        </p:txBody>
      </p:sp>
      <p:sp>
        <p:nvSpPr>
          <p:cNvPr id="4" name="TextBox 3"/>
          <p:cNvSpPr txBox="1"/>
          <p:nvPr/>
        </p:nvSpPr>
        <p:spPr>
          <a:xfrm>
            <a:off x="457200" y="329184"/>
            <a:ext cx="11274552" cy="731520"/>
          </a:xfrm>
          <a:prstGeom prst="rect">
            <a:avLst/>
          </a:prstGeom>
          <a:noFill/>
        </p:spPr>
        <p:txBody>
          <a:bodyPr wrap="square">
            <a:spAutoFit/>
          </a:bodyPr>
          <a:lstStyle/>
          <a:p>
            <a:pPr algn="l"/>
            <a:r>
              <a:rPr b="1" i="0" sz="2600">
                <a:solidFill>
                  <a:srgbClr val="1A1A2E"/>
                </a:solidFill>
              </a:rPr>
              <a:t>Conclusion et améliorations</a:t>
            </a:r>
          </a:p>
        </p:txBody>
      </p:sp>
      <p:sp>
        <p:nvSpPr>
          <p:cNvPr id="5" name="TextBox 4"/>
          <p:cNvSpPr txBox="1"/>
          <p:nvPr/>
        </p:nvSpPr>
        <p:spPr>
          <a:xfrm>
            <a:off x="457200" y="1234440"/>
            <a:ext cx="11274552" cy="177800"/>
          </a:xfrm>
          <a:prstGeom prst="rect">
            <a:avLst/>
          </a:prstGeom>
          <a:noFill/>
        </p:spPr>
        <p:txBody>
          <a:bodyPr wrap="square">
            <a:spAutoFit/>
          </a:bodyPr>
          <a:lstStyle/>
          <a:p>
            <a:pPr algn="l"/>
            <a:r>
              <a:rPr b="1" i="0" sz="800">
                <a:solidFill>
                  <a:srgbClr val="9CA3AF"/>
                </a:solidFill>
              </a:rPr>
              <a:t>Ce qui fonctionne — démontrable en live</a:t>
            </a:r>
          </a:p>
        </p:txBody>
      </p:sp>
      <p:sp>
        <p:nvSpPr>
          <p:cNvPr id="6" name="TextBox 5"/>
          <p:cNvSpPr txBox="1"/>
          <p:nvPr/>
        </p:nvSpPr>
        <p:spPr>
          <a:xfrm>
            <a:off x="457200" y="1481328"/>
            <a:ext cx="11274552" cy="1691640"/>
          </a:xfrm>
          <a:prstGeom prst="rect">
            <a:avLst/>
          </a:prstGeom>
          <a:noFill/>
        </p:spPr>
        <p:txBody>
          <a:bodyPr wrap="square">
            <a:spAutoFit/>
          </a:bodyPr>
          <a:lstStyle/>
          <a:p>
            <a:pPr>
              <a:spcBef>
                <a:spcPts val="300"/>
              </a:spcBef>
            </a:pPr>
            <a:r>
              <a:rPr sz="600" b="1">
                <a:solidFill>
                  <a:srgbClr val="4F46E5"/>
                </a:solidFill>
              </a:rPr>
              <a:t>●  </a:t>
            </a:r>
            <a:r>
              <a:rPr sz="1100">
                <a:solidFill>
                  <a:srgbClr val="1A1A2E"/>
                </a:solidFill>
              </a:rPr>
              <a:t>Réservation multi-nuits de bout en bout avec attribution automatique de chambre physique</a:t>
            </a:r>
          </a:p>
          <a:p>
            <a:pPr>
              <a:spcBef>
                <a:spcPts val="300"/>
              </a:spcBef>
            </a:pPr>
            <a:r>
              <a:rPr sz="600" b="1">
                <a:solidFill>
                  <a:srgbClr val="4F46E5"/>
                </a:solidFill>
              </a:rPr>
              <a:t>●  </a:t>
            </a:r>
            <a:r>
              <a:rPr b="1" sz="1100">
                <a:solidFill>
                  <a:srgbClr val="1A1A2E"/>
                </a:solidFill>
              </a:rPr>
              <a:t>Room service : </a:t>
            </a:r>
            <a:r>
              <a:rPr b="0" sz="1100">
                <a:solidFill>
                  <a:srgbClr val="1A1A2E"/>
                </a:solidFill>
              </a:rPr>
              <a:t>commande → Telegram → suivi statut dans l'admin</a:t>
            </a:r>
          </a:p>
          <a:p>
            <a:pPr>
              <a:spcBef>
                <a:spcPts val="300"/>
              </a:spcBef>
            </a:pPr>
            <a:r>
              <a:rPr sz="600" b="1">
                <a:solidFill>
                  <a:srgbClr val="4F46E5"/>
                </a:solidFill>
              </a:rPr>
              <a:t>●  </a:t>
            </a:r>
            <a:r>
              <a:rPr sz="1100">
                <a:solidFill>
                  <a:srgbClr val="1A1A2E"/>
                </a:solidFill>
              </a:rPr>
              <a:t>Portail captif WiFi RADIUS — testé avec de vrais appareils sur le réseau</a:t>
            </a:r>
          </a:p>
          <a:p>
            <a:pPr>
              <a:spcBef>
                <a:spcPts val="300"/>
              </a:spcBef>
            </a:pPr>
            <a:r>
              <a:rPr sz="600" b="1">
                <a:solidFill>
                  <a:srgbClr val="4F46E5"/>
                </a:solidFill>
              </a:rPr>
              <a:t>●  </a:t>
            </a:r>
            <a:r>
              <a:rPr b="1" sz="1100">
                <a:solidFill>
                  <a:srgbClr val="1A1A2E"/>
                </a:solidFill>
              </a:rPr>
              <a:t>Dashboard admin complet : </a:t>
            </a:r>
            <a:r>
              <a:rPr b="0" sz="1100">
                <a:solidFill>
                  <a:srgbClr val="1A1A2E"/>
                </a:solidFill>
              </a:rPr>
              <a:t>réservations, commandes, chambres, WiFi, statistiques</a:t>
            </a:r>
          </a:p>
          <a:p>
            <a:pPr>
              <a:spcBef>
                <a:spcPts val="300"/>
              </a:spcBef>
            </a:pPr>
            <a:r>
              <a:rPr sz="600" b="1">
                <a:solidFill>
                  <a:srgbClr val="4F46E5"/>
                </a:solidFill>
              </a:rPr>
              <a:t>●  </a:t>
            </a:r>
            <a:r>
              <a:rPr sz="1100">
                <a:solidFill>
                  <a:srgbClr val="1A1A2E"/>
                </a:solidFill>
              </a:rPr>
              <a:t>Infrastructure Docker stable — 8 services, IP statique, relay UDP persistant</a:t>
            </a:r>
          </a:p>
        </p:txBody>
      </p:sp>
      <p:sp>
        <p:nvSpPr>
          <p:cNvPr id="7" name="Rectangle 6"/>
          <p:cNvSpPr/>
          <p:nvPr/>
        </p:nvSpPr>
        <p:spPr>
          <a:xfrm>
            <a:off x="457200" y="3291840"/>
            <a:ext cx="11274552" cy="12700"/>
          </a:xfrm>
          <a:prstGeom prst="rect">
            <a:avLst/>
          </a:prstGeom>
          <a:solidFill>
            <a:srgbClr val="E0E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3401568"/>
            <a:ext cx="11274552" cy="177800"/>
          </a:xfrm>
          <a:prstGeom prst="rect">
            <a:avLst/>
          </a:prstGeom>
          <a:noFill/>
        </p:spPr>
        <p:txBody>
          <a:bodyPr wrap="square">
            <a:spAutoFit/>
          </a:bodyPr>
          <a:lstStyle/>
          <a:p>
            <a:pPr algn="l"/>
            <a:r>
              <a:rPr b="1" i="0" sz="800">
                <a:solidFill>
                  <a:srgbClr val="9CA3AF"/>
                </a:solidFill>
              </a:rPr>
              <a:t>AMÉLIORATIONS POSSIBLES</a:t>
            </a:r>
          </a:p>
        </p:txBody>
      </p:sp>
      <p:sp>
        <p:nvSpPr>
          <p:cNvPr id="9" name="Rectangle 8"/>
          <p:cNvSpPr/>
          <p:nvPr/>
        </p:nvSpPr>
        <p:spPr>
          <a:xfrm>
            <a:off x="457200" y="3657600"/>
            <a:ext cx="2697480" cy="1097280"/>
          </a:xfrm>
          <a:prstGeom prst="rect">
            <a:avLst/>
          </a:prstGeom>
          <a:solidFill>
            <a:srgbClr val="F8FAFF"/>
          </a:solidFill>
          <a:ln w="6350">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3730752"/>
            <a:ext cx="2478024" cy="177800"/>
          </a:xfrm>
          <a:prstGeom prst="rect">
            <a:avLst/>
          </a:prstGeom>
          <a:noFill/>
        </p:spPr>
        <p:txBody>
          <a:bodyPr wrap="square">
            <a:spAutoFit/>
          </a:bodyPr>
          <a:lstStyle/>
          <a:p>
            <a:pPr algn="l"/>
            <a:r>
              <a:rPr b="1" i="0" sz="750">
                <a:solidFill>
                  <a:srgbClr val="4F46E5"/>
                </a:solidFill>
              </a:rPr>
              <a:t>HTTPS</a:t>
            </a:r>
          </a:p>
        </p:txBody>
      </p:sp>
      <p:sp>
        <p:nvSpPr>
          <p:cNvPr id="11" name="TextBox 10"/>
          <p:cNvSpPr txBox="1"/>
          <p:nvPr/>
        </p:nvSpPr>
        <p:spPr>
          <a:xfrm>
            <a:off x="566928" y="3904488"/>
            <a:ext cx="2478024" cy="777240"/>
          </a:xfrm>
          <a:prstGeom prst="rect">
            <a:avLst/>
          </a:prstGeom>
          <a:noFill/>
        </p:spPr>
        <p:txBody>
          <a:bodyPr wrap="square">
            <a:spAutoFit/>
          </a:bodyPr>
          <a:lstStyle/>
          <a:p>
            <a:pPr algn="l"/>
            <a:r>
              <a:rPr b="0" i="0" sz="850">
                <a:solidFill>
                  <a:srgbClr val="374151"/>
                </a:solidFill>
              </a:rPr>
              <a:t>Certificat SSL Let's Encrypt pour chiffrer tous les échanges</a:t>
            </a:r>
          </a:p>
        </p:txBody>
      </p:sp>
      <p:sp>
        <p:nvSpPr>
          <p:cNvPr id="12" name="Rectangle 11"/>
          <p:cNvSpPr/>
          <p:nvPr/>
        </p:nvSpPr>
        <p:spPr>
          <a:xfrm>
            <a:off x="3291840" y="3657600"/>
            <a:ext cx="2697480" cy="1097280"/>
          </a:xfrm>
          <a:prstGeom prst="rect">
            <a:avLst/>
          </a:prstGeom>
          <a:solidFill>
            <a:srgbClr val="F8FAFF"/>
          </a:solidFill>
          <a:ln w="6350">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01568" y="3730752"/>
            <a:ext cx="2478024" cy="177800"/>
          </a:xfrm>
          <a:prstGeom prst="rect">
            <a:avLst/>
          </a:prstGeom>
          <a:noFill/>
        </p:spPr>
        <p:txBody>
          <a:bodyPr wrap="square">
            <a:spAutoFit/>
          </a:bodyPr>
          <a:lstStyle/>
          <a:p>
            <a:pPr algn="l"/>
            <a:r>
              <a:rPr b="1" i="0" sz="750">
                <a:solidFill>
                  <a:srgbClr val="4F46E5"/>
                </a:solidFill>
              </a:rPr>
              <a:t>DNS réel</a:t>
            </a:r>
          </a:p>
        </p:txBody>
      </p:sp>
      <p:sp>
        <p:nvSpPr>
          <p:cNvPr id="14" name="TextBox 13"/>
          <p:cNvSpPr txBox="1"/>
          <p:nvPr/>
        </p:nvSpPr>
        <p:spPr>
          <a:xfrm>
            <a:off x="3401568" y="3904488"/>
            <a:ext cx="2478024" cy="777240"/>
          </a:xfrm>
          <a:prstGeom prst="rect">
            <a:avLst/>
          </a:prstGeom>
          <a:noFill/>
        </p:spPr>
        <p:txBody>
          <a:bodyPr wrap="square">
            <a:spAutoFit/>
          </a:bodyPr>
          <a:lstStyle/>
          <a:p>
            <a:pPr algn="l"/>
            <a:r>
              <a:rPr b="0" i="0" sz="850">
                <a:solidFill>
                  <a:srgbClr val="374151"/>
                </a:solidFill>
              </a:rPr>
              <a:t>Pi-hole pour remplacer la démo par une vraie activité réseau</a:t>
            </a:r>
          </a:p>
        </p:txBody>
      </p:sp>
      <p:sp>
        <p:nvSpPr>
          <p:cNvPr id="15" name="Rectangle 14"/>
          <p:cNvSpPr/>
          <p:nvPr/>
        </p:nvSpPr>
        <p:spPr>
          <a:xfrm>
            <a:off x="6126480" y="3657600"/>
            <a:ext cx="2697480" cy="1097280"/>
          </a:xfrm>
          <a:prstGeom prst="rect">
            <a:avLst/>
          </a:prstGeom>
          <a:solidFill>
            <a:srgbClr val="F8FAFF"/>
          </a:solidFill>
          <a:ln w="6350">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36208" y="3730752"/>
            <a:ext cx="2478024" cy="177800"/>
          </a:xfrm>
          <a:prstGeom prst="rect">
            <a:avLst/>
          </a:prstGeom>
          <a:noFill/>
        </p:spPr>
        <p:txBody>
          <a:bodyPr wrap="square">
            <a:spAutoFit/>
          </a:bodyPr>
          <a:lstStyle/>
          <a:p>
            <a:pPr algn="l"/>
            <a:r>
              <a:rPr b="1" i="0" sz="750">
                <a:solidFill>
                  <a:srgbClr val="4F46E5"/>
                </a:solidFill>
              </a:rPr>
              <a:t>Téléphonie</a:t>
            </a:r>
          </a:p>
        </p:txBody>
      </p:sp>
      <p:sp>
        <p:nvSpPr>
          <p:cNvPr id="17" name="TextBox 16"/>
          <p:cNvSpPr txBox="1"/>
          <p:nvPr/>
        </p:nvSpPr>
        <p:spPr>
          <a:xfrm>
            <a:off x="6236208" y="3904488"/>
            <a:ext cx="2478024" cy="777240"/>
          </a:xfrm>
          <a:prstGeom prst="rect">
            <a:avLst/>
          </a:prstGeom>
          <a:noFill/>
        </p:spPr>
        <p:txBody>
          <a:bodyPr wrap="square">
            <a:spAutoFit/>
          </a:bodyPr>
          <a:lstStyle/>
          <a:p>
            <a:pPr algn="l"/>
            <a:r>
              <a:rPr b="0" i="0" sz="850">
                <a:solidFill>
                  <a:srgbClr val="374151"/>
                </a:solidFill>
              </a:rPr>
              <a:t>Connecter des postes SIP physiques aux extensions Asterisk</a:t>
            </a:r>
          </a:p>
        </p:txBody>
      </p:sp>
      <p:sp>
        <p:nvSpPr>
          <p:cNvPr id="18" name="Rectangle 17"/>
          <p:cNvSpPr/>
          <p:nvPr/>
        </p:nvSpPr>
        <p:spPr>
          <a:xfrm>
            <a:off x="8961120" y="3657600"/>
            <a:ext cx="2697480" cy="1097280"/>
          </a:xfrm>
          <a:prstGeom prst="rect">
            <a:avLst/>
          </a:prstGeom>
          <a:solidFill>
            <a:srgbClr val="F8FAFF"/>
          </a:solidFill>
          <a:ln w="6350">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70848" y="3730752"/>
            <a:ext cx="2478024" cy="177800"/>
          </a:xfrm>
          <a:prstGeom prst="rect">
            <a:avLst/>
          </a:prstGeom>
          <a:noFill/>
        </p:spPr>
        <p:txBody>
          <a:bodyPr wrap="square">
            <a:spAutoFit/>
          </a:bodyPr>
          <a:lstStyle/>
          <a:p>
            <a:pPr algn="l"/>
            <a:r>
              <a:rPr b="1" i="0" sz="750">
                <a:solidFill>
                  <a:srgbClr val="4F46E5"/>
                </a:solidFill>
              </a:rPr>
              <a:t>Monitoring</a:t>
            </a:r>
          </a:p>
        </p:txBody>
      </p:sp>
      <p:sp>
        <p:nvSpPr>
          <p:cNvPr id="20" name="TextBox 19"/>
          <p:cNvSpPr txBox="1"/>
          <p:nvPr/>
        </p:nvSpPr>
        <p:spPr>
          <a:xfrm>
            <a:off x="9070848" y="3904488"/>
            <a:ext cx="2478024" cy="777240"/>
          </a:xfrm>
          <a:prstGeom prst="rect">
            <a:avLst/>
          </a:prstGeom>
          <a:noFill/>
        </p:spPr>
        <p:txBody>
          <a:bodyPr wrap="square">
            <a:spAutoFit/>
          </a:bodyPr>
          <a:lstStyle/>
          <a:p>
            <a:pPr algn="l"/>
            <a:r>
              <a:rPr b="0" i="0" sz="850">
                <a:solidFill>
                  <a:srgbClr val="374151"/>
                </a:solidFill>
              </a:rPr>
              <a:t>Alertes automatiques si un container Docker tombe</a:t>
            </a:r>
          </a:p>
        </p:txBody>
      </p:sp>
      <p:sp>
        <p:nvSpPr>
          <p:cNvPr id="21" name="Rectangle 20"/>
          <p:cNvSpPr/>
          <p:nvPr/>
        </p:nvSpPr>
        <p:spPr>
          <a:xfrm>
            <a:off x="457200" y="4919472"/>
            <a:ext cx="11274552" cy="658368"/>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4919472"/>
            <a:ext cx="50800" cy="65836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956048"/>
            <a:ext cx="2743200" cy="152400"/>
          </a:xfrm>
          <a:prstGeom prst="rect">
            <a:avLst/>
          </a:prstGeom>
          <a:noFill/>
        </p:spPr>
        <p:txBody>
          <a:bodyPr wrap="square">
            <a:spAutoFit/>
          </a:bodyPr>
          <a:lstStyle/>
          <a:p>
            <a:pPr algn="l"/>
            <a:r>
              <a:rPr b="1" i="0" sz="750">
                <a:solidFill>
                  <a:srgbClr val="4F46E5"/>
                </a:solidFill>
              </a:rPr>
              <a:t>À dire à l'oral</a:t>
            </a:r>
          </a:p>
        </p:txBody>
      </p:sp>
      <p:sp>
        <p:nvSpPr>
          <p:cNvPr id="24" name="TextBox 23"/>
          <p:cNvSpPr txBox="1"/>
          <p:nvPr/>
        </p:nvSpPr>
        <p:spPr>
          <a:xfrm>
            <a:off x="640080" y="5120640"/>
            <a:ext cx="10908792" cy="411480"/>
          </a:xfrm>
          <a:prstGeom prst="rect">
            <a:avLst/>
          </a:prstGeom>
          <a:noFill/>
        </p:spPr>
        <p:txBody>
          <a:bodyPr wrap="square">
            <a:spAutoFit/>
          </a:bodyPr>
          <a:lstStyle/>
          <a:p>
            <a:pPr algn="l"/>
            <a:r>
              <a:rPr b="0" i="1" sz="900">
                <a:solidFill>
                  <a:srgbClr val="4B5563"/>
                </a:solidFill>
              </a:rPr>
              <a:t>"Le projet est fonctionnel et démontrable dans son ensemble. Toutes les fonctionnalités principales marchent en conditions réelles. Avec plus de temps, on ajouterait HTTPS, un vrai DNS local et des postes téléphoniques physiques."</a:t>
            </a:r>
          </a:p>
        </p:txBody>
      </p:sp>
      <p:sp>
        <p:nvSpPr>
          <p:cNvPr id="25" name="Rectangle 24"/>
          <p:cNvSpPr/>
          <p:nvPr/>
        </p:nvSpPr>
        <p:spPr>
          <a:xfrm>
            <a:off x="0" y="5742432"/>
            <a:ext cx="12188952" cy="111556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0" y="5925312"/>
            <a:ext cx="12188952" cy="304800"/>
          </a:xfrm>
          <a:prstGeom prst="rect">
            <a:avLst/>
          </a:prstGeom>
          <a:noFill/>
        </p:spPr>
        <p:txBody>
          <a:bodyPr wrap="square">
            <a:spAutoFit/>
          </a:bodyPr>
          <a:lstStyle/>
          <a:p>
            <a:pPr algn="ctr"/>
            <a:r>
              <a:rPr b="1" i="0" sz="1400">
                <a:solidFill>
                  <a:srgbClr val="FFFFFF"/>
                </a:solidFill>
              </a:rPr>
              <a:t>Maison Saclay — Hôtel 5 étoiles — Projet OP-1</a:t>
            </a:r>
          </a:p>
        </p:txBody>
      </p:sp>
      <p:sp>
        <p:nvSpPr>
          <p:cNvPr id="27" name="TextBox 26"/>
          <p:cNvSpPr txBox="1"/>
          <p:nvPr/>
        </p:nvSpPr>
        <p:spPr>
          <a:xfrm>
            <a:off x="0" y="6236208"/>
            <a:ext cx="12188952" cy="254000"/>
          </a:xfrm>
          <a:prstGeom prst="rect">
            <a:avLst/>
          </a:prstGeom>
          <a:noFill/>
        </p:spPr>
        <p:txBody>
          <a:bodyPr wrap="square">
            <a:spAutoFit/>
          </a:bodyPr>
          <a:lstStyle/>
          <a:p>
            <a:pPr algn="ctr"/>
            <a:r>
              <a:rPr b="0" i="0" sz="1000">
                <a:solidFill>
                  <a:srgbClr val="6B7280"/>
                </a:solidFill>
              </a:rPr>
              <a:t>Licence Pro MRT — 2025–2026</a:t>
            </a:r>
          </a:p>
        </p:txBody>
      </p:sp>
      <p:sp>
        <p:nvSpPr>
          <p:cNvPr id="28" name="Rectangle 27"/>
          <p:cNvSpPr/>
          <p:nvPr/>
        </p:nvSpPr>
        <p:spPr>
          <a:xfrm>
            <a:off x="457200" y="6492240"/>
            <a:ext cx="11274552" cy="12700"/>
          </a:xfrm>
          <a:prstGeom prst="rect">
            <a:avLst/>
          </a:prstGeom>
          <a:solidFill>
            <a:srgbClr val="E0E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6537960"/>
            <a:ext cx="5486400" cy="228600"/>
          </a:xfrm>
          <a:prstGeom prst="rect">
            <a:avLst/>
          </a:prstGeom>
          <a:noFill/>
        </p:spPr>
        <p:txBody>
          <a:bodyPr wrap="square">
            <a:spAutoFit/>
          </a:bodyPr>
          <a:lstStyle/>
          <a:p>
            <a:pPr algn="l"/>
            <a:r>
              <a:rPr b="0" i="0" sz="800">
                <a:solidFill>
                  <a:srgbClr val="9CA3AF"/>
                </a:solidFill>
              </a:rPr>
              <a:t>Maison Saclay — Projet OP-1</a:t>
            </a:r>
          </a:p>
        </p:txBody>
      </p:sp>
      <p:sp>
        <p:nvSpPr>
          <p:cNvPr id="30" name="TextBox 29"/>
          <p:cNvSpPr txBox="1"/>
          <p:nvPr/>
        </p:nvSpPr>
        <p:spPr>
          <a:xfrm>
            <a:off x="6245352" y="6537960"/>
            <a:ext cx="5486400" cy="228600"/>
          </a:xfrm>
          <a:prstGeom prst="rect">
            <a:avLst/>
          </a:prstGeom>
          <a:noFill/>
        </p:spPr>
        <p:txBody>
          <a:bodyPr wrap="square">
            <a:spAutoFit/>
          </a:bodyPr>
          <a:lstStyle/>
          <a:p>
            <a:pPr algn="r"/>
            <a:r>
              <a:rPr b="0" i="0" sz="800">
                <a:solidFill>
                  <a:srgbClr val="9CA3AF"/>
                </a:solidFill>
              </a:rPr>
              <a:t>Slide 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